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02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85941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6908799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30698D67-8F6B-9EAC-5DF2-7682A934796C}" type="datetimeFigureOut">
              <a:rPr lang="ru-RU"/>
              <a:t/>
            </a:fld>
            <a:endParaRPr/>
          </a:p>
        </p:txBody>
      </p:sp>
      <p:sp>
        <p:nvSpPr>
          <p:cNvPr id="1755947601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4673567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6908799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EE5FD03C-1E6C-2511-76B6-2AF0666A851A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3741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42483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30481100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0933140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538058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08082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959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288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Титул. Две фразы: сегодня мир перестанет стоять на месте, и сегодня стартует лабораторная 2. Дальше — сразу блоки, без знакомства: группа уже знакомая.</a:t>
            </a:r>
            <a:endParaRPr/>
          </a:p>
        </p:txBody>
      </p:sp>
      <p:sp>
        <p:nvSpPr>
          <p:cNvPr id="1155065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125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4953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Шесть блоков, основная часть до семидесятой минуты. Всё, что не успеем сказать, есть в файлах и в чате.</a:t>
            </a:r>
            <a:endParaRPr/>
          </a:p>
        </p:txBody>
      </p:sp>
      <p:sp>
        <p:nvSpPr>
          <p:cNvPr id="1405574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C42A7-7875-F83F-F2D8-014B00FF66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95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786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Четыре умения и одна сдача: к концу занятия уметь выбрать правило оценки и стратегию под дрейф, прочитать градиентную в коде, сверить свои числа с эталоном и забрать ТЗ лабораторной.</a:t>
            </a:r>
            <a:endParaRPr/>
          </a:p>
        </p:txBody>
      </p:sp>
      <p:sp>
        <p:nvSpPr>
          <p:cNvPr id="67137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A33C9-0800-98D5-ED4B-D699E95714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140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1441020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Раньше средние были навсегда, теперь каждый спринт каждое среднее чуть сдвигается. Формально одна строка: новое среднее равно старому плюс шум, σ = 0,05, границы 0,1–1,9. Следующее значение зависит только от текущего — это марковская цепь, и видит её только среда.</a:t>
            </a:r>
            <a:endParaRPr/>
          </a:p>
        </p:txBody>
      </p:sp>
      <p:sp>
        <p:nvSpPr>
          <p:cNvPr id="25644832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5341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362626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Вопрос: за какой период усредняет 1/n? Ответ: за всё время, с первого спринта. 1/n — про точность в стоячем мире, α — про свежесть в движущемся. Плата за свежесть — дрожание оценки. Кстати: n — счётчик этого рычага, у каждой руки своё окно усреднения.</a:t>
            </a:r>
            <a:endParaRPr/>
          </a:p>
        </p:txBody>
      </p:sp>
      <p:sp>
        <p:nvSpPr>
          <p:cNvPr id="2900901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35251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2086940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Проверяем руками: 1, 0, 2. При 1/n — 1,0, при α = 0,5 — 0,5 и 1,25, при α = 0,1 — 0,9 и 1,01. Вопрос: какая оценка правильная? Правильная по среднему — 1,0, и она же бесполезна: помнит прошлый мир. Неправильная 1,25 ближе к свежему наблюдению. Правило first: первое наблюдение ставит оценку равной награде, иначе при α ряд начинается с половины.</a:t>
            </a:r>
            <a:endParaRPr/>
          </a:p>
        </p:txBody>
      </p:sp>
      <p:sp>
        <p:nvSpPr>
          <p:cNvPr id="16680383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74607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4751598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Оценок здесь нет как основы выбора: хранятся предпочтения, выбор — по мягкому максимуму. Разведка встроена в вероятности: они никогда не ноль. Вопрос: чем это принципиально отличается от ε-жадной? Ответ: ε скачет — лучший или наугад, третьего нет; градиентная дышит, вероятности перетекают плавно.</a:t>
            </a:r>
            <a:endParaRPr/>
          </a:p>
        </p:txBody>
      </p:sp>
      <p:sp>
        <p:nvSpPr>
          <p:cNvPr id="10614429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91799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419939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Здесь весь мягкий максимум: пять строк. Вопрос: что будет, если убрать − top? Отношения вероятностей не изменятся — а exp от большого числа даст переполнение. Это защита, а не математика.</a:t>
            </a:r>
            <a:endParaRPr/>
          </a:p>
        </p:txBody>
      </p:sp>
      <p:sp>
        <p:nvSpPr>
          <p:cNvPr id="15071337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25036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5917649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Вот где разведка: выбор по весам предпочтений и обновление всех предпочтений сразу. Вопрос: почему невыбранные рычаги тоже обновляются? Потому что мягкий максимум — конкуренция: вырос один — остальные просели. Базовая линия — средний доход, она отделяет «много» от «мало».</a:t>
            </a:r>
            <a:endParaRPr/>
          </a:p>
        </p:txBody>
      </p:sp>
      <p:sp>
        <p:nvSpPr>
          <p:cNvPr id="12617926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9138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9129439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вещи честно выносим за скобки: вывод формулы — на консультацию, h_α — подбор, а почему градиентной хуже в дрейфе, мы не знаем. Через полчаса будут числа — это хороший вопрос для лабораторной.</a:t>
            </a:r>
            <a:endParaRPr/>
          </a:p>
        </p:txBody>
      </p:sp>
      <p:sp>
        <p:nvSpPr>
          <p:cNvPr id="180962150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73165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2079691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Файлы уходят в чат сейчас: четыре файла и ОТВЕТ.md. Три пропуска, по 8 минут, парами, один ноутбук на двоих. Сдаётся код плюс обоснование одной фразой — обоснование такая же часть работы, как код.</a:t>
            </a:r>
            <a:endParaRPr/>
          </a:p>
        </p:txBody>
      </p:sp>
      <p:sp>
        <p:nvSpPr>
          <p:cNvPr id="10410182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26270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7278421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куска на выбор: дрейф, фиксированные вероятности, полный пересброс. Вопрос: чем (в) хуже (а)? Ответ: (в) — не дрейф, а перезапуск мира: история средних теряет смысл, и «доля лучшего» перестаёт что-либо показывать. Ждём «мир должен двигаться, а не начинаться заново».</a:t>
            </a:r>
            <a:endParaRPr/>
          </a:p>
        </p:txBody>
      </p:sp>
      <p:sp>
        <p:nvSpPr>
          <p:cNvPr id="7375220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1366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4282858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Две строки вписываются руками, не копируются. Вопрос: каким должен быть шаг и чем платим? Ответ: постоянный шаг α, платим дрожанием оценки. Дальше запускают python3 agent.py и смотрят ряд.</a:t>
            </a:r>
            <a:endParaRPr/>
          </a:p>
        </p:txBody>
      </p:sp>
      <p:sp>
        <p:nvSpPr>
          <p:cNvPr id="204592645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10648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519036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стратегии, верного куска нет. Выбирают и обосновывают; спор «какой правильный» — ошибка постановки. Если пара закончила раньше — пусть запустит с --seeds 20 и посмотрит на разброс: это заготовка вывода для отчёта.</a:t>
            </a:r>
            <a:endParaRPr/>
          </a:p>
        </p:txBody>
      </p:sp>
      <p:sp>
        <p:nvSpPr>
          <p:cNvPr id="142183770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94226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5625164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Запуск с тремя метриками. Метрики считаются офлайн по логу средних: среда записывает μ каждого спринта, и только поэтому можно спросить «угадал ли агент лучшего в тот момент». Стратегию задают в коде или флагом.</a:t>
            </a:r>
            <a:endParaRPr/>
          </a:p>
        </p:txBody>
      </p:sp>
      <p:sp>
        <p:nvSpPr>
          <p:cNvPr id="14066822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6365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7336341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Это эталон: 240 сидов по 1000 спринтов, восемь строк. Один прогон ничего не доказывает — распределение не гауссово, поэтому медиана и квартили. И сразу шкала: случайный выбор из трёх рук даёт 33% — вот ноль; ниже него только жадная, 18%: она застревает хуже гадания.</a:t>
            </a:r>
            <a:endParaRPr/>
          </a:p>
        </p:txBody>
      </p:sp>
      <p:sp>
        <p:nvSpPr>
          <p:cNvPr id="59354075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8144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771285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Тезис первый: у 1/n разброс вдвое больше — 14–90 против 28–91, по IQR 26 против 14. Вопрос: студент получил 90% — он ошибся? Нет: он в длинном хвосте. Поэтому сравниваем распределения, а не числа.</a:t>
            </a:r>
            <a:endParaRPr/>
          </a:p>
        </p:txBody>
      </p:sp>
      <p:sp>
        <p:nvSpPr>
          <p:cNvPr id="31285590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9743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2476073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Картинка уходит в чат: полосы квартилей, точки медиан, пунктир оракула, точечная линия случайного выбора. В зале не показываю — тот же материал стоит таблицей. Одной фразой: кто прижимается к лучшему, кто застревает.</a:t>
            </a:r>
            <a:endParaRPr/>
          </a:p>
        </p:txBody>
      </p:sp>
      <p:sp>
        <p:nvSpPr>
          <p:cNvPr id="24679836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0296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0577432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Перекос частот: ε с 1/n — 20, с α — 9; UCB с 1/n — 11, с α — 5. Вопрос: почему UCB с 1/n держится? Бонус выравнивает частоты — окна усреднения у рук сопоставимы. Градиентная — 54%, ниже ε с α, и почему — мы честно не знаем: проверяли шаг, базовую линию, забывание.</a:t>
            </a:r>
            <a:endParaRPr/>
          </a:p>
        </p:txBody>
      </p:sp>
      <p:sp>
        <p:nvSpPr>
          <p:cNvPr id="145097150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042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1669389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Потолок тоже плывёт: оракул 1,45 [1,29–1,57], доля 100%. Вопрос: почему не 1,3? Потому что 1,3 — стартовое значение, а потолок — максимум трёх гуляющих средних. Отсюда правило: доход сравниваем с оракулом, главная метрика — доля лучшего. И числа привязаны к нашим μ₀ и σ: в лабораторной оракул считают сами.</a:t>
            </a:r>
            <a:endParaRPr/>
          </a:p>
        </p:txBody>
      </p:sp>
      <p:sp>
        <p:nvSpPr>
          <p:cNvPr id="132192297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8497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509796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постановки, голосуем руками: бандит, не бандит, с оговорками. Важны аргументы, а не ярлык. Последняя — мостик к лабораторной: в час пик мир нестационарен, и вот ваш сегодняшний α.</a:t>
            </a:r>
            <a:endParaRPr/>
          </a:p>
        </p:txBody>
      </p:sp>
      <p:sp>
        <p:nvSpPr>
          <p:cNvPr id="826683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75147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675715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Сдаётся файлом в чат: отчёт, код, два графика, чек-лист, лог. Устной защиты нет — проверяет скрипт. Отдельно: ссылка в чек-листе на несуществующий раздел = чек-лист не заполнен, работа не принимается. Срок — до начала шестой практики, пересдача одна.</a:t>
            </a:r>
            <a:endParaRPr/>
          </a:p>
        </p:txBody>
      </p:sp>
      <p:sp>
        <p:nvSpPr>
          <p:cNvPr id="12253563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437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496369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обязательных исследования и требование к числам: не меньше 100 сидов на точку, медиана и IQR, свой диапазон сидов. Гипотеза для проверки: чем больше σ, тем нужнее α; при σ к нулю разрыв должен исчезнуть. Подтвердить или опровергнуть — оба ответа хороши, если с числами.</a:t>
            </a:r>
            <a:endParaRPr/>
          </a:p>
        </p:txBody>
      </p:sp>
      <p:sp>
        <p:nvSpPr>
          <p:cNvPr id="27615368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8221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8987427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Двадцать минут опыта. Сначала предсказание: при каком σ постоянный шаг обгонит 1/n. Потом python3 sigma_ladder.py — 8 точек, 30 сидов, 1000 спринтов. Ответ: перелом около σ = 0,02; максимум разрыва при σ ≈ 0,1 (+18 п.п.); при σ = 0 разницы нет (91 и 91) — цена адаптивности на этой метрике не видна; при σ = 1 выигрыш падает до +3, обе стратегии уходят к 33% — уровню гадания. Суть: гонка скорости обучения и скорости дрейфа.</a:t>
            </a:r>
            <a:endParaRPr/>
          </a:p>
        </p:txBody>
      </p:sp>
      <p:sp>
        <p:nvSpPr>
          <p:cNvPr id="11010264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63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16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Дома дописывают свои куски, гоняют 100 сидов и присылают отчёт до шестой практики. В чат уходит ТЗ и шаблоны отчёта. Вопросы — в чат группы.</a:t>
            </a:r>
            <a:endParaRPr/>
          </a:p>
        </p:txBody>
      </p:sp>
      <p:sp>
        <p:nvSpPr>
          <p:cNvPr id="1518550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635046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34698726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85087922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1115277461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659561998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86704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98464664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0854794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787165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114962296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949579862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261709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807565668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2035999099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7480159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135613105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08353839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99294865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92526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202955532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43698022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4410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295161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2531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96875832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2055269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29247518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83635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2213889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7034187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5175578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83736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6712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02667708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19320175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6190488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7709493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161317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15180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7266102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97255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95565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63187507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25090085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3103502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55730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4151310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37006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87704949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9128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2424996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91229549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6484288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65490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43551027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65231620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0175237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4435408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88819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286005161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8713914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08639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86211482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0634819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74478011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29989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0871449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4287434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0001259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071291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102538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17723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35006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0148563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0932475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68674899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32981503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17434522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1021459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13686146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56265235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492887525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97660841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15461564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864863918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887728972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9220338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657990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756292907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612665239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70748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64501865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274079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6888" y="1046543"/>
            <a:ext cx="8487071" cy="53680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2200">
                <a:solidFill>
                  <a:srgbClr val="00ADEB"/>
                </a:solidFill>
              </a:rPr>
              <a:t>Семинар 4 · 27 октября 2026 · нестационарность </a:t>
            </a:r>
            <a:br>
              <a:rPr lang="ru-RU" sz="2200">
                <a:solidFill>
                  <a:srgbClr val="00ADEB"/>
                </a:solidFill>
              </a:rPr>
            </a:br>
            <a:r>
              <a:rPr lang="ru-RU" sz="2200">
                <a:solidFill>
                  <a:srgbClr val="00ADEB"/>
                </a:solidFill>
              </a:rPr>
              <a:t>и лабораторная 2</a:t>
            </a:r>
            <a:endParaRPr sz="2600"/>
          </a:p>
        </p:txBody>
      </p:sp>
      <p:sp>
        <p:nvSpPr>
          <p:cNvPr id="20629690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6888" y="256032"/>
            <a:ext cx="8467344" cy="148132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Бандит в движущемся мире</a:t>
            </a:r>
            <a:endParaRPr/>
          </a:p>
        </p:txBody>
      </p:sp>
      <p:sp>
        <p:nvSpPr>
          <p:cNvPr id="888157710" name="TextBox 2102172528"/>
          <p:cNvSpPr txBox="1"/>
          <p:nvPr/>
        </p:nvSpPr>
        <p:spPr bwMode="auto">
          <a:xfrm>
            <a:off x="246888" y="1600200"/>
            <a:ext cx="8487071" cy="76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200">
                <a:solidFill>
                  <a:srgbClr val="1F3B57"/>
                </a:solidFill>
              </a:rPr>
              <a:t>Группа М80-203СВ-25</a:t>
            </a:r>
            <a:endParaRPr sz="2600"/>
          </a:p>
          <a:p>
            <a:pPr>
              <a:defRPr/>
            </a:pPr>
            <a:r>
              <a:rPr sz="2200">
                <a:solidFill>
                  <a:srgbClr val="1F3B57"/>
                </a:solidFill>
              </a:rPr>
              <a:t>2 курс магистратуры, ИТ-направление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1608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sp>
        <p:nvSpPr>
          <p:cNvPr id="11458815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Мини-лекция: мир пошёл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Градиентная стратегия в вашем коде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Задача со сниппетами: три пропуска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Итоги: бандит или не бандит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Старт лабораторной 2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Опыт: где 1/n сдаётся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85065583" name="Прямоугольник: скругленные углы 2"/>
          <p:cNvSpPr/>
          <p:nvPr/>
        </p:nvSpPr>
        <p:spPr bwMode="auto">
          <a:xfrm flipH="0" flipV="0">
            <a:off x="429767" y="5221224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Шесть блоков · опыт с σ — в конце занятия</a:t>
            </a:r>
            <a:endParaRPr lang="ru-RU" sz="1600" b="1">
              <a:latin typeface="Arial"/>
            </a:endParaRPr>
          </a:p>
        </p:txBody>
      </p:sp>
      <p:pic>
        <p:nvPicPr>
          <p:cNvPr id="101265641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3496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69113798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Понять, почему честное среднее проигрывает в движущемся мире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Уметь выбрать правило обновления и обосновать выбор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Прочитать градиентную стратегию в коде: предпочтения и мягкий максимум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Увидеть числами, как разные стратегии ведут себя при дрейфе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Забрать техзадание лабораторной 2 и найти, где 1/n сдаётся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03743452" name="Прямоугольник: скругленные углы 2"/>
          <p:cNvSpPr/>
          <p:nvPr/>
        </p:nvSpPr>
        <p:spPr bwMode="auto">
          <a:xfrm>
            <a:off x="429768" y="5221224"/>
            <a:ext cx="1134057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Что унесёте с занятия</a:t>
            </a:r>
            <a:endParaRPr lang="ru-RU" sz="1600" b="1">
              <a:latin typeface="Arial"/>
            </a:endParaRPr>
          </a:p>
        </p:txBody>
      </p:sp>
      <p:pic>
        <p:nvPicPr>
          <p:cNvPr id="75789478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5530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Случайное блуждание средних</a:t>
            </a:r>
            <a:endParaRPr/>
          </a:p>
        </p:txBody>
      </p:sp>
      <p:sp>
        <p:nvSpPr>
          <p:cNvPr id="1769522808" name="Прямоугольник: скругленные углы 5"/>
          <p:cNvSpPr/>
          <p:nvPr/>
        </p:nvSpPr>
        <p:spPr bwMode="auto">
          <a:xfrm flipH="0" flipV="0">
            <a:off x="429766" y="980753"/>
            <a:ext cx="11329416" cy="391362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Каждый спринт каждое среднее чуть сдвигается в случайную сторону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гаусовский шум,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Следующее значение зависит только от текущего — это марковская цепь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память длины один шаг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Состояние цепи — вектор средни</a:t>
            </a:r>
            <a:r>
              <a:rPr lang="ru-RU" sz="2200">
                <a:solidFill>
                  <a:schemeClr val="tx1"/>
                </a:solidFill>
                <a:latin typeface="Arial"/>
              </a:rPr>
              <a:t>х; видит его только среда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Средние обозначаем μ — от английского «mean»; </a:t>
            </a:r>
            <a:br>
              <a:rPr lang="ru-RU" sz="2200" b="1">
                <a:solidFill>
                  <a:schemeClr val="bg2"/>
                </a:solidFill>
                <a:latin typeface="Arial"/>
              </a:rPr>
            </a:br>
            <a:r>
              <a:rPr lang="ru-RU" sz="2200" b="1">
                <a:solidFill>
                  <a:schemeClr val="bg2"/>
                </a:solidFill>
                <a:latin typeface="Arial"/>
              </a:rPr>
              <a:t>размах шага — σ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Рычаги те же, отдачи другие: это и есть «нестационарность»</a:t>
            </a:r>
            <a:endParaRPr lang="ru-RU" sz="2200">
              <a:solidFill>
                <a:schemeClr val="tx1"/>
              </a:solidFill>
              <a:latin typeface="Arial"/>
            </a:endParaRPr>
          </a:p>
        </p:txBody>
      </p:sp>
      <p:sp>
        <p:nvSpPr>
          <p:cNvPr id="2043991853" name="Прямоугольник: скругленные углы 2"/>
          <p:cNvSpPr/>
          <p:nvPr/>
        </p:nvSpPr>
        <p:spPr bwMode="auto">
          <a:xfrm>
            <a:off x="429048" y="4987765"/>
            <a:ext cx="1133049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μ(t+1) = μ(t) + σ·шум,  σ = 0,05,  границы [0,1; 1,9]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 границы не пускаем: обрезаем, а не отражаем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старт 0,3 / 0,8 / 1,3 — те же подходы, что на прошлой практике</a:t>
            </a:r>
            <a:endParaRPr lang="ru-RU" sz="2000">
              <a:latin typeface="Arial"/>
            </a:endParaRPr>
          </a:p>
        </p:txBody>
      </p:sp>
      <p:pic>
        <p:nvPicPr>
          <p:cNvPr id="195679763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47226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3340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Почему честное среднее 1/n пасует</a:t>
            </a:r>
            <a:endParaRPr/>
          </a:p>
        </p:txBody>
      </p:sp>
      <p:sp>
        <p:nvSpPr>
          <p:cNvPr id="1386447259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3436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1/n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точность в стоячем мире: каждое наблюдение весит 1/n — даже вчерашнее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α — свежесть: постоянный шаг, 0 &lt; α &lt; 1. Вес наблюдения k шагов назад — остаток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2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(1-</m:t>
                          </m:r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относительно свежего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 — счётчик этого рычага, у каждой руки своё окно усреднения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Старые наблюдения тянут оценку к ста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рому миру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Плата за свежесть — дрожание оценки</a:t>
            </a: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 (скачки от случайной награды)</a:t>
            </a:r>
            <a:endParaRPr sz="2200"/>
          </a:p>
        </p:txBody>
      </p:sp>
      <p:sp>
        <p:nvSpPr>
          <p:cNvPr id="1459379957" name="Прямоугольник: скругленные углы 2"/>
          <p:cNvSpPr/>
          <p:nvPr/>
        </p:nvSpPr>
        <p:spPr bwMode="auto">
          <a:xfrm>
            <a:off x="432618" y="493742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за какой период усредняет 1/n?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за всё время — с самого первого спринта</a:t>
            </a:r>
            <a:endParaRPr lang="ru-RU" sz="2200">
              <a:latin typeface="Arial"/>
            </a:endParaRPr>
          </a:p>
        </p:txBody>
      </p:sp>
      <p:pic>
        <p:nvPicPr>
          <p:cNvPr id="140290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25127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824937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9" cy="366120"/>
          </a:xfrm>
        </p:spPr>
        <p:txBody>
          <a:bodyPr/>
          <a:lstStyle/>
          <a:p>
            <a:pPr>
              <a:defRPr/>
            </a:pPr>
            <a:r>
              <a:rPr lang="ru-RU"/>
              <a:t>Контрапример: 1 → 0,5 → 1,25</a:t>
            </a: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(оценка при α = 0,5)</a:t>
            </a:r>
            <a:endParaRPr/>
          </a:p>
        </p:txBody>
      </p:sp>
      <p:sp>
        <p:nvSpPr>
          <p:cNvPr id="1636698682" name="Прямоугольник: скругленные углы 5"/>
          <p:cNvSpPr/>
          <p:nvPr/>
        </p:nvSpPr>
        <p:spPr bwMode="auto">
          <a:xfrm flipH="0" flipV="0">
            <a:off x="433698" y="1681121"/>
            <a:ext cx="11329416" cy="293196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Вопрос: какая оценка «правильная»?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среднему правильная — 1,0: она помнит весь прошлый мир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1,25 ближе к свежему наблюдению — и полезнее в движущемся мире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Первое наблюдение по рычагу ставит оценку равной награде (иначе стартовый ноль исказил бы первые шаги) — дальше обычный шаг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Неправильная по среднему оценка здесь работает лучше правильной</a:t>
            </a:r>
            <a:endParaRPr sz="2200"/>
          </a:p>
        </p:txBody>
      </p:sp>
      <p:sp>
        <p:nvSpPr>
          <p:cNvPr id="1598115475" name="Прямоугольник: скругленные углы 2"/>
          <p:cNvSpPr/>
          <p:nvPr/>
        </p:nvSpPr>
        <p:spPr bwMode="auto">
          <a:xfrm>
            <a:off x="432618" y="4760545"/>
            <a:ext cx="11330855" cy="1810791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Наблюдения 1, 0, 2 по одному рычагу</a:t>
            </a:r>
            <a:endParaRPr lang="ru-RU" sz="2200" b="1">
              <a:latin typeface="Arial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1/n → 1,0</a:t>
            </a:r>
            <a:endParaRPr lang="ru-RU" sz="22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α = 0,5 → 0,5 → 1,25</a:t>
            </a:r>
            <a:endParaRPr lang="ru-RU" sz="22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α = 0,1 → 0,9 → 1,01»</a:t>
            </a:r>
            <a:endParaRPr lang="ru-RU" sz="2200">
              <a:latin typeface="Arial"/>
            </a:endParaRPr>
          </a:p>
        </p:txBody>
      </p:sp>
      <p:pic>
        <p:nvPicPr>
          <p:cNvPr id="193212638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4319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2798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Градиентная стратегия: предпочтения</a:t>
            </a:r>
            <a:endParaRPr/>
          </a:p>
        </p:txBody>
      </p:sp>
      <p:sp>
        <p:nvSpPr>
          <p:cNvPr id="1621274321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9579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Вероятность выбора никогда не ноль: разведка встроена в вероятности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Награда выше базовой линии — предпочтение растёт, ниже — падает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Базовая линия (среднее по всем наградам) отделяет «много» от «малого»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Вопрос: чем это принципиально отличается от ε-жадной?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Формулу не выводим — увидите её в коде на следующем слайде</a:t>
            </a:r>
            <a:endParaRPr sz="2200"/>
          </a:p>
        </p:txBody>
      </p:sp>
      <p:sp>
        <p:nvSpPr>
          <p:cNvPr id="1169377974" name="Прямоугольник: скругленные углы 2"/>
          <p:cNvSpPr/>
          <p:nvPr/>
        </p:nvSpPr>
        <p:spPr bwMode="auto">
          <a:xfrm>
            <a:off x="432618" y="4315415"/>
            <a:ext cx="11331935" cy="142074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H(A), H(B), H(C) — не отдачи, а предпочтения</a:t>
            </a:r>
            <a:r>
              <a:rPr lang="ru-RU" sz="22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(важны только разности)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выбор по мягкому максимуму: </a:t>
            </a:r>
            <a:b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exp(H) / Σ exp(H) — при H = 2, 1, 0 → шансы 66% / 24% / 9%</a:t>
            </a:r>
            <a:endParaRPr lang="ru-RU" sz="2200">
              <a:latin typeface="Arial"/>
            </a:endParaRPr>
          </a:p>
        </p:txBody>
      </p:sp>
      <p:pic>
        <p:nvPicPr>
          <p:cNvPr id="187333269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6292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95609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9" cy="731879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preferences(): мягкий максимум — та же формула, записанная кодом</a:t>
            </a:r>
            <a:endParaRPr/>
          </a:p>
        </p:txBody>
      </p:sp>
      <p:sp>
        <p:nvSpPr>
          <p:cNvPr id="1012691370" name="Прямоугольник: скругленные углы 5"/>
          <p:cNvSpPr/>
          <p:nvPr/>
        </p:nvSpPr>
        <p:spPr bwMode="auto">
          <a:xfrm flipH="0" flipV="0">
            <a:off x="429766" y="1774503"/>
            <a:ext cx="11329416" cy="2121408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preferences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softmax над предпочтениями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top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values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защита от переполнения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top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z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sum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values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ru-RU" sz="22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lang="en-US" sz="2200" b="0" i="0" u="none" strike="noStrike" cap="none" spc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Σ exp(H) — нормировка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z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</p:txBody>
      </p:sp>
      <p:sp>
        <p:nvSpPr>
          <p:cNvPr id="569331356" name="Прямоугольник: скругленные углы 2"/>
          <p:cNvSpPr/>
          <p:nvPr/>
        </p:nvSpPr>
        <p:spPr bwMode="auto">
          <a:xfrm>
            <a:off x="432617" y="4334090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что будет, если убрать − top?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отношения вероятностей не изменятся — а переполнение придёт</a:t>
            </a:r>
            <a:endParaRPr lang="ru-RU" sz="2200">
              <a:latin typeface="Arial"/>
            </a:endParaRPr>
          </a:p>
        </p:txBody>
      </p:sp>
      <p:pic>
        <p:nvPicPr>
          <p:cNvPr id="148039050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6479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63925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act() и update(): где разведка</a:t>
            </a:r>
            <a:endParaRPr/>
          </a:p>
        </p:txBody>
      </p:sp>
      <p:sp>
        <p:nvSpPr>
          <p:cNvPr id="1411827288" name="Прямоугольник: скругленные углы 5"/>
          <p:cNvSpPr/>
          <p:nvPr/>
        </p:nvSpPr>
        <p:spPr bwMode="auto">
          <a:xfrm flipH="0" flipV="0">
            <a:off x="429767" y="961837"/>
            <a:ext cx="11329416" cy="4049073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"gradient"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базовая линия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prefs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preferences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grad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prefs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h_alpha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grad</a:t>
            </a:r>
            <a:endParaRPr sz="2600"/>
          </a:p>
        </p:txBody>
      </p:sp>
      <p:sp>
        <p:nvSpPr>
          <p:cNvPr id="459794966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почему невыбранные рычаги тоже обновляются?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мягкий максимум — конкуренция: вырос один — просели остальные</a:t>
            </a:r>
            <a:endParaRPr lang="ru-RU" sz="2200">
              <a:latin typeface="Arial"/>
            </a:endParaRPr>
          </a:p>
        </p:txBody>
      </p:sp>
      <p:pic>
        <p:nvPicPr>
          <p:cNvPr id="123598478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06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мы НЕ разбираем</a:t>
            </a:r>
            <a:endParaRPr/>
          </a:p>
        </p:txBody>
      </p:sp>
      <p:sp>
        <p:nvSpPr>
          <p:cNvPr id="4969424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2108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именно такой градиент — не выводим, описание будет на портале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выбрать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(шаг предпочтений, self.h_alpha) —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подбор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; в эталоне — 0,1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в дрейфе хуже — честно не знаем, увидим числами; гипотеза для лабораторной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Вопросы по выводу — на консультацию, не на семинар</a:t>
            </a:r>
            <a:endParaRPr sz="2200"/>
          </a:p>
        </p:txBody>
      </p:sp>
      <p:sp>
        <p:nvSpPr>
          <p:cNvPr id="112298403" name="Прямоугольник: скругленные углы 2"/>
          <p:cNvSpPr/>
          <p:nvPr/>
        </p:nvSpPr>
        <p:spPr bwMode="auto">
          <a:xfrm>
            <a:off x="428686" y="4083046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Вывод формулы — на консультацию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формулу принимаем как факт и работаем с поведением</a:t>
            </a:r>
            <a:endParaRPr lang="ru-RU" sz="2200">
              <a:latin typeface="Arial"/>
            </a:endParaRPr>
          </a:p>
        </p:txBody>
      </p:sp>
      <p:pic>
        <p:nvPicPr>
          <p:cNvPr id="3123637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134" y="439689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840186" name="Прямоугольник: скругленные углы 8"/>
          <p:cNvSpPr/>
          <p:nvPr/>
        </p:nvSpPr>
        <p:spPr bwMode="auto">
          <a:xfrm>
            <a:off x="3326208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agent.py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2: две строки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step = …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self.q[act] += …</a:t>
            </a:r>
            <a:endParaRPr sz="2600"/>
          </a:p>
        </p:txBody>
      </p:sp>
      <p:sp>
        <p:nvSpPr>
          <p:cNvPr id="2065307284" name="Прямоугольник: скругленные углы 11"/>
          <p:cNvSpPr/>
          <p:nvPr/>
        </p:nvSpPr>
        <p:spPr bwMode="auto">
          <a:xfrm>
            <a:off x="6198392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run.py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3: стратегия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mode = …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три куска, верного нет</a:t>
            </a:r>
            <a:endParaRPr sz="2600"/>
          </a:p>
        </p:txBody>
      </p:sp>
      <p:sp>
        <p:nvSpPr>
          <p:cNvPr id="345071338" name="Прямоугольник: скругленные углы 12"/>
          <p:cNvSpPr/>
          <p:nvPr/>
        </p:nvSpPr>
        <p:spPr bwMode="auto">
          <a:xfrm>
            <a:off x="9076732" y="2611064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snippets.py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По три куска на пропуск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подсказки без ответов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обоснование — вслух</a:t>
            </a:r>
            <a:endParaRPr sz="2600"/>
          </a:p>
        </p:txBody>
      </p:sp>
      <p:sp>
        <p:nvSpPr>
          <p:cNvPr id="17490408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делаем: три пропуска</a:t>
            </a:r>
            <a:endParaRPr/>
          </a:p>
        </p:txBody>
      </p:sp>
      <p:sp>
        <p:nvSpPr>
          <p:cNvPr id="850277186" name="Прямоугольник: скругленные углы 5"/>
          <p:cNvSpPr/>
          <p:nvPr/>
        </p:nvSpPr>
        <p:spPr bwMode="auto">
          <a:xfrm>
            <a:off x="432592" y="2611063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environment.py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1: шаг блуждания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как двигаются средние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три куска: дрейф / фикс / перезапуск</a:t>
            </a:r>
            <a:endParaRPr sz="2600"/>
          </a:p>
        </p:txBody>
      </p:sp>
      <p:sp>
        <p:nvSpPr>
          <p:cNvPr id="1476972786" name="Прямоугольник: скругленные углы 2"/>
          <p:cNvSpPr/>
          <p:nvPr/>
        </p:nvSpPr>
        <p:spPr bwMode="auto">
          <a:xfrm flipH="0" flipV="0">
            <a:off x="385106" y="1129926"/>
            <a:ext cx="11326811" cy="1132563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8 минут на пропуск · пары/группы · выбранный кусок обосновываете вслух одной фразой</a:t>
            </a:r>
            <a:endParaRPr lang="ru-RU" sz="2400">
              <a:latin typeface="Arial"/>
            </a:endParaRPr>
          </a:p>
        </p:txBody>
      </p:sp>
      <p:pic>
        <p:nvPicPr>
          <p:cNvPr id="608857949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46220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587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1: мир должен двигаться</a:t>
            </a:r>
            <a:endParaRPr/>
          </a:p>
        </p:txBody>
      </p:sp>
      <p:sp>
        <p:nvSpPr>
          <p:cNvPr id="1541157391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4000" tIns="108000" rIns="144000" bIns="14400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(а) дрейф: среднее сдвигается гауссом и упирается в границы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gauss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sigma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LO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HI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(б) фиксированные вероятности — мир стоит, как на прошлой практике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0.8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0.3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0.6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0.5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0.4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(в) каждый спринт средние разыгрываются с нуля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uniform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LO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HI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</p:txBody>
      </p:sp>
      <p:sp>
        <p:nvSpPr>
          <p:cNvPr id="837509012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чем (в) хуже (а)?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это не дрейф, а перезапуск: история средних теряет смысл</a:t>
            </a:r>
            <a:endParaRPr lang="ru-RU" sz="2200">
              <a:latin typeface="Arial"/>
            </a:endParaRPr>
          </a:p>
        </p:txBody>
      </p:sp>
      <p:pic>
        <p:nvPicPr>
          <p:cNvPr id="13536039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97433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2: две строки руками</a:t>
            </a:r>
            <a:endParaRPr/>
          </a:p>
        </p:txBody>
      </p:sp>
      <p:sp>
        <p:nvSpPr>
          <p:cNvPr id="37732314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B5CEA8"/>
                </a:solidFill>
                <a:latin typeface="Consolas"/>
              </a:rPr>
              <a:t>0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B5CEA8"/>
                </a:solidFill>
                <a:latin typeface="Consolas"/>
              </a:rPr>
              <a:t>1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reward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400">
                <a:solidFill>
                  <a:srgbClr val="6A9955"/>
                </a:solidFill>
                <a:latin typeface="Consolas"/>
              </a:rPr>
              <a:t># ← ПРОПУСК 2, строка 1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6A9955"/>
                </a:solidFill>
                <a:latin typeface="Consolas"/>
              </a:rPr>
              <a:t># ← ПРОПУСК 2, строка 2</a:t>
            </a:r>
            <a:endParaRPr sz="2800"/>
          </a:p>
        </p:txBody>
      </p:sp>
      <p:sp>
        <p:nvSpPr>
          <p:cNvPr id="1134792873" name="Прямоугольник: скругленные углы 2"/>
          <p:cNvSpPr/>
          <p:nvPr/>
        </p:nvSpPr>
        <p:spPr bwMode="auto">
          <a:xfrm>
            <a:off x="429768" y="5221224"/>
            <a:ext cx="11330855" cy="116071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Вопрос: каким должен быть шаг, если мир движется?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и чем мы за эту свежесть платим</a:t>
            </a:r>
            <a:endParaRPr lang="ru-RU" sz="2400">
              <a:latin typeface="Arial"/>
            </a:endParaRPr>
          </a:p>
        </p:txBody>
      </p:sp>
      <p:pic>
        <p:nvPicPr>
          <p:cNvPr id="4906531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67580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2913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3: верного куска нет</a:t>
            </a:r>
            <a:endParaRPr/>
          </a:p>
        </p:txBody>
      </p:sp>
      <p:sp>
        <p:nvSpPr>
          <p:cNvPr id="1308913174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399687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"eps"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epsilon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ε-жадная: разведка долей шагов наугад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"gradient"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градиентная: разведка внутри softmax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"ucb"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c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2.0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UCB: разведка бонусом за неуверенность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выбрав кусок, обоснуйте его одной фразой в</a:t>
            </a:r>
            <a:r>
              <a:rPr lang="ru-RU" sz="2200">
                <a:solidFill>
                  <a:srgbClr val="6A9955"/>
                </a:solidFill>
                <a:latin typeface="Consolas"/>
              </a:rPr>
              <a:t>слух</a:t>
            </a:r>
            <a:endParaRPr sz="2600"/>
          </a:p>
        </p:txBody>
      </p:sp>
      <p:sp>
        <p:nvSpPr>
          <p:cNvPr id="806910239" name="Прямоугольник: скругленные углы 2"/>
          <p:cNvSpPr/>
          <p:nvPr/>
        </p:nvSpPr>
        <p:spPr bwMode="auto">
          <a:xfrm>
            <a:off x="432618" y="393254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какой кусок выберете и почему?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верного нет: таблица в конце — исход, а не ответ</a:t>
            </a:r>
            <a:endParaRPr lang="ru-RU" sz="2200">
              <a:latin typeface="Arial"/>
            </a:endParaRPr>
          </a:p>
        </p:txBody>
      </p:sp>
      <p:pic>
        <p:nvPicPr>
          <p:cNvPr id="25386793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24639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966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делаем: run.py --exp --strategy …</a:t>
            </a:r>
            <a:endParaRPr/>
          </a:p>
        </p:txBody>
      </p:sp>
      <p:sp>
        <p:nvSpPr>
          <p:cNvPr id="1763126883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334319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python3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run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py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strategy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eps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seeds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100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х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з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ь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щ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ш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ш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з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й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б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endParaRPr sz="2600"/>
          </a:p>
        </p:txBody>
      </p:sp>
      <p:sp>
        <p:nvSpPr>
          <p:cNvPr id="1648564549" name="Прямоугольник: скругленные углы 2"/>
          <p:cNvSpPr/>
          <p:nvPr/>
        </p:nvSpPr>
        <p:spPr bwMode="auto">
          <a:xfrm>
            <a:off x="373738" y="3932547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Метрики считаются по логу средних, а не по наградам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поэтому и можно спросить: угадал ли агент лучшего в тот момент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есть ещё regret — сколько потеряли против лучшего (раздатка)</a:t>
            </a:r>
            <a:endParaRPr lang="ru-RU" sz="2000">
              <a:latin typeface="Arial"/>
            </a:endParaRPr>
          </a:p>
        </p:txBody>
      </p:sp>
      <p:pic>
        <p:nvPicPr>
          <p:cNvPr id="97443652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186" y="441704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7316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Эталон: 240 сидов, медиана [IQR]</a:t>
            </a:r>
            <a:endParaRPr/>
          </a:p>
        </p:txBody>
      </p:sp>
      <p:sp>
        <p:nvSpPr>
          <p:cNvPr id="199202161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240 сидов × 1000 спринтов, σ = 0,05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один прогон ничего не доказывает: смотрим медиану и квартили</a:t>
            </a:r>
            <a:endParaRPr lang="ru-RU" sz="2200">
              <a:latin typeface="Arial"/>
            </a:endParaRPr>
          </a:p>
        </p:txBody>
      </p:sp>
      <p:pic>
        <p:nvPicPr>
          <p:cNvPr id="6631575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  <p:graphicFrame>
        <p:nvGraphicFramePr>
          <p:cNvPr id="1447578199" name="Table 2081775820"/>
          <p:cNvGraphicFramePr>
            <a:graphicFrameLocks xmlns:a="http://schemas.openxmlformats.org/drawingml/2006/main" noGrp="1"/>
          </p:cNvGraphicFramePr>
          <p:nvPr/>
        </p:nvGraphicFramePr>
        <p:xfrm rot="0">
          <a:off x="429768" y="1280160"/>
          <a:ext cx="11329416" cy="3611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46120"/>
                <a:gridCol w="2880360"/>
                <a:gridCol w="3017519"/>
                <a:gridCol w="2185416"/>
              </a:tblGrid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Доход за спринт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Доля лучшего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Перекос n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жадная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0.74 [0.53–1.01]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18% [5–33]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1000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1/n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1.17 [0.99–1.36]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53% [41–67]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α 0,1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1.31 [1.16–1.44]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69% [62–76]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α 0,3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1.34 [1.18–1.47]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76% [69–81]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UCB c=2 · 1/n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1.35 [1.19–1.48]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74% [64–81]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UCB c=2 · α 0,1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1.36 [1.21–1.49]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75% [67–81]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градиентная h=0,1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1.18 [1.01–1.38]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54% [44–68]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21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оракул: текущий лучший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1.45 [1.29–1.57]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100% [100–100]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389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Тезис 1: у 1/n разброс вдвое больше</a:t>
            </a:r>
            <a:endParaRPr/>
          </a:p>
        </p:txBody>
      </p:sp>
      <p:sp>
        <p:nvSpPr>
          <p:cNvPr id="1928368782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5474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1/n: 53% [41–67], разброс 14–90 (мин–макс по сидам)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α = 0,1: 69% [62–76], разброс 28–91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IQR (межквартильный размах, 25–75%) — 26 против 14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Середина плотная, хвосты длинные — поэтому сравниваем распределения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Одно число из одного прогона не значит ничего</a:t>
            </a:r>
            <a:endParaRPr sz="2200"/>
          </a:p>
        </p:txBody>
      </p:sp>
      <p:sp>
        <p:nvSpPr>
          <p:cNvPr id="1715300260" name="Прямоугольник: скругленные углы 2"/>
          <p:cNvSpPr/>
          <p:nvPr/>
        </p:nvSpPr>
        <p:spPr bwMode="auto">
          <a:xfrm>
            <a:off x="432618" y="4063281"/>
            <a:ext cx="11331215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студент получил 90% — он ошибся?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нет: он в длинном хвосте распределения</a:t>
            </a:r>
            <a:endParaRPr lang="ru-RU" sz="2200">
              <a:latin typeface="Arial"/>
            </a:endParaRPr>
          </a:p>
        </p:txBody>
      </p:sp>
      <p:pic>
        <p:nvPicPr>
          <p:cNvPr id="147981790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3771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2966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Эталон крупно: кто где</a:t>
            </a:r>
            <a:endParaRPr/>
          </a:p>
        </p:txBody>
      </p:sp>
      <p:sp>
        <p:nvSpPr>
          <p:cNvPr id="1483228329" name="Прямоугольник: скругленные углы 2"/>
          <p:cNvSpPr/>
          <p:nvPr/>
        </p:nvSpPr>
        <p:spPr bwMode="auto">
          <a:xfrm>
            <a:off x="429768" y="5221224"/>
            <a:ext cx="11332654" cy="155075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Доля текущего лучшего: полоса — квартили, точка — медиана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пунктир справа — оракул (</a:t>
            </a:r>
            <a:r>
              <a:rPr lang="ru-RU" sz="2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эталон для сравнения</a:t>
            </a:r>
            <a:r>
              <a:rPr lang="ru-RU" sz="2400">
                <a:latin typeface="Arial"/>
              </a:rPr>
              <a:t>), </a:t>
            </a:r>
            <a:r>
              <a:rPr lang="ru-RU" sz="2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точечная линия — случайный выбор (три рычага → лучший тянется в трети случаев)</a:t>
            </a:r>
            <a:endParaRPr lang="ru-RU" sz="2400">
              <a:latin typeface="Arial"/>
            </a:endParaRPr>
          </a:p>
        </p:txBody>
      </p:sp>
      <p:pic>
        <p:nvPicPr>
          <p:cNvPr id="9063964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62603"/>
            <a:ext cx="468000" cy="468000"/>
          </a:xfrm>
          <a:prstGeom prst="rect">
            <a:avLst/>
          </a:prstGeom>
        </p:spPr>
      </p:pic>
      <p:pic>
        <p:nvPicPr>
          <p:cNvPr id="1891231493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66274" y="996422"/>
            <a:ext cx="8547989" cy="4182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42236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Тезис 2 и 3: окна и градиентная</a:t>
            </a:r>
            <a:endParaRPr/>
          </a:p>
        </p:txBody>
      </p:sp>
      <p:sp>
        <p:nvSpPr>
          <p:cNvPr id="33403897" name="Прямоугольник: скругленные углы 5"/>
          <p:cNvSpPr/>
          <p:nvPr/>
        </p:nvSpPr>
        <p:spPr bwMode="auto">
          <a:xfrm flipH="0" flipV="0">
            <a:off x="429766" y="1307590"/>
            <a:ext cx="11329416" cy="290015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Перекос n (max/min частот рычагов):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ε 1/n — 20 · ε α0,1 — 9 · UCB 1/n — 11 · UCB α0,1 — 5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Градиентная: 54% [44–68] — ниже ε с постоянным шагом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Проверяли: база 1/t и шаг предпочтений — не они (54 → 56% при шаге ×10)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Рабочая версия: softmax не обнуляет плохим рукам вероятность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Честный ответ: причину не нашли — это гипотеза для лабы</a:t>
            </a:r>
            <a:endParaRPr sz="2200"/>
          </a:p>
        </p:txBody>
      </p:sp>
      <p:sp>
        <p:nvSpPr>
          <p:cNvPr id="680010848" name="Прямоугольник: скругленные углы 2"/>
          <p:cNvSpPr/>
          <p:nvPr/>
        </p:nvSpPr>
        <p:spPr bwMode="auto">
          <a:xfrm>
            <a:off x="432617" y="4636197"/>
            <a:ext cx="11330855" cy="116071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Вопрос: почему UCB с 1/n держится?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бонус выравнивает частоты — окна усреднения у рук сопоставимы</a:t>
            </a:r>
            <a:endParaRPr lang="ru-RU" sz="2400">
              <a:latin typeface="Arial"/>
            </a:endParaRPr>
          </a:p>
        </p:txBody>
      </p:sp>
      <p:pic>
        <p:nvPicPr>
          <p:cNvPr id="173711446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98255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8762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Потолок плывёт: оракул 1,45</a:t>
            </a:r>
            <a:endParaRPr/>
          </a:p>
        </p:txBody>
      </p:sp>
      <p:sp>
        <p:nvSpPr>
          <p:cNvPr id="625873960" name="Прямоугольник: скругленные углы 5"/>
          <p:cNvSpPr/>
          <p:nvPr/>
        </p:nvSpPr>
        <p:spPr bwMode="auto">
          <a:xfrm flipH="0" flipV="0">
            <a:off x="429766" y="1307591"/>
            <a:ext cx="11329416" cy="258614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Оракул всегда тянет текущего лучшего: 1.45 [1.29–1.57], доля 100% [100–100]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Граница сверху 1,9 тоже играет в плюс: средним разрешено подниматься выше стартов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Абсолютный доход сравниваем с оракулом, главная метрика — доля лучшего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Числа привязаны к нашим μ₀ и σ: со своими оракул считается заново</a:t>
            </a:r>
            <a:endParaRPr sz="2200"/>
          </a:p>
        </p:txBody>
      </p:sp>
      <p:sp>
        <p:nvSpPr>
          <p:cNvPr id="1667557552" name="Прямоугольник: скругленные углы 2"/>
          <p:cNvSpPr/>
          <p:nvPr/>
        </p:nvSpPr>
        <p:spPr bwMode="auto">
          <a:xfrm>
            <a:off x="432617" y="4259795"/>
            <a:ext cx="11331215" cy="122572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Вопрос: почему не 1,3?</a:t>
            </a:r>
            <a:endParaRPr lang="ru-RU" sz="2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600">
                <a:latin typeface="Arial"/>
              </a:rPr>
              <a:t>максимум трёх гуляющих средних выше максимума стартов</a:t>
            </a:r>
            <a:endParaRPr lang="ru-RU" sz="2600">
              <a:latin typeface="Arial"/>
            </a:endParaRPr>
          </a:p>
        </p:txBody>
      </p:sp>
      <p:pic>
        <p:nvPicPr>
          <p:cNvPr id="31609759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63865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3537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Бандит или не бандит</a:t>
            </a:r>
            <a:endParaRPr/>
          </a:p>
        </p:txBody>
      </p:sp>
      <p:sp>
        <p:nvSpPr>
          <p:cNvPr id="1737790148" name="Прямоугольник: скругленные углы 5"/>
          <p:cNvSpPr/>
          <p:nvPr/>
        </p:nvSpPr>
        <p:spPr bwMode="auto">
          <a:xfrm>
            <a:off x="432592" y="2377607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A/B-тест лендинга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Два варианта страницы, трафик, конверсия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Что дрейфует: вкусы аудитории и сезон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Рычаг — вариант страницы, состояние не нужно</a:t>
            </a:r>
            <a:endParaRPr sz="2600"/>
          </a:p>
        </p:txBody>
      </p:sp>
      <p:sp>
        <p:nvSpPr>
          <p:cNvPr id="350903361" name="Прямоугольник: скругленные углы 10"/>
          <p:cNvSpPr/>
          <p:nvPr/>
        </p:nvSpPr>
        <p:spPr bwMode="auto">
          <a:xfrm>
            <a:off x="8110537" y="2377608"/>
            <a:ext cx="3648074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Маршрут в навигаторе утром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Пробки меняются от минуты к минуте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Цена маршрута нестационарна по своей природе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Выбор меняет время у других</a:t>
            </a:r>
            <a:endParaRPr sz="2600"/>
          </a:p>
        </p:txBody>
      </p:sp>
      <p:sp>
        <p:nvSpPr>
          <p:cNvPr id="251765404" name="Прямоугольник: скругленные углы 2"/>
          <p:cNvSpPr/>
          <p:nvPr/>
        </p:nvSpPr>
        <p:spPr bwMode="auto">
          <a:xfrm flipH="0" flipV="0">
            <a:off x="431797" y="983900"/>
            <a:ext cx="11326811" cy="1191904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Критерий: один выбор → одна награда, состояния нет. Спорные случаи — голосуем "с оговорками"</a:t>
            </a:r>
            <a:endParaRPr lang="ru-RU" sz="2400">
              <a:latin typeface="Arial"/>
            </a:endParaRPr>
          </a:p>
        </p:txBody>
      </p:sp>
      <p:sp>
        <p:nvSpPr>
          <p:cNvPr id="610336336" name="Прямоугольник: скругленные углы 6"/>
          <p:cNvSpPr/>
          <p:nvPr/>
        </p:nvSpPr>
        <p:spPr bwMode="auto">
          <a:xfrm>
            <a:off x="4272358" y="2377608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Покер против людей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Ставки и соперники меняются каждый раздачей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Прошлые наблюдения почти ничего не стоят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Решения цепочкой: флоп, терн, ривер; карты скрыты</a:t>
            </a:r>
            <a:endParaRPr sz="2600"/>
          </a:p>
        </p:txBody>
      </p:sp>
      <p:pic>
        <p:nvPicPr>
          <p:cNvPr id="24711368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29" y="154208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172474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7249" cy="366120"/>
          </a:xfrm>
        </p:spPr>
        <p:txBody>
          <a:bodyPr/>
          <a:lstStyle/>
          <a:p>
            <a:pPr>
              <a:defRPr/>
            </a:pPr>
            <a:r>
              <a:rPr lang="ru-RU"/>
              <a:t>Лабораторная 2: что сдаётся</a:t>
            </a:r>
            <a:endParaRPr/>
          </a:p>
        </p:txBody>
      </p:sp>
      <p:sp>
        <p:nvSpPr>
          <p:cNvPr id="1978975830" name="Прямоугольник: скругленные углы 5"/>
          <p:cNvSpPr/>
          <p:nvPr/>
        </p:nvSpPr>
        <p:spPr bwMode="auto">
          <a:xfrm flipH="0" flipV="0">
            <a:off x="429765" y="1307592"/>
            <a:ext cx="11329416" cy="307809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REPORT.md + код + два графика: доход по времени и доли рычагов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Чек-лист критериев: в отчёте — ссылка на раздел; ссылка в никуда = критерий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 засчитан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run_log.jsonl: n_runs, seed_from, seed_to, metric, command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Срок: до начала 6-й практики — 10.11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Пересдача одна: до 8-й практики — 24.11</a:t>
            </a:r>
            <a:endParaRPr sz="2200"/>
          </a:p>
        </p:txBody>
      </p:sp>
      <p:sp>
        <p:nvSpPr>
          <p:cNvPr id="143381679" name="Прямоугольник: скругленные углы 2"/>
          <p:cNvSpPr/>
          <p:nvPr/>
        </p:nvSpPr>
        <p:spPr bwMode="auto">
          <a:xfrm>
            <a:off x="427248" y="4811777"/>
            <a:ext cx="11337694" cy="762538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Сдаётся файлом в личное сообщение, устной защиты нет</a:t>
            </a:r>
            <a:endParaRPr lang="ru-RU" sz="2600" b="1">
              <a:latin typeface="Arial"/>
            </a:endParaRPr>
          </a:p>
        </p:txBody>
      </p:sp>
      <p:pic>
        <p:nvPicPr>
          <p:cNvPr id="13788477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2696" y="495904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532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исследования и требование к числам</a:t>
            </a:r>
            <a:endParaRPr/>
          </a:p>
        </p:txBody>
      </p:sp>
      <p:sp>
        <p:nvSpPr>
          <p:cNvPr id="1960147540" name="Прямоугольник: скругленные углы 4"/>
          <p:cNvSpPr/>
          <p:nvPr/>
        </p:nvSpPr>
        <p:spPr bwMode="auto">
          <a:xfrm flipH="0" flipV="0">
            <a:off x="432672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Стратегии в дрейфе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ε-жадная, UCB, градиентная · σ = 0,05 · метрика: доля лучшего</a:t>
            </a:r>
            <a:endParaRPr lang="ru-RU" sz="48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392467207" name="Прямоугольник: скругленные углы 5"/>
          <p:cNvSpPr/>
          <p:nvPr/>
        </p:nvSpPr>
        <p:spPr bwMode="auto">
          <a:xfrm flipH="0" flipV="0">
            <a:off x="3324652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1/n против α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где проигрывает честное среднее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и как спасает α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043343388" name="Прямоугольник: скругленные углы 7"/>
          <p:cNvSpPr/>
          <p:nvPr/>
        </p:nvSpPr>
        <p:spPr bwMode="auto">
          <a:xfrm flipH="0" flipV="0">
            <a:off x="6202346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Влияние σ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0,01 / 0,05 / 0,2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разрыв 1/n и α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572698922" name="Прямоугольник: скругленные углы 8"/>
          <p:cNvSpPr/>
          <p:nvPr/>
        </p:nvSpPr>
        <p:spPr bwMode="auto">
          <a:xfrm flipH="0" flipV="0">
            <a:off x="9075279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Требование к числам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не менее 100 сидов на точку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медиана + IQR, свой диапазон σ (не копировать чужой)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643918837" name="Прямоугольник: скругленные углы 9"/>
          <p:cNvSpPr/>
          <p:nvPr/>
        </p:nvSpPr>
        <p:spPr bwMode="auto">
          <a:xfrm flipH="0" flipV="0">
            <a:off x="426323" y="5002286"/>
            <a:ext cx="11325064" cy="161287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6" tIns="107982" rIns="143976" bIns="143976" rtlCol="0" anchor="t"/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Гипотеза</a:t>
            </a:r>
            <a:r>
              <a:rPr lang="ru-RU" sz="2800">
                <a:latin typeface="Arial"/>
              </a:rPr>
              <a:t>: </a:t>
            </a:r>
            <a:br>
              <a:rPr lang="ru-RU" sz="2800">
                <a:latin typeface="Arial"/>
              </a:rPr>
            </a:br>
            <a:r>
              <a:rPr lang="ru-RU" sz="2800">
                <a:latin typeface="Arial"/>
              </a:rPr>
              <a:t>чем больше σ, тем нужнее α; </a:t>
            </a:r>
            <a:br>
              <a:rPr lang="ru-RU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ru-RU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при σ → 0 (мир стоит) разрыв исчезает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7373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Опыт: где 1/n сдаётся</a:t>
            </a:r>
            <a:endParaRPr/>
          </a:p>
        </p:txBody>
      </p:sp>
      <p:sp>
        <p:nvSpPr>
          <p:cNvPr id="1739255786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330836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Меняем σ в environment.py: 0 · 0,01 · 0,02 · 0,05 · 0,1 · 0,2 · 0,5 · 1,0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Или сразу: python3 sigma_ladder.py — вся лестница за две секунды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Сначала предсказание: при каком σ 1/n и α поменяются местами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Смотрим долю лучшего: медиана и IQR, 30 сидов на точку (демо; в лабе — от 100)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Вопросы: где разрыв максимален? почему при σ = 0 его нет? почему при σ = 1 схлопывается?</a:t>
            </a:r>
            <a:endParaRPr sz="2200"/>
          </a:p>
        </p:txBody>
      </p:sp>
      <p:sp>
        <p:nvSpPr>
          <p:cNvPr id="259002933" name="Прямоугольник: скругленные углы 2"/>
          <p:cNvSpPr/>
          <p:nvPr/>
        </p:nvSpPr>
        <p:spPr bwMode="auto">
          <a:xfrm>
            <a:off x="428688" y="483137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Гонка скоростей: шаг обучения против дрейфа мира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Опыт — минута: 8 точек σ, 30 сидов, 1000 спринтов</a:t>
            </a:r>
            <a:endParaRPr lang="ru-RU" sz="2200">
              <a:latin typeface="Arial"/>
            </a:endParaRPr>
          </a:p>
        </p:txBody>
      </p:sp>
      <p:pic>
        <p:nvPicPr>
          <p:cNvPr id="128245053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136" y="514522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499213" name="TextBox 1"/>
          <p:cNvSpPr txBox="1"/>
          <p:nvPr/>
        </p:nvSpPr>
        <p:spPr bwMode="auto">
          <a:xfrm>
            <a:off x="429768" y="2077046"/>
            <a:ext cx="11329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900">
                <a:solidFill>
                  <a:srgbClr val="1F3B57"/>
                </a:solidFill>
              </a:rPr>
              <a:t>Следующая практика: 3 ноября — работа по лабораторной 2</a:t>
            </a:r>
            <a:endParaRPr/>
          </a:p>
          <a:p>
            <a:pPr>
              <a:defRPr/>
            </a:pPr>
            <a:r>
              <a:rPr sz="1900">
                <a:solidFill>
                  <a:srgbClr val="1F3B57"/>
                </a:solidFill>
              </a:rPr>
              <a:t>В чат: техзадание и шаблоны отчёта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DocSecurity>0</DocSecurity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193</cp:revision>
  <dcterms:created xsi:type="dcterms:W3CDTF">2023-02-20T15:32:58Z</dcterms:created>
  <dcterms:modified xsi:type="dcterms:W3CDTF">2026-10-27T13:54:10Z</dcterms:modified>
  <cp:category/>
  <cp:contentStatus/>
  <cp:version/>
</cp:coreProperties>
</file>