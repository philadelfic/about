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8.xml" ContentType="application/vnd.openxmlformats-officedocument.presentationml.slideLayout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68" d="100"/>
          <a:sy n="68" d="100"/>
        </p:scale>
        <p:origin x="1098" y="54"/>
      </p:cViewPr>
      <p:guideLst>
        <p:guide pos="3840"/>
        <p:guide pos="2160" orient="horz"/>
        <p:guide pos="867" orient="horz"/>
      </p:guideLst>
    </p:cSldViewPr>
  </p:slideViewPr>
  <p:gridSpacing cx="216001" cy="216001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 /><Relationship Id="rId38" Type="http://schemas.openxmlformats.org/officeDocument/2006/relationships/tableStyles" Target="tableStyles.xml" /><Relationship Id="rId3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52562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98494287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EB4590AE-419C-7848-9550-F62033609B25}" type="datetimeFigureOut">
              <a:rPr lang="ru-RU"/>
              <a:t/>
            </a:fld>
            <a:endParaRPr lang="ru-RU"/>
          </a:p>
        </p:txBody>
      </p:sp>
      <p:sp>
        <p:nvSpPr>
          <p:cNvPr id="1310060611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103889073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9480439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683646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57F69232-B7F1-2A44-AAD4-5E776A4A1F7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1" hdr="0" sldNum="1"/>
  <p:notesStyle>
    <a:lvl1pPr marL="0" algn="l" defTabSz="91440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2969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735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287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6B899D-A44C-FCF3-B833-1BBDAAA8D3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42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1066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924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83DB41-4FE6-8CC4-2A54-F7B94B73A6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6336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7810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640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63B350-EA2D-BF50-CF06-FEC5AA7CB3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477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9035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06839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ADA8D6-BB88-3BE4-CF77-C529DB0753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1437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45798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386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5E47A8-E7CE-B9FB-FE50-6EE1C160CE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218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19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03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1A83D-AC57-02DC-83B3-DA685BF46B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1389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9917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48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EFF0AB-C258-1D28-AF00-FB8D9787BD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814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7778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28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2EEA61-3114-0CFE-EC88-BAAE6BC13E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968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5528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00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583471-314D-575F-3B9C-8B9745980D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778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6569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919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076D6C-0602-C248-CFE8-CD1B27A99E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28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7737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380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3DDC71-1354-5B9C-F17D-0BA9CAFE3F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44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706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434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37D3F9-AFA2-7385-3DDC-F904E079FA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9182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9553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753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5C7879-E2C1-328C-A08C-D7BABFD671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911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4062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526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38A8D-AD72-5ED4-E86F-AD9F10BCA7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026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1312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699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B7CB95-187F-1F8D-E3CD-368176726B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699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3831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580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D28584-4B1F-A271-143D-6823065034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875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1069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277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47401F-DD5D-65BB-DF6A-14203D7D43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165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4779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84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EFF35E-7E7A-65AE-24C8-8BE092A8C7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9701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9335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414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11C764-D3D1-FAC3-C068-C38CB623E1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344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5039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4361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877BE7-750A-302F-EE79-286F1E1892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128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432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335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1C3C94-685B-6A1D-517D-1FEC6B2362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647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906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467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105EC3-BEF8-D94F-43DB-C83865C6C7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1091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72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4662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E64477-1211-F933-3A0E-2764F9EFE3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606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2756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6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3FCDA8-8786-1809-1986-CA782CAADB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82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65711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31835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DA11E7-3062-8C6B-5DD4-34BD402151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785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2274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26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E3A52B-11AA-9582-F4E0-0512C3B878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389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0399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225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E08AA1-91BF-6877-040B-4C9C777BCE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864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70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506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45EB72-9809-8DAE-EEEE-9B6ACAE575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451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3036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5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F3277E-683B-9AC8-4F86-EDE70C4CB0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5565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8427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658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1CF9C9-08D9-7A12-E95A-7558B66691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6568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214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035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D0A850-3565-B2CA-0C18-30082D03E0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6767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7328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7927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EC90EB-CFBE-50C3-C55C-4132CAC600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Титульный слайд 1">
    <p:bg>
      <p:bgPr shadeToTitle="0">
        <a:solidFill>
          <a:srgbClr val="F1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815034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0525143" y="482012"/>
            <a:ext cx="1282403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>
                <a:solidFill>
                  <a:schemeClr val="tx1"/>
                </a:solidFill>
                <a:latin typeface="Arial"/>
              </a:defRPr>
            </a:lvl1pPr>
          </a:lstStyle>
          <a:p>
            <a:pPr marL="228600" lvl="0" indent="-228600">
              <a:lnSpc>
                <a:spcPct val="100000"/>
              </a:lnSpc>
              <a:defRPr/>
            </a:pPr>
            <a:r>
              <a:rPr lang="en-US"/>
              <a:t>00.00.202</a:t>
            </a:r>
            <a:r>
              <a:rPr lang="ru-RU"/>
              <a:t>6</a:t>
            </a:r>
            <a:endParaRPr/>
          </a:p>
        </p:txBody>
      </p:sp>
      <p:sp>
        <p:nvSpPr>
          <p:cNvPr id="2043547274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ru-RU"/>
              <a:t>Подзаголовок</a:t>
            </a:r>
            <a:endParaRPr lang="en-US"/>
          </a:p>
        </p:txBody>
      </p:sp>
      <p:sp>
        <p:nvSpPr>
          <p:cNvPr id="12259451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>
              <a:lnSpc>
                <a:spcPct val="70000"/>
              </a:lnSpc>
              <a:spcBef>
                <a:spcPts val="0"/>
              </a:spcBef>
              <a:buNone/>
              <a:defRPr lang="en-US" sz="6600" b="1" spc="-7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Длинный заголовок </a:t>
            </a:r>
            <a:br>
              <a:rPr lang="ru-RU"/>
            </a:br>
            <a:r>
              <a:rPr lang="ru-RU"/>
              <a:t>в две строки</a:t>
            </a:r>
            <a:endParaRPr lang="en-US"/>
          </a:p>
        </p:txBody>
      </p:sp>
      <p:pic>
        <p:nvPicPr>
          <p:cNvPr id="1753689470" name="Т1"/>
          <p:cNvPicPr>
            <a:picLocks noChangeAspect="1"/>
          </p:cNvPicPr>
          <p:nvPr userDrawn="1"/>
        </p:nvPicPr>
        <p:blipFill rotWithShape="1">
          <a:blip r:embed="rId2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  <p:pic>
        <p:nvPicPr>
          <p:cNvPr id="1106423040" name="Рисунок 8"/>
          <p:cNvPicPr>
            <a:picLocks noChangeAspect="1"/>
          </p:cNvPicPr>
          <p:nvPr userDrawn="1"/>
        </p:nvPicPr>
        <p:blipFill rotWithShape="1">
          <a:blip r:embed="rId3"/>
          <a:srcRect l="0" t="-2336" r="0" b="0"/>
          <a:stretch/>
        </p:blipFill>
        <p:spPr bwMode="auto">
          <a:xfrm>
            <a:off x="3078480" y="1183376"/>
            <a:ext cx="9113520" cy="56746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49382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1788875749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Arial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8474450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068481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Содержание</a:t>
            </a:r>
            <a:endParaRPr/>
          </a:p>
        </p:txBody>
      </p:sp>
      <p:sp>
        <p:nvSpPr>
          <p:cNvPr id="93588109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668480850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950667" name="Полилиния: фигура 3"/>
          <p:cNvSpPr/>
          <p:nvPr userDrawn="1"/>
        </p:nvSpPr>
        <p:spPr bwMode="auto">
          <a:xfrm>
            <a:off x="11196444" y="443503"/>
            <a:ext cx="562937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2700">
              <a:latin typeface="Arial"/>
            </a:endParaRPr>
          </a:p>
        </p:txBody>
      </p:sp>
      <p:sp>
        <p:nvSpPr>
          <p:cNvPr id="1426064842" name="TextBox 3"/>
          <p:cNvSpPr txBox="1"/>
          <p:nvPr userDrawn="1"/>
        </p:nvSpPr>
        <p:spPr bwMode="auto">
          <a:xfrm>
            <a:off x="431799" y="443503"/>
            <a:ext cx="895068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309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30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Знакомство</a:t>
            </a:r>
            <a:endParaRPr sz="3000"/>
          </a:p>
        </p:txBody>
      </p:sp>
      <p:sp>
        <p:nvSpPr>
          <p:cNvPr id="1558313387" name="Рисунок 2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554057" y="1728890"/>
            <a:ext cx="3404023" cy="3403498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50"/>
            </a:lvl1pPr>
          </a:lstStyle>
          <a:p>
            <a:pPr>
              <a:defRPr/>
            </a:pPr>
            <a:r>
              <a:rPr lang="ru-RU"/>
              <a:t>Фото эксперта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0996915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349661" y="1321684"/>
            <a:ext cx="9842339" cy="5536316"/>
          </a:xfrm>
          <a:prstGeom prst="rect">
            <a:avLst/>
          </a:prstGeom>
        </p:spPr>
      </p:pic>
      <p:sp>
        <p:nvSpPr>
          <p:cNvPr id="434413176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Вопросы</a:t>
            </a:r>
            <a:endParaRPr/>
          </a:p>
        </p:txBody>
      </p:sp>
      <p:sp>
        <p:nvSpPr>
          <p:cNvPr id="1213675419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583132271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итель темный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99203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1319419612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818409738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72235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14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826045426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под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285958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515923788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93278329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27370124" name="Текст 5"/>
          <p:cNvSpPr>
            <a:spLocks noGrp="1"/>
          </p:cNvSpPr>
          <p:nvPr>
            <p:ph type="body" sz="quarter" idx="13"/>
          </p:nvPr>
        </p:nvSpPr>
        <p:spPr bwMode="auto">
          <a:xfrm>
            <a:off x="431799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760671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945453887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7345908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659141748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94012275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3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608520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752525770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46836014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77940732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27116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51661555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8110538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2127004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4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037307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3314978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62572680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06138564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74506369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4610999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8561521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 колон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782241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2070167084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5010311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519213496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7774543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62350110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7992162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87556135" name="Текст 5"/>
          <p:cNvSpPr>
            <a:spLocks noGrp="1"/>
          </p:cNvSpPr>
          <p:nvPr>
            <p:ph type="body" sz="quarter" idx="21"/>
          </p:nvPr>
        </p:nvSpPr>
        <p:spPr bwMode="auto"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412429" name="Рисунок 6"/>
          <p:cNvSpPr>
            <a:spLocks noGrp="1"/>
          </p:cNvSpPr>
          <p:nvPr>
            <p:ph type="pic" sz="quarter" idx="12"/>
          </p:nvPr>
        </p:nvSpPr>
        <p:spPr bwMode="auto"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>
                <a:solidFill>
                  <a:srgbClr val="151515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353057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1537937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431799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2655613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992938613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 на весь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435876" name="Рисунок 10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229561182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244076321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голубой фон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4488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837418549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50553710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94706926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темный фон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746606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485960831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3500501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71947556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Маленький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394550" name="Заголовок 3"/>
          <p:cNvSpPr>
            <a:spLocks noGrp="1"/>
          </p:cNvSpPr>
          <p:nvPr>
            <p:ph type="title"/>
          </p:nvPr>
        </p:nvSpPr>
        <p:spPr bwMode="auto"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8879079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58412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16501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3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926083787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07238471" name="Picture Placeholder 7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1140375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541481939" name="Picture Placehold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2831062" y="198666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557695329" name="Picture Placeholder 7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563705" y="198757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179751718" name="Picture Placehold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292492" y="1985941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140091833" name="Picture Placeholder 7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052349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511997570" name="Picture Placeholder 7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9781136" y="197142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927532905" name="Picture Placeholder 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42913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237701108" name="Picture Placeholder 7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2096887" y="371671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726659071" name="Picture Placeholder 7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3786581" y="371761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56677819" name="Picture Placeholder 7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522869" y="3724300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249872522" name="Picture Placeholder 7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7249938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554977093" name="Picture Placeholder 7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973129" y="3726412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313146748" name="Picture Placeholder 7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10606088" y="3718718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пасибо за внимание">
    <p:bg>
      <p:bgPr shadeToTitle="0">
        <a:solidFill>
          <a:srgbClr val="F1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323802" name="TextBox 2"/>
          <p:cNvSpPr txBox="1"/>
          <p:nvPr userDrawn="1"/>
        </p:nvSpPr>
        <p:spPr bwMode="auto"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ts val="0"/>
              </a:spcBef>
              <a:buNone/>
              <a:defRPr sz="6600" spc="-70">
                <a:solidFill>
                  <a:schemeClr val="bg1"/>
                </a:solidFill>
                <a:latin typeface="ALS Hauss 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Спасибо </a:t>
            </a:r>
            <a:br>
              <a:rPr lang="ru-RU" b="1">
                <a:solidFill>
                  <a:schemeClr val="tx1"/>
                </a:solidFill>
                <a:latin typeface="Arial"/>
              </a:rPr>
            </a:br>
            <a:r>
              <a:rPr lang="ru-RU" b="1">
                <a:solidFill>
                  <a:schemeClr val="tx1"/>
                </a:solidFill>
                <a:latin typeface="Arial"/>
              </a:rPr>
              <a:t>за внимание</a:t>
            </a:r>
            <a:endParaRPr/>
          </a:p>
        </p:txBody>
      </p:sp>
      <p:pic>
        <p:nvPicPr>
          <p:cNvPr id="409757857" name="Рисунок 1"/>
          <p:cNvPicPr>
            <a:picLocks noChangeAspect="1"/>
          </p:cNvPicPr>
          <p:nvPr userDrawn="1"/>
        </p:nvPicPr>
        <p:blipFill rotWithShape="1">
          <a:blip r:embed="rId2"/>
          <a:srcRect l="0" t="-2336" r="0" b="0"/>
          <a:stretch/>
        </p:blipFill>
        <p:spPr bwMode="auto"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1249678580" name="Т1"/>
          <p:cNvPicPr>
            <a:picLocks noChangeAspect="1"/>
          </p:cNvPicPr>
          <p:nvPr userDrawn="1"/>
        </p:nvPicPr>
        <p:blipFill rotWithShape="1">
          <a:blip r:embed="rId3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080223" name="Нижний колонтитул 1"/>
          <p:cNvSpPr txBox="1"/>
          <p:nvPr userDrawn="1"/>
        </p:nvSpPr>
        <p:spPr bwMode="auto"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38336825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1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326355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954127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5" y="2349757"/>
            <a:ext cx="8488590" cy="2441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/>
              <a:t>Семинар 1</a:t>
            </a:r>
            <a:endParaRPr/>
          </a:p>
        </p:txBody>
      </p:sp>
      <p:sp>
        <p:nvSpPr>
          <p:cNvPr id="158721834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5" y="394503"/>
            <a:ext cx="8471108" cy="148053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sz="4000" b="1" i="0" u="none" strike="noStrike" cap="none" spc="-69">
                <a:solidFill>
                  <a:schemeClr val="tx1"/>
                </a:solidFill>
                <a:latin typeface="Arial"/>
                <a:ea typeface="Arial"/>
                <a:cs typeface="Arial"/>
              </a:rPr>
              <a:t>Где применимо RL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6507231" name=""/>
          <p:cNvPicPr>
            <a:picLocks noChangeAspect="1"/>
          </p:cNvPicPr>
          <p:nvPr>
            <p:ph type="pic" sz="quarter" idx="10" hasCustomPrompt="1"/>
          </p:nvPr>
        </p:nvPicPr>
        <p:blipFill rotWithShape="1">
          <a:blip r:embed="rId3">
            <a:alphaModFix amt="99999"/>
          </a:blip>
          <a:srcRect l="10265" t="48" r="0" b="23120"/>
          <a:stretch/>
        </p:blipFill>
        <p:spPr bwMode="auto">
          <a:xfrm rot="0" flipH="0" flipV="0">
            <a:off x="2157280" y="2121535"/>
            <a:ext cx="2481459" cy="2614928"/>
          </a:xfrm>
          <a:prstGeom prst="ellipse">
            <a:avLst/>
          </a:prstGeom>
        </p:spPr>
      </p:pic>
      <p:sp>
        <p:nvSpPr>
          <p:cNvPr id="1751844680" name="Прямоугольник: скругленные углы 4"/>
          <p:cNvSpPr/>
          <p:nvPr/>
        </p:nvSpPr>
        <p:spPr bwMode="auto">
          <a:xfrm>
            <a:off x="5394706" y="2391777"/>
            <a:ext cx="5172979" cy="2074440"/>
          </a:xfrm>
          <a:prstGeom prst="roundRect">
            <a:avLst>
              <a:gd name="adj" fmla="val 467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144000" bIns="144000" rtlCol="0" anchor="ctr"/>
          <a:lstStyle/>
          <a:p>
            <a:pPr>
              <a:spcAft>
                <a:spcPts val="1799"/>
              </a:spcAft>
              <a:defRPr/>
            </a:pPr>
            <a:r>
              <a:rPr lang="ru-RU" sz="4000" b="1">
                <a:solidFill>
                  <a:schemeClr val="bg1"/>
                </a:solidFill>
                <a:latin typeface="Arial"/>
              </a:rPr>
              <a:t>Олег Орловский</a:t>
            </a:r>
            <a:endParaRPr/>
          </a:p>
          <a:p>
            <a:pPr>
              <a:defRPr/>
            </a:pPr>
            <a:r>
              <a:rPr lang="ru-RU" sz="2000">
                <a:solidFill>
                  <a:schemeClr val="bg1"/>
                </a:solidFill>
                <a:latin typeface="Arial"/>
              </a:rPr>
              <a:t>ИТ-лидер команды развития кадровых сервисов</a:t>
            </a:r>
            <a:endParaRPr lang="ru-RU" sz="280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920567" name="Прямоугольник: скругленные углы 5"/>
          <p:cNvSpPr/>
          <p:nvPr/>
        </p:nvSpPr>
        <p:spPr bwMode="auto">
          <a:xfrm>
            <a:off x="7540458" y="1376361"/>
            <a:ext cx="4212000" cy="3888000"/>
          </a:xfrm>
          <a:prstGeom prst="roundRect">
            <a:avLst>
              <a:gd name="adj" fmla="val 22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55" tIns="0" rIns="143977" bIns="143977" rtlCol="0" anchor="t"/>
          <a:lstStyle/>
          <a:p>
            <a:pPr marL="261823" indent="-261823">
              <a:spcAft>
                <a:spcPts val="598"/>
              </a:spcAft>
              <a:buAutoNum type="arabicPeriod"/>
              <a:defRPr/>
            </a:pPr>
            <a:endParaRPr sz="1850"/>
          </a:p>
        </p:txBody>
      </p:sp>
      <p:sp>
        <p:nvSpPr>
          <p:cNvPr id="1148989031" name="Прямоугольник: скругленные углы 5"/>
          <p:cNvSpPr/>
          <p:nvPr/>
        </p:nvSpPr>
        <p:spPr bwMode="auto">
          <a:xfrm>
            <a:off x="432000" y="1376361"/>
            <a:ext cx="6912000" cy="3888000"/>
          </a:xfrm>
          <a:prstGeom prst="roundRect">
            <a:avLst>
              <a:gd name="adj" fmla="val 2670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Теория: где применимо обучение с подкреплением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Задачи на понимание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Рубежный контроль №1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Итоги и задание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5164227" name="Заголовок 1"/>
          <p:cNvSpPr>
            <a:spLocks noGrp="1"/>
          </p:cNvSpPr>
          <p:nvPr/>
        </p:nvSpPr>
        <p:spPr bwMode="auto">
          <a:xfrm>
            <a:off x="433491" y="423754"/>
            <a:ext cx="9610085" cy="366063"/>
          </a:xfrm>
        </p:spPr>
        <p:txBody>
          <a:bodyPr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Блоки занятия</a:t>
            </a:r>
            <a:endParaRPr/>
          </a:p>
        </p:txBody>
      </p:sp>
      <p:pic>
        <p:nvPicPr>
          <p:cNvPr id="1051440781" name="Рисунок 7"/>
          <p:cNvPicPr>
            <a:picLocks noChangeAspect="1"/>
          </p:cNvPicPr>
          <p:nvPr/>
        </p:nvPicPr>
        <p:blipFill rotWithShape="1">
          <a:blip r:embed="rId3"/>
          <a:srcRect l="5655" t="0" r="0" b="24604"/>
          <a:stretch/>
        </p:blipFill>
        <p:spPr bwMode="auto">
          <a:xfrm>
            <a:off x="7535862" y="1537616"/>
            <a:ext cx="3542814" cy="3726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034944" name="Прямоугольник: скругленные углы 5"/>
          <p:cNvSpPr/>
          <p:nvPr/>
        </p:nvSpPr>
        <p:spPr bwMode="auto">
          <a:xfrm>
            <a:off x="4664174" y="1376361"/>
            <a:ext cx="7092000" cy="427513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Познакомиться с тремя парадигмами машинного обучения и местом обучения с подкреплением среди них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Узнать, в каких задачах обучение с подкреплением применимо, а в каких — нет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Научиться описывать задачу через агента, состояние, действие и вознаграждение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Научиться считать доход и выбирать действие ε-жадной стратегией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4814767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1" y="423754"/>
            <a:ext cx="9615125" cy="366120"/>
          </a:xfrm>
        </p:spPr>
        <p:txBody>
          <a:bodyPr/>
          <a:lstStyle/>
          <a:p>
            <a:pPr>
              <a:defRPr/>
            </a:pPr>
            <a:r>
              <a:rPr lang="ru-RU"/>
              <a:t>Цели занятия</a:t>
            </a:r>
            <a:endParaRPr/>
          </a:p>
        </p:txBody>
      </p:sp>
      <p:sp>
        <p:nvSpPr>
          <p:cNvPr id="1899216041" name="Прямоугольник: скругленные углы 1"/>
          <p:cNvSpPr/>
          <p:nvPr/>
        </p:nvSpPr>
        <p:spPr bwMode="auto">
          <a:xfrm>
            <a:off x="437260" y="1376361"/>
            <a:ext cx="4032000" cy="4275136"/>
          </a:xfrm>
          <a:prstGeom prst="roundRect">
            <a:avLst>
              <a:gd name="adj" fmla="val 34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1200"/>
          </a:p>
        </p:txBody>
      </p:sp>
      <p:pic>
        <p:nvPicPr>
          <p:cNvPr id="522272795" name="Рисунок 3"/>
          <p:cNvPicPr>
            <a:picLocks noChangeAspect="1"/>
          </p:cNvPicPr>
          <p:nvPr/>
        </p:nvPicPr>
        <p:blipFill rotWithShape="1">
          <a:blip r:embed="rId3"/>
          <a:srcRect l="13623" t="0" r="0" b="17876"/>
          <a:stretch/>
        </p:blipFill>
        <p:spPr bwMode="auto">
          <a:xfrm>
            <a:off x="447534" y="2105613"/>
            <a:ext cx="3729543" cy="35458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2346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Где применимо обучение с подкреплением</a:t>
            </a:r>
            <a:endParaRPr/>
          </a:p>
        </p:txBody>
      </p:sp>
      <p:sp>
        <p:nvSpPr>
          <p:cNvPr id="1915011699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432618" y="1803122"/>
            <a:ext cx="9415913" cy="307776"/>
          </a:xfrm>
        </p:spPr>
        <p:txBody>
          <a:bodyPr/>
          <a:lstStyle/>
          <a:p>
            <a:pPr>
              <a:defRPr/>
            </a:pPr>
            <a:r>
              <a:rPr/>
              <a:t>Теория, которую мы ещё не разбирали: лекция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71562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такое обучение с подкреплением</a:t>
            </a:r>
            <a:endParaRPr/>
          </a:p>
        </p:txBody>
      </p:sp>
      <p:sp>
        <p:nvSpPr>
          <p:cNvPr id="1096534337" name="Прямоугольник: скругленные углы 5"/>
          <p:cNvSpPr/>
          <p:nvPr/>
        </p:nvSpPr>
        <p:spPr bwMode="auto">
          <a:xfrm>
            <a:off x="432593" y="2751137"/>
            <a:ext cx="1132602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b="1">
                <a:solidFill>
                  <a:schemeClr val="bg2"/>
                </a:solidFill>
                <a:latin typeface="Arial"/>
              </a:rPr>
              <a:t>Что происходит</a:t>
            </a:r>
            <a:endParaRPr/>
          </a:p>
          <a:p>
            <a:pPr>
              <a:spcAft>
                <a:spcPts val="600"/>
              </a:spcAft>
              <a:defRPr/>
            </a:pPr>
            <a:r>
              <a:rPr lang="ru-RU" sz="1600" b="0">
                <a:solidFill>
                  <a:schemeClr val="tx1"/>
                </a:solidFill>
                <a:latin typeface="Arial"/>
              </a:rPr>
              <a:t>агент действует — среда отвечает: новое состояние и вознаграждение</a:t>
            </a:r>
            <a:endParaRPr sz="1600" b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1600" b="0">
                <a:solidFill>
                  <a:schemeClr val="tx1"/>
                </a:solidFill>
                <a:latin typeface="Arial"/>
              </a:rPr>
              <a:t>цель задаём вознаграждением, а не правильным ответом</a:t>
            </a:r>
            <a:endParaRPr sz="1600" b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1600" b="0">
                <a:solidFill>
                  <a:schemeClr val="tx1"/>
                </a:solidFill>
                <a:latin typeface="Arial"/>
              </a:rPr>
              <a:t>агент учится на последствиях: выгодное повторяет, невыгодное бросает</a:t>
            </a:r>
            <a:endParaRPr sz="1600" b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1600" b="0">
                <a:solidFill>
                  <a:schemeClr val="tx1"/>
                </a:solidFill>
                <a:latin typeface="Arial"/>
              </a:rPr>
              <a:t>примеры: робот учится ходить, система держит температуру в дата-центре</a:t>
            </a:r>
            <a:endParaRPr/>
          </a:p>
        </p:txBody>
      </p:sp>
      <p:sp>
        <p:nvSpPr>
          <p:cNvPr id="1781384147" name="Прямоугольник: скругленные углы 2"/>
          <p:cNvSpPr/>
          <p:nvPr/>
        </p:nvSpPr>
        <p:spPr bwMode="auto">
          <a:xfrm flipH="0" flipV="0">
            <a:off x="431798" y="1376361"/>
            <a:ext cx="11327532" cy="90068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Как агент учится на последствиях</a:t>
            </a:r>
            <a:endParaRPr lang="ru-RU" sz="16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600">
                <a:latin typeface="Arial"/>
              </a:rPr>
              <a:t>Вознаграждение задаёт цель, а не правильный ответ</a:t>
            </a:r>
            <a:endParaRPr lang="ru-RU" sz="1600">
              <a:latin typeface="Arial"/>
            </a:endParaRPr>
          </a:p>
        </p:txBody>
      </p:sp>
      <p:pic>
        <p:nvPicPr>
          <p:cNvPr id="102511719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1" y="1554064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78161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Три способа учить машину</a:t>
            </a:r>
            <a:endParaRPr/>
          </a:p>
        </p:txBody>
      </p:sp>
      <p:sp>
        <p:nvSpPr>
          <p:cNvPr id="329321777" name="Прямоугольник: скругленные углы 5"/>
          <p:cNvSpPr/>
          <p:nvPr/>
        </p:nvSpPr>
        <p:spPr bwMode="auto">
          <a:xfrm>
            <a:off x="432593" y="2751137"/>
            <a:ext cx="364728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С учителем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человек даёт пары «объект — правильный ответ»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машина учится предсказывать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пример: цена квартиры</a:t>
            </a:r>
            <a:endParaRPr sz="2200"/>
          </a:p>
        </p:txBody>
      </p:sp>
      <p:sp>
        <p:nvSpPr>
          <p:cNvPr id="340265460" name="Прямоугольник: скругленные углы 10"/>
          <p:cNvSpPr/>
          <p:nvPr/>
        </p:nvSpPr>
        <p:spPr bwMode="auto">
          <a:xfrm>
            <a:off x="8110538" y="2751138"/>
            <a:ext cx="3648074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С подкреплением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человек задаёт только вознаграждение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данные машина добывает сама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учится выбирать действия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пример: охлаждение дата-центра</a:t>
            </a:r>
            <a:endParaRPr sz="2200"/>
          </a:p>
        </p:txBody>
      </p:sp>
      <p:sp>
        <p:nvSpPr>
          <p:cNvPr id="1780506746" name="Прямоугольник: скругленные углы 2"/>
          <p:cNvSpPr/>
          <p:nvPr/>
        </p:nvSpPr>
        <p:spPr bwMode="auto">
          <a:xfrm>
            <a:off x="431799" y="1376363"/>
            <a:ext cx="11326813" cy="1181099"/>
          </a:xfrm>
          <a:prstGeom prst="roundRect">
            <a:avLst>
              <a:gd name="adj" fmla="val 1063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Готовый ответ есть только в обучении с учителем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В обучении с подкреплением вместо ответа — оценка действия</a:t>
            </a:r>
            <a:endParaRPr lang="ru-RU" sz="1800">
              <a:latin typeface="Arial"/>
            </a:endParaRPr>
          </a:p>
        </p:txBody>
      </p:sp>
      <p:sp>
        <p:nvSpPr>
          <p:cNvPr id="604052814" name="Прямоугольник: скругленные углы 6"/>
          <p:cNvSpPr/>
          <p:nvPr/>
        </p:nvSpPr>
        <p:spPr bwMode="auto">
          <a:xfrm>
            <a:off x="4272359" y="2751138"/>
            <a:ext cx="364728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Без учителя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человек даёт только объекты, ответов нет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машина ищет структуру</a:t>
            </a:r>
            <a:endParaRPr sz="22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пример: похожие группы клиентов</a:t>
            </a:r>
            <a:endParaRPr sz="2200"/>
          </a:p>
        </p:txBody>
      </p:sp>
      <p:pic>
        <p:nvPicPr>
          <p:cNvPr id="180754448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429" y="173291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61944" name="Прямоугольник: скругленные углы 8"/>
          <p:cNvSpPr/>
          <p:nvPr/>
        </p:nvSpPr>
        <p:spPr bwMode="auto">
          <a:xfrm>
            <a:off x="3326208" y="2611064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Данные создаёт агент</a:t>
            </a: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его действия меняют то, что он увидит дальше</a:t>
            </a:r>
            <a:endParaRPr sz="2200"/>
          </a:p>
        </p:txBody>
      </p:sp>
      <p:sp>
        <p:nvSpPr>
          <p:cNvPr id="837190962" name="Прямоугольник: скругленные углы 11"/>
          <p:cNvSpPr/>
          <p:nvPr/>
        </p:nvSpPr>
        <p:spPr bwMode="auto">
          <a:xfrm>
            <a:off x="6198392" y="2611064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Награда отложена</a:t>
            </a: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за верный шаг платят через десять шагов</a:t>
            </a:r>
            <a:endParaRPr sz="2400"/>
          </a:p>
        </p:txBody>
      </p:sp>
      <p:sp>
        <p:nvSpPr>
          <p:cNvPr id="988433982" name="Прямоугольник: скругленные углы 12"/>
          <p:cNvSpPr/>
          <p:nvPr/>
        </p:nvSpPr>
        <p:spPr bwMode="auto">
          <a:xfrm>
            <a:off x="9076732" y="2611064"/>
            <a:ext cx="268188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Ошибка стоит денег</a:t>
            </a: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неверный шаг нельзя «отменить»</a:t>
            </a:r>
            <a:endParaRPr sz="2400"/>
          </a:p>
        </p:txBody>
      </p:sp>
      <p:sp>
        <p:nvSpPr>
          <p:cNvPr id="202800459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Чем обучение с подкреплением отличается</a:t>
            </a:r>
            <a:endParaRPr/>
          </a:p>
        </p:txBody>
      </p:sp>
      <p:sp>
        <p:nvSpPr>
          <p:cNvPr id="916186581" name="Прямоугольник: скругленные углы 5"/>
          <p:cNvSpPr/>
          <p:nvPr/>
        </p:nvSpPr>
        <p:spPr bwMode="auto">
          <a:xfrm>
            <a:off x="432592" y="2611063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Нет правильного ответа</a:t>
            </a: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на каждый шаг — только оценка: хорошо или плохо</a:t>
            </a:r>
            <a:endParaRPr sz="2200"/>
          </a:p>
        </p:txBody>
      </p:sp>
      <p:sp>
        <p:nvSpPr>
          <p:cNvPr id="1323662638" name="Прямоугольник: скругленные углы 2"/>
          <p:cNvSpPr/>
          <p:nvPr/>
        </p:nvSpPr>
        <p:spPr bwMode="auto">
          <a:xfrm flipH="0" flipV="0">
            <a:off x="431798" y="1376361"/>
            <a:ext cx="11326812" cy="967533"/>
          </a:xfrm>
          <a:prstGeom prst="roundRect">
            <a:avLst>
              <a:gd name="adj" fmla="val 1063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Нет готового ответа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Последствия своих действий агент узнаёт на собственном опыте</a:t>
            </a:r>
            <a:endParaRPr lang="ru-RU" sz="1800">
              <a:latin typeface="Arial"/>
            </a:endParaRPr>
          </a:p>
        </p:txBody>
      </p:sp>
      <p:pic>
        <p:nvPicPr>
          <p:cNvPr id="1736156842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626129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594361" name="Прямоугольник: скругленные углы 8"/>
          <p:cNvSpPr/>
          <p:nvPr/>
        </p:nvSpPr>
        <p:spPr bwMode="auto">
          <a:xfrm>
            <a:off x="3326209" y="2751138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Роботы и управление</a:t>
            </a:r>
            <a:endParaRPr sz="24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ходьба, манипуляторы, охлаждение дата-центра</a:t>
            </a:r>
            <a:endParaRPr sz="2400"/>
          </a:p>
        </p:txBody>
      </p:sp>
      <p:sp>
        <p:nvSpPr>
          <p:cNvPr id="1515295437" name="Прямоугольник: скругленные углы 11"/>
          <p:cNvSpPr/>
          <p:nvPr/>
        </p:nvSpPr>
        <p:spPr bwMode="auto">
          <a:xfrm>
            <a:off x="6198393" y="2751138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Рекомендации и контент</a:t>
            </a:r>
            <a:endParaRPr sz="24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что показать пользователю следующим</a:t>
            </a:r>
            <a:endParaRPr sz="2400"/>
          </a:p>
        </p:txBody>
      </p:sp>
      <p:sp>
        <p:nvSpPr>
          <p:cNvPr id="1851981271" name="Прямоугольник: скругленные углы 12"/>
          <p:cNvSpPr/>
          <p:nvPr/>
        </p:nvSpPr>
        <p:spPr bwMode="auto">
          <a:xfrm>
            <a:off x="9076733" y="2751138"/>
            <a:ext cx="268188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Энергетика и логистика</a:t>
            </a:r>
            <a:endParaRPr sz="24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загрузка, маршруты, склады, настройка систем</a:t>
            </a:r>
            <a:endParaRPr sz="2400"/>
          </a:p>
        </p:txBody>
      </p:sp>
      <p:sp>
        <p:nvSpPr>
          <p:cNvPr id="157333482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Где это применяют</a:t>
            </a:r>
            <a:endParaRPr/>
          </a:p>
        </p:txBody>
      </p:sp>
      <p:sp>
        <p:nvSpPr>
          <p:cNvPr id="217199469" name="Прямоугольник: скругленные углы 5"/>
          <p:cNvSpPr/>
          <p:nvPr/>
        </p:nvSpPr>
        <p:spPr bwMode="auto">
          <a:xfrm>
            <a:off x="432593" y="2751137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Игры и тренажёры</a:t>
            </a:r>
            <a:endParaRPr sz="2400"/>
          </a:p>
          <a:p>
            <a:pPr>
              <a:spcAft>
                <a:spcPts val="600"/>
              </a:spcAft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шахматы, го, симуляторы</a:t>
            </a:r>
            <a:endParaRPr sz="2400"/>
          </a:p>
        </p:txBody>
      </p:sp>
      <p:sp>
        <p:nvSpPr>
          <p:cNvPr id="1006815197" name="Прямоугольник: скругленные углы 2"/>
          <p:cNvSpPr/>
          <p:nvPr/>
        </p:nvSpPr>
        <p:spPr bwMode="auto">
          <a:xfrm flipH="0" flipV="0">
            <a:off x="431798" y="1376361"/>
            <a:ext cx="11326812" cy="1051578"/>
          </a:xfrm>
          <a:prstGeom prst="roundRect">
            <a:avLst>
              <a:gd name="adj" fmla="val 1063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Общее у всех примеров одно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есть среда, в которой решения принимаются шаг за шагом</a:t>
            </a:r>
            <a:endParaRPr lang="ru-RU" sz="1800">
              <a:latin typeface="Arial"/>
            </a:endParaRPr>
          </a:p>
        </p:txBody>
      </p:sp>
      <p:pic>
        <p:nvPicPr>
          <p:cNvPr id="1864906414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66815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77363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Задача, которую обучение с подкреплением не решает</a:t>
            </a:r>
            <a:endParaRPr/>
          </a:p>
        </p:txBody>
      </p:sp>
      <p:sp>
        <p:nvSpPr>
          <p:cNvPr id="1014889914" name="Прямоугольник: скругленные углы 5"/>
          <p:cNvSpPr/>
          <p:nvPr/>
        </p:nvSpPr>
        <p:spPr bwMode="auto">
          <a:xfrm>
            <a:off x="432593" y="2751137"/>
            <a:ext cx="556657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Транспортная задача — как развезти груз дешевле</a:t>
            </a:r>
            <a:endParaRPr sz="20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есть точный метод оптимизации, опыт не нужен</a:t>
            </a:r>
            <a:endParaRPr sz="2000"/>
          </a:p>
        </p:txBody>
      </p:sp>
      <p:sp>
        <p:nvSpPr>
          <p:cNvPr id="516854705" name="Прямоугольник: скругленные углы 10"/>
          <p:cNvSpPr/>
          <p:nvPr/>
        </p:nvSpPr>
        <p:spPr bwMode="auto">
          <a:xfrm>
            <a:off x="6195861" y="2751138"/>
            <a:ext cx="5562751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Прогноз оттока клиентов</a:t>
            </a:r>
            <a:endParaRPr sz="20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решений по шагам нет, экспериментировать нельзя</a:t>
            </a:r>
            <a:endParaRPr sz="2000"/>
          </a:p>
        </p:txBody>
      </p:sp>
      <p:sp>
        <p:nvSpPr>
          <p:cNvPr id="1902788648" name="Прямоугольник: скругленные углы 2"/>
          <p:cNvSpPr/>
          <p:nvPr/>
        </p:nvSpPr>
        <p:spPr bwMode="auto">
          <a:xfrm>
            <a:off x="431799" y="1376363"/>
            <a:ext cx="11326813" cy="118109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Правило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>
                <a:latin typeface="Arial"/>
              </a:rPr>
              <a:t>если есть точный метод или нельзя взаимодействовать со средой — обучение с подкреплением не нужно</a:t>
            </a:r>
            <a:endParaRPr lang="ru-RU" sz="1800">
              <a:latin typeface="Arial"/>
            </a:endParaRPr>
          </a:p>
        </p:txBody>
      </p:sp>
      <p:pic>
        <p:nvPicPr>
          <p:cNvPr id="38273204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73291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07233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Пять признаков: стоит пробовать, если…</a:t>
            </a:r>
            <a:endParaRPr/>
          </a:p>
        </p:txBody>
      </p:sp>
      <p:sp>
        <p:nvSpPr>
          <p:cNvPr id="1693563040" name="Прямоугольник: скругленные углы 4"/>
          <p:cNvSpPr/>
          <p:nvPr/>
        </p:nvSpPr>
        <p:spPr bwMode="auto">
          <a:xfrm>
            <a:off x="43267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1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Задача решается шаг за шагом</a:t>
            </a:r>
            <a:endParaRPr lang="ru-RU" sz="48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а не одним ответом</a:t>
            </a:r>
            <a:endParaRPr sz="1800"/>
          </a:p>
        </p:txBody>
      </p:sp>
      <p:sp>
        <p:nvSpPr>
          <p:cNvPr id="298529718" name="Прямоугольник: скругленные углы 5"/>
          <p:cNvSpPr/>
          <p:nvPr/>
        </p:nvSpPr>
        <p:spPr bwMode="auto">
          <a:xfrm>
            <a:off x="332465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2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Действие влияет на будущее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наше действие меняет то, что будет дальше</a:t>
            </a:r>
            <a:endParaRPr sz="1800"/>
          </a:p>
        </p:txBody>
      </p:sp>
      <p:sp>
        <p:nvSpPr>
          <p:cNvPr id="1901403186" name="Прямоугольник: скругленные углы 7"/>
          <p:cNvSpPr/>
          <p:nvPr/>
        </p:nvSpPr>
        <p:spPr bwMode="auto">
          <a:xfrm>
            <a:off x="6202347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3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Награда приходит не сразу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а через несколько шагов</a:t>
            </a:r>
            <a:endParaRPr sz="1800"/>
          </a:p>
        </p:txBody>
      </p:sp>
      <p:sp>
        <p:nvSpPr>
          <p:cNvPr id="1252850830" name="Прямоугольник: скругленные углы 8"/>
          <p:cNvSpPr/>
          <p:nvPr/>
        </p:nvSpPr>
        <p:spPr bwMode="auto">
          <a:xfrm>
            <a:off x="9075280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4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Правило неизвестно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или слишком сложно, чтобы задать руками</a:t>
            </a:r>
            <a:endParaRPr sz="1800"/>
          </a:p>
        </p:txBody>
      </p:sp>
      <p:sp>
        <p:nvSpPr>
          <p:cNvPr id="769375644" name="Прямоугольник: скругленные углы 9"/>
          <p:cNvSpPr/>
          <p:nvPr/>
        </p:nvSpPr>
        <p:spPr bwMode="auto">
          <a:xfrm>
            <a:off x="432674" y="4479348"/>
            <a:ext cx="11325066" cy="148884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107983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3600" b="1">
                <a:latin typeface="Arial"/>
              </a:rPr>
              <a:t>Пятый признак</a:t>
            </a:r>
            <a:endParaRPr lang="ru-RU" sz="2000" b="1"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2000">
                <a:latin typeface="Arial"/>
              </a:rPr>
              <a:t>со средой можно взаимодействовать: есть симулятор или безопасный способ пробовать</a:t>
            </a:r>
            <a:endParaRPr sz="1600"/>
          </a:p>
        </p:txBody>
      </p:sp>
      <p:pic>
        <p:nvPicPr>
          <p:cNvPr id="1911064298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70455" y="4692173"/>
            <a:ext cx="431933" cy="43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7830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Прогноз — не решение</a:t>
            </a:r>
            <a:endParaRPr/>
          </a:p>
        </p:txBody>
      </p:sp>
      <p:sp>
        <p:nvSpPr>
          <p:cNvPr id="947144097" name="Прямоугольник: скругленные углы 5"/>
          <p:cNvSpPr/>
          <p:nvPr/>
        </p:nvSpPr>
        <p:spPr bwMode="auto">
          <a:xfrm>
            <a:off x="432593" y="2751137"/>
            <a:ext cx="556657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Прогноз: «что будет?»</a:t>
            </a:r>
            <a:endParaRPr sz="24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цену, отток, спрос — проверяется на исторических данных</a:t>
            </a:r>
            <a:endParaRPr sz="2400"/>
          </a:p>
        </p:txBody>
      </p:sp>
      <p:sp>
        <p:nvSpPr>
          <p:cNvPr id="1223949489" name="Прямоугольник: скругленные углы 10"/>
          <p:cNvSpPr/>
          <p:nvPr/>
        </p:nvSpPr>
        <p:spPr bwMode="auto">
          <a:xfrm>
            <a:off x="6195861" y="2751138"/>
            <a:ext cx="5562751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Решение: «что делать?»</a:t>
            </a:r>
            <a:endParaRPr sz="24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кому доставить заказ, что включить в релиз — проверяется только действием</a:t>
            </a:r>
            <a:endParaRPr sz="2400"/>
          </a:p>
        </p:txBody>
      </p:sp>
      <p:sp>
        <p:nvSpPr>
          <p:cNvPr id="1178879480" name="Прямоугольник: скругленные углы 2"/>
          <p:cNvSpPr/>
          <p:nvPr/>
        </p:nvSpPr>
        <p:spPr bwMode="auto">
          <a:xfrm>
            <a:off x="431799" y="1376363"/>
            <a:ext cx="11326813" cy="118109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Обучение с подкреплением — всегда про действия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про «что делать», а не про «что будет»</a:t>
            </a:r>
            <a:endParaRPr lang="ru-RU" sz="2200">
              <a:latin typeface="Arial"/>
            </a:endParaRPr>
          </a:p>
        </p:txBody>
      </p:sp>
      <p:pic>
        <p:nvPicPr>
          <p:cNvPr id="211669698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73291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6032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Пять задач на понимание</a:t>
            </a:r>
            <a:endParaRPr/>
          </a:p>
        </p:txBody>
      </p:sp>
      <p:sp>
        <p:nvSpPr>
          <p:cNvPr id="2038016043" name="Text Placehold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Разбираем на своих листках, сверяемся по слайду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3108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Задача 1. Какой тип обучения</a:t>
            </a:r>
            <a:endParaRPr/>
          </a:p>
        </p:txBody>
      </p:sp>
      <p:sp>
        <p:nvSpPr>
          <p:cNvPr id="777694290" name="Прямоугольник: скругленные углы 4"/>
          <p:cNvSpPr/>
          <p:nvPr/>
        </p:nvSpPr>
        <p:spPr bwMode="auto">
          <a:xfrm>
            <a:off x="43267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1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Цена квартиры</a:t>
            </a:r>
            <a:endParaRPr lang="ru-RU" sz="48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предсказать по площади и району</a:t>
            </a:r>
            <a:endParaRPr sz="1800"/>
          </a:p>
        </p:txBody>
      </p:sp>
      <p:sp>
        <p:nvSpPr>
          <p:cNvPr id="1961328683" name="Прямоугольник: скругленные углы 5"/>
          <p:cNvSpPr/>
          <p:nvPr/>
        </p:nvSpPr>
        <p:spPr bwMode="auto">
          <a:xfrm>
            <a:off x="332465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2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Похожие клиенты банка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найти группы похожих клиентов</a:t>
            </a:r>
            <a:endParaRPr sz="1800"/>
          </a:p>
        </p:txBody>
      </p:sp>
      <p:sp>
        <p:nvSpPr>
          <p:cNvPr id="2018064436" name="Прямоугольник: скругленные углы 7"/>
          <p:cNvSpPr/>
          <p:nvPr/>
        </p:nvSpPr>
        <p:spPr bwMode="auto">
          <a:xfrm>
            <a:off x="6202347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3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Робот и зарядная станция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научить робота доходить до станции</a:t>
            </a:r>
            <a:endParaRPr sz="1800"/>
          </a:p>
        </p:txBody>
      </p:sp>
      <p:sp>
        <p:nvSpPr>
          <p:cNvPr id="1277639009" name="Прямоугольник: скругленные углы 8"/>
          <p:cNvSpPr/>
          <p:nvPr/>
        </p:nvSpPr>
        <p:spPr bwMode="auto">
          <a:xfrm>
            <a:off x="9075280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4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Вопрос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какой это тип обучения и почему?</a:t>
            </a:r>
            <a:endParaRPr sz="1800"/>
          </a:p>
        </p:txBody>
      </p:sp>
      <p:sp>
        <p:nvSpPr>
          <p:cNvPr id="2067318147" name="Прямоугольник: скругленные углы 9"/>
          <p:cNvSpPr/>
          <p:nvPr/>
        </p:nvSpPr>
        <p:spPr bwMode="auto">
          <a:xfrm>
            <a:off x="432674" y="4479348"/>
            <a:ext cx="11325066" cy="148884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107983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3600" b="1">
                <a:latin typeface="Arial"/>
              </a:rPr>
              <a:t>Подсказка</a:t>
            </a:r>
            <a:endParaRPr lang="ru-RU" sz="2000" b="1"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2000">
                <a:latin typeface="Arial"/>
              </a:rPr>
              <a:t>смотрим, что человек даёт машине: правильные ответы, только объекты или оценку</a:t>
            </a:r>
            <a:endParaRPr sz="1600"/>
          </a:p>
        </p:txBody>
      </p:sp>
      <p:pic>
        <p:nvPicPr>
          <p:cNvPr id="947173512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70455" y="4692173"/>
            <a:ext cx="431933" cy="43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54726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Задача 2. Применимо ли обучение с подкреплением</a:t>
            </a:r>
            <a:endParaRPr/>
          </a:p>
        </p:txBody>
      </p:sp>
      <p:sp>
        <p:nvSpPr>
          <p:cNvPr id="1989401172" name="Прямоугольник: скругленные углы 4"/>
          <p:cNvSpPr/>
          <p:nvPr/>
        </p:nvSpPr>
        <p:spPr bwMode="auto">
          <a:xfrm>
            <a:off x="43267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1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Расписание занятий</a:t>
            </a:r>
            <a:endParaRPr lang="ru-RU" sz="48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составить по известным ограничениям</a:t>
            </a:r>
            <a:endParaRPr sz="1800"/>
          </a:p>
        </p:txBody>
      </p:sp>
      <p:sp>
        <p:nvSpPr>
          <p:cNvPr id="709721594" name="Прямоугольник: скругленные углы 5"/>
          <p:cNvSpPr/>
          <p:nvPr/>
        </p:nvSpPr>
        <p:spPr bwMode="auto">
          <a:xfrm>
            <a:off x="332465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2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Игра со счётом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научить агента играть</a:t>
            </a:r>
            <a:endParaRPr sz="1800"/>
          </a:p>
        </p:txBody>
      </p:sp>
      <p:sp>
        <p:nvSpPr>
          <p:cNvPr id="1152135811" name="Прямоугольник: скругленные углы 7"/>
          <p:cNvSpPr/>
          <p:nvPr/>
        </p:nvSpPr>
        <p:spPr bwMode="auto">
          <a:xfrm>
            <a:off x="6202347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3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Отток клиентов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предсказать, кто уйдёт в следующем месяце</a:t>
            </a:r>
            <a:endParaRPr sz="1800"/>
          </a:p>
        </p:txBody>
      </p:sp>
      <p:sp>
        <p:nvSpPr>
          <p:cNvPr id="1369102955" name="Прямоугольник: скругленные углы 8"/>
          <p:cNvSpPr/>
          <p:nvPr/>
        </p:nvSpPr>
        <p:spPr bwMode="auto">
          <a:xfrm>
            <a:off x="9075280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4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Температура в дата-центре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держать в норме, включая и выключая охлаждение</a:t>
            </a:r>
            <a:endParaRPr sz="1800"/>
          </a:p>
        </p:txBody>
      </p:sp>
      <p:sp>
        <p:nvSpPr>
          <p:cNvPr id="1705508304" name="Прямоугольник: скругленные углы 9"/>
          <p:cNvSpPr/>
          <p:nvPr/>
        </p:nvSpPr>
        <p:spPr bwMode="auto">
          <a:xfrm>
            <a:off x="432674" y="4479348"/>
            <a:ext cx="11325066" cy="148884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107983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2700" b="1">
                <a:latin typeface="Arial"/>
              </a:rPr>
              <a:t>Ответьте «да» или «нет» — и объясните почему</a:t>
            </a:r>
            <a:endParaRPr lang="ru-RU" sz="1600" b="1"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latin typeface="Arial"/>
              </a:rPr>
              <a:t>в помощь — пять признаков с прошлого слайда</a:t>
            </a:r>
            <a:endParaRPr sz="1200"/>
          </a:p>
        </p:txBody>
      </p:sp>
      <p:pic>
        <p:nvPicPr>
          <p:cNvPr id="481127549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70455" y="4692173"/>
            <a:ext cx="431933" cy="43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786222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291"/>
            <a:ext cx="9607927" cy="380954"/>
          </a:xfrm>
        </p:spPr>
        <p:txBody>
          <a:bodyPr/>
          <a:lstStyle/>
          <a:p>
            <a:pPr>
              <a:defRPr/>
            </a:pPr>
            <a:r>
              <a:rPr lang="ru-RU"/>
              <a:t>Задача 3. Один шаг: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3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/>
              <a:t> →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3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/>
              <a:t> →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3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3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3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/>
          </a:p>
        </p:txBody>
      </p:sp>
      <p:cxnSp>
        <p:nvCxnSpPr>
          <p:cNvPr id="1325776764" name="Прямая соединительная линия 2"/>
          <p:cNvCxnSpPr/>
          <p:nvPr/>
        </p:nvCxnSpPr>
        <p:spPr bwMode="auto">
          <a:xfrm>
            <a:off x="432674" y="3332178"/>
            <a:ext cx="11325066" cy="0"/>
          </a:xfrm>
          <a:prstGeom prst="line">
            <a:avLst/>
          </a:prstGeom>
          <a:ln w="38100" cap="rnd"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313550" name="TextBox 13"/>
          <p:cNvSpPr txBox="1">
            <a:spLocks noChangeArrowheads="1"/>
          </p:cNvSpPr>
          <p:nvPr/>
        </p:nvSpPr>
        <p:spPr bwMode="auto">
          <a:xfrm flipH="0" flipV="0">
            <a:off x="670644" y="3709508"/>
            <a:ext cx="2295922" cy="8860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 defTabSz="457154">
              <a:spcAft>
                <a:spcPts val="600"/>
              </a:spcAft>
              <a:defRPr/>
            </a:pPr>
            <a:r>
              <a:rPr lang="ru-RU" sz="1800" b="1">
                <a:latin typeface="Arial"/>
                <a:ea typeface="Gotham Pro Medium"/>
                <a:cs typeface="Gotham Pro Medium"/>
              </a:rPr>
              <a:t>Состояние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ru-RU" sz="2000">
              <a:latin typeface="Arial"/>
              <a:ea typeface="Gotham Pro Light"/>
              <a:cs typeface="Gotham Pro Light"/>
            </a:endParaRPr>
          </a:p>
          <a:p>
            <a:pPr algn="ctr" defTabSz="914309">
              <a:spcAft>
                <a:spcPts val="600"/>
              </a:spcAft>
              <a:defRPr/>
            </a:pPr>
            <a:r>
              <a:rPr lang="ru-RU" sz="1400">
                <a:latin typeface="Arial"/>
              </a:rPr>
              <a:t>где курьер и какой заказ у него в руках</a:t>
            </a:r>
            <a:endParaRPr lang="en-US" sz="2000" b="1">
              <a:latin typeface="Arial"/>
            </a:endParaRPr>
          </a:p>
        </p:txBody>
      </p:sp>
      <p:sp>
        <p:nvSpPr>
          <p:cNvPr id="1037988601" name="Овал 14"/>
          <p:cNvSpPr/>
          <p:nvPr/>
        </p:nvSpPr>
        <p:spPr bwMode="auto">
          <a:xfrm>
            <a:off x="1770193" y="3273889"/>
            <a:ext cx="96821" cy="96823"/>
          </a:xfrm>
          <a:prstGeom prst="ellipse">
            <a:avLst/>
          </a:prstGeom>
          <a:solidFill>
            <a:srgbClr val="00ADEB"/>
          </a:solidFill>
          <a:ln w="444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4">
              <a:defRPr/>
            </a:pPr>
            <a:endParaRPr lang="ru-RU" sz="2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132581" name="Овал 16"/>
          <p:cNvSpPr/>
          <p:nvPr/>
        </p:nvSpPr>
        <p:spPr bwMode="auto">
          <a:xfrm>
            <a:off x="4490749" y="3273889"/>
            <a:ext cx="96821" cy="96823"/>
          </a:xfrm>
          <a:prstGeom prst="ellipse">
            <a:avLst/>
          </a:prstGeom>
          <a:solidFill>
            <a:srgbClr val="00ADEB"/>
          </a:solidFill>
          <a:ln w="444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4">
              <a:defRPr/>
            </a:pPr>
            <a:endParaRPr lang="ru-RU" sz="2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724149" name="Овал 20"/>
          <p:cNvSpPr/>
          <p:nvPr/>
        </p:nvSpPr>
        <p:spPr bwMode="auto">
          <a:xfrm>
            <a:off x="10046142" y="3273889"/>
            <a:ext cx="96823" cy="96823"/>
          </a:xfrm>
          <a:prstGeom prst="ellipse">
            <a:avLst/>
          </a:prstGeom>
          <a:solidFill>
            <a:srgbClr val="00ADEB"/>
          </a:solidFill>
          <a:ln w="444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4">
              <a:defRPr/>
            </a:pPr>
            <a:endParaRPr lang="ru-RU" sz="2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654725" name="Овал 22"/>
          <p:cNvSpPr/>
          <p:nvPr/>
        </p:nvSpPr>
        <p:spPr bwMode="auto">
          <a:xfrm>
            <a:off x="7243048" y="3273889"/>
            <a:ext cx="96823" cy="96823"/>
          </a:xfrm>
          <a:prstGeom prst="ellipse">
            <a:avLst/>
          </a:prstGeom>
          <a:solidFill>
            <a:srgbClr val="00ADEB"/>
          </a:solidFill>
          <a:ln w="444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54">
              <a:defRPr/>
            </a:pPr>
            <a:endParaRPr lang="ru-RU" sz="2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1516245" name="TextBox 54"/>
          <p:cNvSpPr txBox="1">
            <a:spLocks noChangeArrowheads="1"/>
          </p:cNvSpPr>
          <p:nvPr/>
        </p:nvSpPr>
        <p:spPr bwMode="auto">
          <a:xfrm flipH="0" flipV="0">
            <a:off x="6143139" y="3709508"/>
            <a:ext cx="2296642" cy="11603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 defTabSz="457154">
              <a:spcAft>
                <a:spcPts val="600"/>
              </a:spcAft>
              <a:defRPr/>
            </a:pPr>
            <a:r>
              <a:rPr lang="ru-RU" sz="1800" b="1">
                <a:latin typeface="Arial"/>
                <a:ea typeface="Gotham Pro Medium"/>
                <a:cs typeface="Gotham Pro Medium"/>
              </a:rPr>
              <a:t>Вознаграждение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ru-RU" sz="2000">
              <a:latin typeface="Arial"/>
              <a:ea typeface="Gotham Pro Light"/>
              <a:cs typeface="Gotham Pro Light"/>
            </a:endParaRPr>
          </a:p>
          <a:p>
            <a:pPr algn="ctr" defTabSz="914309">
              <a:spcAft>
                <a:spcPts val="600"/>
              </a:spcAft>
              <a:defRPr/>
            </a:pPr>
            <a:r>
              <a:rPr lang="ru-RU" sz="1400">
                <a:latin typeface="Arial"/>
              </a:rPr>
              <a:t>доставил в срок +10, опоздал −10</a:t>
            </a:r>
            <a:endParaRPr lang="en-US" sz="2000" b="1">
              <a:latin typeface="Arial"/>
            </a:endParaRPr>
          </a:p>
        </p:txBody>
      </p:sp>
      <p:sp>
        <p:nvSpPr>
          <p:cNvPr id="748085775" name="TextBox 55"/>
          <p:cNvSpPr txBox="1">
            <a:spLocks noChangeArrowheads="1"/>
          </p:cNvSpPr>
          <p:nvPr/>
        </p:nvSpPr>
        <p:spPr bwMode="auto">
          <a:xfrm flipH="0" flipV="0">
            <a:off x="3390478" y="3709508"/>
            <a:ext cx="2297362" cy="8860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 defTabSz="457154">
              <a:spcAft>
                <a:spcPts val="600"/>
              </a:spcAft>
              <a:defRPr/>
            </a:pPr>
            <a:r>
              <a:rPr lang="ru-RU" sz="1800" b="1">
                <a:latin typeface="Arial"/>
                <a:ea typeface="Gotham Pro Medium"/>
                <a:cs typeface="Gotham Pro Medium"/>
              </a:rPr>
              <a:t>Действие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ru-RU" sz="2000">
              <a:latin typeface="Arial"/>
              <a:ea typeface="Gotham Pro Light"/>
              <a:cs typeface="Gotham Pro Light"/>
            </a:endParaRPr>
          </a:p>
          <a:p>
            <a:pPr algn="ctr" defTabSz="914309">
              <a:spcAft>
                <a:spcPts val="600"/>
              </a:spcAft>
              <a:defRPr/>
            </a:pPr>
            <a:r>
              <a:rPr lang="ru-RU" sz="1400">
                <a:latin typeface="Arial"/>
              </a:rPr>
              <a:t>поехать по маршруту А или по маршруту Б</a:t>
            </a:r>
            <a:endParaRPr lang="en-US" sz="2000" b="1">
              <a:latin typeface="Arial"/>
            </a:endParaRPr>
          </a:p>
        </p:txBody>
      </p:sp>
      <p:sp>
        <p:nvSpPr>
          <p:cNvPr id="1476618207" name="TextBox 56"/>
          <p:cNvSpPr txBox="1">
            <a:spLocks noChangeArrowheads="1"/>
          </p:cNvSpPr>
          <p:nvPr/>
        </p:nvSpPr>
        <p:spPr bwMode="auto">
          <a:xfrm flipH="0" flipV="0">
            <a:off x="8955222" y="3709508"/>
            <a:ext cx="2298082" cy="11603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 defTabSz="457154">
              <a:spcAft>
                <a:spcPts val="600"/>
              </a:spcAft>
              <a:defRPr/>
            </a:pPr>
            <a:r>
              <a:rPr lang="ru-RU" sz="1800" b="1">
                <a:latin typeface="Arial"/>
                <a:ea typeface="Gotham Pro Medium"/>
                <a:cs typeface="Gotham Pro Medium"/>
              </a:rPr>
              <a:t>Новое состояние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ru-RU" sz="2000">
              <a:latin typeface="Arial"/>
              <a:ea typeface="Gotham Pro Light"/>
              <a:cs typeface="Gotham Pro Light"/>
            </a:endParaRPr>
          </a:p>
          <a:p>
            <a:pPr algn="ctr" defTabSz="914309">
              <a:spcAft>
                <a:spcPts val="600"/>
              </a:spcAft>
              <a:defRPr/>
            </a:pPr>
            <a:r>
              <a:rPr lang="ru-RU" sz="1400">
                <a:latin typeface="Arial"/>
              </a:rPr>
              <a:t>курьер в новом месте, заказ отдан</a:t>
            </a:r>
            <a:endParaRPr lang="en-US" sz="2000" b="1">
              <a:latin typeface="Arial"/>
            </a:endParaRPr>
          </a:p>
        </p:txBody>
      </p:sp>
      <p:pic>
        <p:nvPicPr>
          <p:cNvPr id="578129378" name="Рисунок 57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371604" y="2609505"/>
            <a:ext cx="431933" cy="431933"/>
          </a:xfrm>
          <a:prstGeom prst="rect">
            <a:avLst/>
          </a:prstGeom>
        </p:spPr>
      </p:pic>
      <p:pic>
        <p:nvPicPr>
          <p:cNvPr id="1610005368" name="Рисунок 58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878586" y="2603834"/>
            <a:ext cx="431933" cy="431933"/>
          </a:xfrm>
          <a:prstGeom prst="rect">
            <a:avLst/>
          </a:prstGeom>
        </p:spPr>
      </p:pic>
      <p:pic>
        <p:nvPicPr>
          <p:cNvPr id="244826195" name="Рисунок 59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075494" y="2609505"/>
            <a:ext cx="431933" cy="431933"/>
          </a:xfrm>
          <a:prstGeom prst="rect">
            <a:avLst/>
          </a:prstGeom>
        </p:spPr>
      </p:pic>
      <p:pic>
        <p:nvPicPr>
          <p:cNvPr id="1606993366" name="Рисунок 60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602639" y="2603834"/>
            <a:ext cx="431933" cy="43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46123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Задача 4. Найди ошибку</a:t>
            </a:r>
            <a:endParaRPr/>
          </a:p>
        </p:txBody>
      </p:sp>
      <p:sp>
        <p:nvSpPr>
          <p:cNvPr id="384295171" name="Прямоугольник: скругленные углы 4"/>
          <p:cNvSpPr/>
          <p:nvPr/>
        </p:nvSpPr>
        <p:spPr bwMode="auto">
          <a:xfrm>
            <a:off x="43267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1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«Агент — это вся команда разработки»</a:t>
            </a:r>
            <a:endParaRPr lang="ru-RU" sz="48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так ли это?</a:t>
            </a:r>
            <a:endParaRPr sz="1800"/>
          </a:p>
        </p:txBody>
      </p:sp>
      <p:sp>
        <p:nvSpPr>
          <p:cNvPr id="378026820" name="Прямоугольник: скругленные углы 5"/>
          <p:cNvSpPr/>
          <p:nvPr/>
        </p:nvSpPr>
        <p:spPr bwMode="auto">
          <a:xfrm>
            <a:off x="3324653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2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«Состояние — это весь проект целиком»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так ли это?</a:t>
            </a:r>
            <a:endParaRPr sz="1800"/>
          </a:p>
        </p:txBody>
      </p:sp>
      <p:sp>
        <p:nvSpPr>
          <p:cNvPr id="1603878870" name="Прямоугольник: скругленные углы 7"/>
          <p:cNvSpPr/>
          <p:nvPr/>
        </p:nvSpPr>
        <p:spPr bwMode="auto">
          <a:xfrm>
            <a:off x="6202347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3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«Действие — это этап процесса разработки»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так ли это?</a:t>
            </a:r>
            <a:endParaRPr sz="1800"/>
          </a:p>
        </p:txBody>
      </p:sp>
      <p:sp>
        <p:nvSpPr>
          <p:cNvPr id="270457651" name="Прямоугольник: скругленные углы 8"/>
          <p:cNvSpPr/>
          <p:nvPr/>
        </p:nvSpPr>
        <p:spPr bwMode="auto">
          <a:xfrm>
            <a:off x="9075280" y="1344599"/>
            <a:ext cx="2676112" cy="2879615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35994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8000" b="1" spc="20">
                <a:solidFill>
                  <a:srgbClr val="00AAE6"/>
                </a:solidFill>
                <a:latin typeface="Arial"/>
              </a:rPr>
              <a:t>4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Вопрос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что не так в каждой фразе и как правильно?</a:t>
            </a:r>
            <a:endParaRPr sz="1800"/>
          </a:p>
        </p:txBody>
      </p:sp>
      <p:sp>
        <p:nvSpPr>
          <p:cNvPr id="706414143" name="Прямоугольник: скругленные углы 9"/>
          <p:cNvSpPr/>
          <p:nvPr/>
        </p:nvSpPr>
        <p:spPr bwMode="auto">
          <a:xfrm>
            <a:off x="432674" y="4479348"/>
            <a:ext cx="11325066" cy="148884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107983" rIns="143978" bIns="143978" rtlCol="0" anchor="t"/>
          <a:lstStyle/>
          <a:p>
            <a:pPr>
              <a:spcAft>
                <a:spcPts val="300"/>
              </a:spcAft>
              <a:defRPr/>
            </a:pPr>
            <a:r>
              <a:rPr lang="ru-RU" sz="2700" b="1">
                <a:latin typeface="Arial"/>
              </a:rPr>
              <a:t>Подсказка</a:t>
            </a:r>
            <a:endParaRPr lang="ru-RU" sz="1600" b="1">
              <a:latin typeface="Arial"/>
            </a:endParaRPr>
          </a:p>
          <a:p>
            <a:pPr>
              <a:spcAft>
                <a:spcPts val="300"/>
              </a:spcAft>
              <a:defRPr/>
            </a:pPr>
            <a:r>
              <a:rPr lang="ru-RU" sz="1600">
                <a:latin typeface="Arial"/>
              </a:rPr>
              <a:t>агент один и он принимает решения; состояние — только то, что нужно для решения сейчас</a:t>
            </a:r>
            <a:endParaRPr sz="1200"/>
          </a:p>
        </p:txBody>
      </p:sp>
      <p:pic>
        <p:nvPicPr>
          <p:cNvPr id="1469250144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70455" y="4692173"/>
            <a:ext cx="431933" cy="43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7604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Задача 5. Посчитай и выбери</a:t>
            </a:r>
            <a:endParaRPr/>
          </a:p>
        </p:txBody>
      </p:sp>
      <p:sp>
        <p:nvSpPr>
          <p:cNvPr id="648874226" name="Прямоугольник: скругленные углы 5"/>
          <p:cNvSpPr/>
          <p:nvPr/>
        </p:nvSpPr>
        <p:spPr bwMode="auto">
          <a:xfrm>
            <a:off x="432593" y="2751137"/>
            <a:ext cx="556657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Доход</a:t>
            </a:r>
            <a:endParaRPr sz="22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 sz="2000">
                <a:solidFill>
                  <a:schemeClr val="tx1"/>
                </a:solidFill>
                <a:latin typeface="Arial"/>
              </a:rPr>
              <a:t> = 0,9; вознаграждения за три шага: +10, −10, +10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чему равен доход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0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000">
                <a:solidFill>
                  <a:schemeClr val="tx1"/>
                </a:solidFill>
                <a:latin typeface="Arial"/>
              </a:rPr>
              <a:t>?</a:t>
            </a:r>
            <a:endParaRPr sz="2200"/>
          </a:p>
        </p:txBody>
      </p:sp>
      <p:sp>
        <p:nvSpPr>
          <p:cNvPr id="2079564618" name="Прямоугольник: скругленные углы 10"/>
          <p:cNvSpPr/>
          <p:nvPr/>
        </p:nvSpPr>
        <p:spPr bwMode="auto">
          <a:xfrm>
            <a:off x="6195861" y="2751138"/>
            <a:ext cx="5562751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Выбор действия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средние выигрыши: «маршрут А» — 6, «маршрут Б» — 8, «отложить заказ» — 4; ε = 0,1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какое действие выберет ε-жадная стратегия и с какой вероятностью?</a:t>
            </a:r>
            <a:endParaRPr sz="2200"/>
          </a:p>
        </p:txBody>
      </p:sp>
      <p:sp>
        <p:nvSpPr>
          <p:cNvPr id="1976977884" name="Прямоугольник: скругленные углы 2"/>
          <p:cNvSpPr/>
          <p:nvPr/>
        </p:nvSpPr>
        <p:spPr bwMode="auto">
          <a:xfrm>
            <a:off x="431799" y="1376363"/>
            <a:ext cx="11326813" cy="118109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Данные задачи — ниже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считаем на листке, потом сверяемся по слайду с ответом</a:t>
            </a:r>
            <a:endParaRPr lang="ru-RU" sz="2000">
              <a:latin typeface="Arial"/>
            </a:endParaRPr>
          </a:p>
        </p:txBody>
      </p:sp>
      <p:pic>
        <p:nvPicPr>
          <p:cNvPr id="1675942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73291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56101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Проверь себя: задачи 1 и 2</a:t>
            </a:r>
            <a:endParaRPr/>
          </a:p>
        </p:txBody>
      </p:sp>
      <p:sp>
        <p:nvSpPr>
          <p:cNvPr id="732999250" name="Прямоугольник: скругленные углы 5"/>
          <p:cNvSpPr/>
          <p:nvPr/>
        </p:nvSpPr>
        <p:spPr bwMode="auto">
          <a:xfrm>
            <a:off x="432593" y="2751137"/>
            <a:ext cx="556657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Задача 1: какой тип обучения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цена квартиры — с учителем: есть готовые ответы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похожие клиенты — без учителя: ответов нет, ищем структуру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робот до станции — с подкреплением: оценка действий и свой опыт</a:t>
            </a:r>
            <a:endParaRPr sz="2200"/>
          </a:p>
        </p:txBody>
      </p:sp>
      <p:sp>
        <p:nvSpPr>
          <p:cNvPr id="234772414" name="Прямоугольник: скругленные углы 10"/>
          <p:cNvSpPr/>
          <p:nvPr/>
        </p:nvSpPr>
        <p:spPr bwMode="auto">
          <a:xfrm>
            <a:off x="6195861" y="2751138"/>
            <a:ext cx="5562751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Задача 2: применимо ли RL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расписание занятий — нет: есть точные методы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игра со счётом — да: решения по шагам, награда отложена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отток клиентов — нет: это прогноз по историческим данным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температура в дата-центре — да: непрерывное управление и безопасные пробы</a:t>
            </a:r>
            <a:endParaRPr sz="2200"/>
          </a:p>
        </p:txBody>
      </p:sp>
      <p:sp>
        <p:nvSpPr>
          <p:cNvPr id="1729666256" name="Прямоугольник: скругленные углы 2"/>
          <p:cNvSpPr/>
          <p:nvPr/>
        </p:nvSpPr>
        <p:spPr bwMode="auto">
          <a:xfrm>
            <a:off x="431799" y="1376363"/>
            <a:ext cx="11326813" cy="118109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Сверяемся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сначала сами, потом разбор</a:t>
            </a:r>
            <a:endParaRPr lang="ru-RU" sz="2000">
              <a:latin typeface="Arial"/>
            </a:endParaRPr>
          </a:p>
        </p:txBody>
      </p:sp>
      <p:pic>
        <p:nvPicPr>
          <p:cNvPr id="14489768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73291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20532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Проверь себя: задачи 3 и 4</a:t>
            </a:r>
            <a:endParaRPr/>
          </a:p>
        </p:txBody>
      </p:sp>
      <p:sp>
        <p:nvSpPr>
          <p:cNvPr id="1458961922" name="Прямоугольник: скругленные углы 5"/>
          <p:cNvSpPr/>
          <p:nvPr/>
        </p:nvSpPr>
        <p:spPr bwMode="auto">
          <a:xfrm>
            <a:off x="432593" y="2751137"/>
            <a:ext cx="556657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Задача 3: один шаг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агент — курьер, среда — дороги, клиенты, погода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шаг: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0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22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индекс t + 1 — награда приходит уже после действия</a:t>
            </a:r>
            <a:endParaRPr sz="2200"/>
          </a:p>
        </p:txBody>
      </p:sp>
      <p:sp>
        <p:nvSpPr>
          <p:cNvPr id="368742724" name="Прямоугольник: скругленные углы 10"/>
          <p:cNvSpPr/>
          <p:nvPr/>
        </p:nvSpPr>
        <p:spPr bwMode="auto">
          <a:xfrm>
            <a:off x="6195861" y="2751138"/>
            <a:ext cx="5562751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Задача 4: что не так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агент один, остальные роли — среда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состояние — только то, что нужно для решения сейчас</a:t>
            </a:r>
            <a:endParaRPr sz="2200"/>
          </a:p>
          <a:p>
            <a:pPr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этап процесса — это шаг времени, а не действие агента</a:t>
            </a:r>
            <a:endParaRPr sz="2200"/>
          </a:p>
        </p:txBody>
      </p:sp>
      <p:sp>
        <p:nvSpPr>
          <p:cNvPr id="1924364273" name="Прямоугольник: скругленные углы 2"/>
          <p:cNvSpPr/>
          <p:nvPr/>
        </p:nvSpPr>
        <p:spPr bwMode="auto">
          <a:xfrm>
            <a:off x="431799" y="1376363"/>
            <a:ext cx="11326813" cy="118109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Сверяемся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сначала сами, потом разбор</a:t>
            </a:r>
            <a:endParaRPr lang="ru-RU" sz="2000">
              <a:latin typeface="Arial"/>
            </a:endParaRPr>
          </a:p>
        </p:txBody>
      </p:sp>
      <p:pic>
        <p:nvPicPr>
          <p:cNvPr id="98162641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73291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389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Ответ: задача 5</a:t>
            </a:r>
            <a:endParaRPr/>
          </a:p>
        </p:txBody>
      </p:sp>
      <p:sp>
        <p:nvSpPr>
          <p:cNvPr id="897413233" name="Прямоугольник: скругленные углы 5"/>
          <p:cNvSpPr/>
          <p:nvPr/>
        </p:nvSpPr>
        <p:spPr bwMode="auto">
          <a:xfrm>
            <a:off x="432593" y="2751137"/>
            <a:ext cx="1132602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bg2"/>
                </a:solidFill>
                <a:latin typeface="Arial"/>
              </a:rPr>
              <a:t>Расчёт</a:t>
            </a:r>
            <a:endParaRPr sz="20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10 + 0,9 · (−10) + 0,9² · 10 = 10 − 9 + 8,1 = 9,1</a:t>
            </a:r>
            <a:endParaRPr sz="20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минус на втором шаге съел часть дохода — поэт</a:t>
            </a:r>
            <a:r>
              <a:rPr lang="ru-RU" sz="1800">
                <a:solidFill>
                  <a:schemeClr val="tx1"/>
                </a:solidFill>
                <a:latin typeface="Arial"/>
              </a:rPr>
              <a:t>ому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>
                <a:solidFill>
                  <a:schemeClr val="tx1"/>
                </a:solidFill>
                <a:latin typeface="Arial"/>
              </a:rPr>
              <a:t> меньше </a:t>
            </a:r>
            <a:r>
              <a:rPr lang="ru-RU" sz="1800">
                <a:solidFill>
                  <a:schemeClr val="tx1"/>
                </a:solidFill>
                <a:latin typeface="Arial"/>
              </a:rPr>
              <a:t>10</a:t>
            </a:r>
            <a:endParaRPr sz="20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выбор: 90% — «маршрут Б» (лучшее известное), 10% — случайное действие из трёх</a:t>
            </a:r>
            <a:endParaRPr sz="2000"/>
          </a:p>
          <a:p>
            <a:pPr>
              <a:defRPr/>
            </a:pPr>
            <a:r>
              <a:rPr lang="ru-RU" sz="1800">
                <a:solidFill>
                  <a:schemeClr val="tx1"/>
                </a:solidFill>
                <a:latin typeface="Arial"/>
              </a:rPr>
              <a:t>10% — исследование, 90% — использование</a:t>
            </a:r>
            <a:endParaRPr sz="2000"/>
          </a:p>
        </p:txBody>
      </p:sp>
      <p:sp>
        <p:nvSpPr>
          <p:cNvPr id="1893045282" name="Прямоугольник: скругленные углы 2"/>
          <p:cNvSpPr/>
          <p:nvPr/>
        </p:nvSpPr>
        <p:spPr bwMode="auto">
          <a:xfrm>
            <a:off x="431798" y="1376361"/>
            <a:ext cx="11328252" cy="983827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Проверяем расчёт</a:t>
            </a:r>
            <a:endParaRPr lang="ru-RU" sz="18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>
                <a:latin typeface="Arial"/>
              </a:rPr>
              <a:t>= 10 − 9 + 8,1 = 9,1</a:t>
            </a:r>
            <a:endParaRPr lang="ru-RU" sz="1800">
              <a:latin typeface="Arial"/>
            </a:endParaRPr>
          </a:p>
        </p:txBody>
      </p:sp>
      <p:pic>
        <p:nvPicPr>
          <p:cNvPr id="122914798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634276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4494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Рубежный контроль №1</a:t>
            </a:r>
            <a:endParaRPr/>
          </a:p>
        </p:txBody>
      </p:sp>
      <p:sp>
        <p:nvSpPr>
          <p:cNvPr id="1425539685" name="Text Placeholder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12 минут · 12 вопросов · 12 баллов · вариант Б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01198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Рубежный контроль №1 — вариант Б</a:t>
            </a:r>
            <a:endParaRPr/>
          </a:p>
        </p:txBody>
      </p:sp>
      <p:sp>
        <p:nvSpPr>
          <p:cNvPr id="930559495" name="Прямоугольник: скругленные углы 5"/>
          <p:cNvSpPr/>
          <p:nvPr/>
        </p:nvSpPr>
        <p:spPr bwMode="auto">
          <a:xfrm>
            <a:off x="432593" y="2751137"/>
            <a:ext cx="1132602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b="1">
                <a:solidFill>
                  <a:schemeClr val="bg2"/>
                </a:solidFill>
                <a:latin typeface="Arial"/>
              </a:rPr>
              <a:t>Как устроено</a:t>
            </a:r>
            <a:endParaRPr/>
          </a:p>
          <a:p>
            <a:pPr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десять вопросов с выбором ответа и два — своими словами</a:t>
            </a:r>
            <a:endParaRPr/>
          </a:p>
          <a:p>
            <a:pPr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темы: лекция 2 (язык агента и среды) и сегодняшняя теория</a:t>
            </a:r>
            <a:endParaRPr/>
          </a:p>
          <a:p>
            <a:pPr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спрашиваем только то, что давали — ни одного вопроса из непройденного</a:t>
            </a:r>
            <a:endParaRPr/>
          </a:p>
          <a:p>
            <a:pPr>
              <a:defRPr/>
            </a:pPr>
            <a:r>
              <a:rPr lang="ru-RU" sz="1600">
                <a:solidFill>
                  <a:schemeClr val="tx1"/>
                </a:solidFill>
                <a:latin typeface="Arial"/>
              </a:rPr>
              <a:t>вопросы показываем со слайда, в группе у всех один вариант</a:t>
            </a:r>
            <a:endParaRPr/>
          </a:p>
        </p:txBody>
      </p:sp>
      <p:sp>
        <p:nvSpPr>
          <p:cNvPr id="1415136894" name="Прямоугольник: скругленные углы 2"/>
          <p:cNvSpPr/>
          <p:nvPr/>
        </p:nvSpPr>
        <p:spPr bwMode="auto">
          <a:xfrm>
            <a:off x="431799" y="1376363"/>
            <a:ext cx="11326813" cy="119504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На листке · 12 минут · 12 вопросов · 12 баллов</a:t>
            </a:r>
            <a:endParaRPr lang="ru-RU" sz="16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1600">
                <a:latin typeface="Arial"/>
              </a:rPr>
              <a:t>пишем на своём листке, фамилию сверху</a:t>
            </a:r>
            <a:endParaRPr lang="ru-RU" sz="1600">
              <a:latin typeface="Arial"/>
            </a:endParaRPr>
          </a:p>
        </p:txBody>
      </p:sp>
      <p:pic>
        <p:nvPicPr>
          <p:cNvPr id="110989080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1" y="1554064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003199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9332"/>
          </a:xfrm>
        </p:spPr>
        <p:txBody>
          <a:bodyPr/>
          <a:lstStyle/>
          <a:p>
            <a:pPr>
              <a:defRPr/>
            </a:pPr>
            <a:r>
              <a:rPr lang="ru-RU"/>
              <a:t>РК №1 (вариант Б). Вопросы 1–2</a:t>
            </a:r>
            <a:endParaRPr/>
          </a:p>
        </p:txBody>
      </p:sp>
      <p:sp>
        <p:nvSpPr>
          <p:cNvPr id="242906910" name="Прямоугольник 3"/>
          <p:cNvSpPr/>
          <p:nvPr/>
        </p:nvSpPr>
        <p:spPr bwMode="auto">
          <a:xfrm>
            <a:off x="4760694" y="3588206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937891786" name="Скругленный прямоугольник 11"/>
          <p:cNvSpPr/>
          <p:nvPr/>
        </p:nvSpPr>
        <p:spPr bwMode="auto">
          <a:xfrm flipH="0" flipV="0">
            <a:off x="432671" y="1376361"/>
            <a:ext cx="7103190" cy="5253783"/>
          </a:xfrm>
          <a:prstGeom prst="roundRect">
            <a:avLst>
              <a:gd name="adj" fmla="val 287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 marL="283879" indent="-283879">
              <a:spcAft>
                <a:spcPts val="599"/>
              </a:spcAft>
              <a:buAutoNum type="arabicPeriod"/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Что такое один шаг взаимодействия?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одно действие агента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состояние → действие → вознаграждение на следующем шаге → новое состояние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от начала эпизода до терминального состояния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момент получения вознаграждения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en-US" b="1">
                <a:solidFill>
                  <a:schemeClr val="tx1"/>
                </a:solidFill>
                <a:latin typeface="Arial"/>
              </a:rPr>
              <a:t>2. </a:t>
            </a:r>
            <a:r>
              <a:rPr lang="ru-RU" b="1">
                <a:solidFill>
                  <a:schemeClr val="tx1"/>
                </a:solidFill>
                <a:latin typeface="Arial"/>
              </a:rPr>
              <a:t>Почему вознаграждение после действия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b="1">
                <a:solidFill>
                  <a:schemeClr val="tx1"/>
                </a:solidFill>
                <a:latin typeface="Arial"/>
              </a:rPr>
              <a:t> обозначается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b="1">
                <a:solidFill>
                  <a:schemeClr val="tx1"/>
                </a:solidFill>
                <a:latin typeface="Arial"/>
              </a:rPr>
              <a:t>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чтобы отличать вознаграждение от дохода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потому что состояние имеет индекс t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отдельного смысла нет, так принято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результат действия наступает уже на следующем шаге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pic>
        <p:nvPicPr>
          <p:cNvPr id="19961873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708603877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616" y="154155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332002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9332"/>
          </a:xfrm>
        </p:spPr>
        <p:txBody>
          <a:bodyPr/>
          <a:lstStyle/>
          <a:p>
            <a:pPr>
              <a:defRPr/>
            </a:pPr>
            <a:r>
              <a:rPr lang="ru-RU"/>
              <a:t>РК №1 (вариант Б). Вопросы 3–4</a:t>
            </a:r>
            <a:endParaRPr/>
          </a:p>
        </p:txBody>
      </p:sp>
      <p:sp>
        <p:nvSpPr>
          <p:cNvPr id="379160460" name="Прямоугольник 3"/>
          <p:cNvSpPr/>
          <p:nvPr/>
        </p:nvSpPr>
        <p:spPr bwMode="auto">
          <a:xfrm>
            <a:off x="4760694" y="3588206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897838690" name="Скругленный прямоугольник 11"/>
          <p:cNvSpPr/>
          <p:nvPr/>
        </p:nvSpPr>
        <p:spPr bwMode="auto">
          <a:xfrm flipH="0" flipV="0">
            <a:off x="432671" y="1376361"/>
            <a:ext cx="7103190" cy="5104371"/>
          </a:xfrm>
          <a:prstGeom prst="roundRect">
            <a:avLst>
              <a:gd name="adj" fmla="val 287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3. Эпизодическая задача — это задача…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с естественным концом и терминальным состоянием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в которой обязательно γ &lt; 1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в которой агент действует один раз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в которой вознаграждение приходит только в самом конце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4. Что агент максимизирует?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вознаграждение текущего шага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среднее вознаграждение первых двух шагов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доход — сумму будущих вознаграждений с дисконтированием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число шагов эпизода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pic>
        <p:nvPicPr>
          <p:cNvPr id="838527108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616832305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616" y="154155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152202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9332"/>
          </a:xfrm>
        </p:spPr>
        <p:txBody>
          <a:bodyPr/>
          <a:lstStyle/>
          <a:p>
            <a:pPr>
              <a:defRPr/>
            </a:pPr>
            <a:r>
              <a:rPr lang="ru-RU"/>
              <a:t>РК №1 (вариант Б). Вопросы 5–6</a:t>
            </a:r>
            <a:endParaRPr/>
          </a:p>
        </p:txBody>
      </p:sp>
      <p:sp>
        <p:nvSpPr>
          <p:cNvPr id="1732479854" name="Прямоугольник 3"/>
          <p:cNvSpPr/>
          <p:nvPr/>
        </p:nvSpPr>
        <p:spPr bwMode="auto">
          <a:xfrm>
            <a:off x="4760694" y="3588206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1570552034" name="Скругленный прямоугольник 11"/>
          <p:cNvSpPr/>
          <p:nvPr/>
        </p:nvSpPr>
        <p:spPr bwMode="auto">
          <a:xfrm flipH="0" flipV="0">
            <a:off x="432671" y="1376361"/>
            <a:ext cx="7103190" cy="5039004"/>
          </a:xfrm>
          <a:prstGeom prst="roundRect">
            <a:avLst>
              <a:gd name="adj" fmla="val 287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5. При γ = 0,5 эффективный горизонт — примерно 2 шага. Что это значит?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эпизод длится не больше 2 шагов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агент делает 2 шага до первого вознаграждения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после 2 шагов доход обнуляется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агент учитывает примерно 2 ближайших шага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6. Где допустимо γ = 1?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в непрерывной задаче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в эпизодической задаче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в любой задаче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нигде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pic>
        <p:nvPicPr>
          <p:cNvPr id="391866212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282778354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616" y="154155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968852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9332"/>
          </a:xfrm>
        </p:spPr>
        <p:txBody>
          <a:bodyPr/>
          <a:lstStyle/>
          <a:p>
            <a:pPr>
              <a:defRPr/>
            </a:pPr>
            <a:r>
              <a:rPr lang="ru-RU"/>
              <a:t>РК №1 (вариант Б). Вопросы 7–8</a:t>
            </a:r>
            <a:endParaRPr/>
          </a:p>
        </p:txBody>
      </p:sp>
      <p:sp>
        <p:nvSpPr>
          <p:cNvPr id="746876252" name="Прямоугольник 3"/>
          <p:cNvSpPr/>
          <p:nvPr/>
        </p:nvSpPr>
        <p:spPr bwMode="auto">
          <a:xfrm>
            <a:off x="4760694" y="3588206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1078488087" name="Скругленный прямоугольник 11"/>
          <p:cNvSpPr/>
          <p:nvPr/>
        </p:nvSpPr>
        <p:spPr bwMode="auto">
          <a:xfrm>
            <a:off x="432672" y="1376363"/>
            <a:ext cx="7103191" cy="4468812"/>
          </a:xfrm>
          <a:prstGeom prst="roundRect">
            <a:avLst>
              <a:gd name="adj" fmla="val 287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7. Агент получил вознаграждения 4, 4, 4, γ = 0,5. Чему равен доход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b="1">
                <a:solidFill>
                  <a:schemeClr val="tx1"/>
                </a:solidFill>
                <a:latin typeface="Arial"/>
              </a:rPr>
              <a:t>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6     б) 8     в) 7     г) 12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8. Чем обучение с подкреплением отличается от обучения с учителем?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ничем, это одно и то же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в RL нет готовых правильных ответов — только оценка действий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в RL всегда больше данных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в RL машина не учится вообще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pic>
        <p:nvPicPr>
          <p:cNvPr id="1131667151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1961011081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616" y="154155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043521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9332"/>
          </a:xfrm>
        </p:spPr>
        <p:txBody>
          <a:bodyPr/>
          <a:lstStyle/>
          <a:p>
            <a:pPr>
              <a:defRPr/>
            </a:pPr>
            <a:r>
              <a:rPr lang="ru-RU"/>
              <a:t>РК №1 (вариант Б). Вопросы 9–10</a:t>
            </a:r>
            <a:endParaRPr/>
          </a:p>
        </p:txBody>
      </p:sp>
      <p:sp>
        <p:nvSpPr>
          <p:cNvPr id="1488085920" name="Прямоугольник 3"/>
          <p:cNvSpPr/>
          <p:nvPr/>
        </p:nvSpPr>
        <p:spPr bwMode="auto">
          <a:xfrm>
            <a:off x="4760694" y="3588206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181088295" name="Скругленный прямоугольник 11"/>
          <p:cNvSpPr/>
          <p:nvPr/>
        </p:nvSpPr>
        <p:spPr bwMode="auto">
          <a:xfrm flipH="0" flipV="0">
            <a:off x="432671" y="1376361"/>
            <a:ext cx="7103190" cy="5029666"/>
          </a:xfrm>
          <a:prstGeom prst="roundRect">
            <a:avLst>
              <a:gd name="adj" fmla="val 287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9. Какая задача НЕ решается методами обучения с подкреплением?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управлять охлаждением дата-центра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научить робота ходить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научить агента играть в игру со счётом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b="0">
                <a:solidFill>
                  <a:schemeClr val="tx1"/>
                </a:solidFill>
                <a:latin typeface="Arial"/>
              </a:rPr>
              <a:t>г) предсказать отток клиентов по историческим данным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10. Стратегия π — это…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а) правило выбора действий: состояние → действие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б) список действий, выполненных за эпизод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в) последовательность посещённых состояний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г) вознаграждение в терминальном состоянии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pic>
        <p:nvPicPr>
          <p:cNvPr id="39561158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16350266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616" y="154155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286714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9332"/>
          </a:xfrm>
        </p:spPr>
        <p:txBody>
          <a:bodyPr/>
          <a:lstStyle/>
          <a:p>
            <a:pPr>
              <a:defRPr/>
            </a:pPr>
            <a:r>
              <a:rPr lang="ru-RU"/>
              <a:t>РК №1 (вариант Б). Вопросы 11–12</a:t>
            </a:r>
            <a:endParaRPr/>
          </a:p>
        </p:txBody>
      </p:sp>
      <p:sp>
        <p:nvSpPr>
          <p:cNvPr id="158149333" name="Прямоугольник 3"/>
          <p:cNvSpPr/>
          <p:nvPr/>
        </p:nvSpPr>
        <p:spPr bwMode="auto">
          <a:xfrm>
            <a:off x="4760694" y="3588206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114260295" name="Скругленный прямоугольник 11"/>
          <p:cNvSpPr/>
          <p:nvPr/>
        </p:nvSpPr>
        <p:spPr bwMode="auto">
          <a:xfrm>
            <a:off x="432672" y="1376363"/>
            <a:ext cx="7103191" cy="4468812"/>
          </a:xfrm>
          <a:prstGeom prst="roundRect">
            <a:avLst>
              <a:gd name="adj" fmla="val 287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11. Свой пример: назовите агента, состояние, действие и вознаграждение для любой задачи (работа, учёба, жизнь) и скажите, эпизодическая она или непрерывная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12. Назовите три признака, по которым видно, что задача — для обучения с подкреплением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>
                <a:solidFill>
                  <a:schemeClr val="tx1"/>
                </a:solidFill>
                <a:latin typeface="Arial"/>
              </a:rPr>
              <a:t>Если по одному из вопросов ответа нет — оставьте пустым и идите дальше, времени на всё 12 минут</a:t>
            </a:r>
            <a:endParaRPr>
              <a:solidFill>
                <a:schemeClr val="tx1"/>
              </a:solidFill>
              <a:latin typeface="Arial"/>
            </a:endParaRPr>
          </a:p>
        </p:txBody>
      </p:sp>
      <p:pic>
        <p:nvPicPr>
          <p:cNvPr id="743152187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476920764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6616" y="154155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793672" name="Прямоугольник: скругленные углы 5"/>
          <p:cNvSpPr/>
          <p:nvPr/>
        </p:nvSpPr>
        <p:spPr bwMode="auto">
          <a:xfrm>
            <a:off x="433466" y="1509297"/>
            <a:ext cx="11325858" cy="4660009"/>
          </a:xfrm>
          <a:prstGeom prst="roundRect">
            <a:avLst>
              <a:gd name="adj" fmla="val 3253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8" tIns="107983" rIns="143978" bIns="143978" rtlCol="0" anchor="t"/>
          <a:lstStyle/>
          <a:p>
            <a:pPr>
              <a:spcAft>
                <a:spcPts val="599"/>
              </a:spcAft>
              <a:defRPr/>
            </a:pPr>
            <a:r>
              <a:rPr sz="2400" b="1">
                <a:solidFill>
                  <a:schemeClr val="bg2"/>
                </a:solidFill>
                <a:latin typeface="Arial"/>
              </a:rPr>
              <a:t>Сегодня мы:</a:t>
            </a:r>
            <a:endParaRPr sz="2400" b="1">
              <a:solidFill>
                <a:schemeClr val="bg2"/>
              </a:solidFill>
              <a:latin typeface="Arial"/>
            </a:endParaRPr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узнали, где применимо обучение </a:t>
            </a:r>
            <a:br>
              <a:rPr lang="ru-RU" sz="2200">
                <a:solidFill>
                  <a:schemeClr val="tx1"/>
                </a:solidFill>
                <a:latin typeface="Arial"/>
              </a:rPr>
            </a:br>
            <a:r>
              <a:rPr lang="ru-RU" sz="2200">
                <a:solidFill>
                  <a:schemeClr val="tx1"/>
                </a:solidFill>
                <a:latin typeface="Arial"/>
              </a:rPr>
              <a:t>с подкреплением</a:t>
            </a:r>
            <a:endParaRPr sz="22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разобрали лекцию 2 и закрыли дырку </a:t>
            </a:r>
            <a:br>
              <a:rPr lang="ru-RU" sz="2200">
                <a:solidFill>
                  <a:schemeClr val="tx1"/>
                </a:solidFill>
                <a:latin typeface="Arial"/>
              </a:rPr>
            </a:br>
            <a:r>
              <a:rPr lang="ru-RU" sz="2200">
                <a:solidFill>
                  <a:schemeClr val="tx1"/>
                </a:solidFill>
                <a:latin typeface="Arial"/>
              </a:rPr>
              <a:t>по лекции 1</a:t>
            </a:r>
            <a:endParaRPr sz="22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научились считать доход и выбирать </a:t>
            </a:r>
            <a:br>
              <a:rPr lang="ru-RU" sz="2200">
                <a:solidFill>
                  <a:schemeClr val="tx1"/>
                </a:solidFill>
                <a:latin typeface="Arial"/>
              </a:rPr>
            </a:br>
            <a:r>
              <a:rPr lang="ru-RU" sz="2200">
                <a:solidFill>
                  <a:schemeClr val="tx1"/>
                </a:solidFill>
                <a:latin typeface="Arial"/>
              </a:rPr>
              <a:t>действие</a:t>
            </a:r>
            <a:endParaRPr sz="2200"/>
          </a:p>
          <a:p>
            <a:pPr marL="233287" indent="-233287" defTabSz="914309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листки с домашним заданием принести </a:t>
            </a:r>
            <a:br>
              <a:rPr lang="ru-RU" sz="2200">
                <a:solidFill>
                  <a:schemeClr val="tx1"/>
                </a:solidFill>
                <a:latin typeface="Arial"/>
              </a:rPr>
            </a:br>
            <a:r>
              <a:rPr lang="ru-RU" sz="2200">
                <a:solidFill>
                  <a:schemeClr val="tx1"/>
                </a:solidFill>
                <a:latin typeface="Arial"/>
              </a:rPr>
              <a:t>на лекцию 25.09</a:t>
            </a:r>
            <a:endParaRPr sz="2200"/>
          </a:p>
        </p:txBody>
      </p:sp>
      <p:sp>
        <p:nvSpPr>
          <p:cNvPr id="596106552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4766" cy="366064"/>
          </a:xfrm>
        </p:spPr>
        <p:txBody>
          <a:bodyPr/>
          <a:lstStyle/>
          <a:p>
            <a:pPr>
              <a:defRPr/>
            </a:pPr>
            <a:r>
              <a:rPr lang="ru-RU"/>
              <a:t>Итоги занятия</a:t>
            </a:r>
            <a:endParaRPr/>
          </a:p>
        </p:txBody>
      </p:sp>
      <p:pic>
        <p:nvPicPr>
          <p:cNvPr id="436513049" name="Рисунок 4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17076" y="1211578"/>
            <a:ext cx="5641457" cy="49577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960958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755"/>
            <a:ext cx="9616925" cy="366064"/>
          </a:xfrm>
        </p:spPr>
        <p:txBody>
          <a:bodyPr/>
          <a:lstStyle/>
          <a:p>
            <a:pPr>
              <a:defRPr/>
            </a:pPr>
            <a:r>
              <a:rPr lang="ru-RU"/>
              <a:t>Рефлексия</a:t>
            </a:r>
            <a:endParaRPr/>
          </a:p>
        </p:txBody>
      </p:sp>
      <p:sp>
        <p:nvSpPr>
          <p:cNvPr id="297970966" name="Прямоугольник 3"/>
          <p:cNvSpPr/>
          <p:nvPr/>
        </p:nvSpPr>
        <p:spPr bwMode="auto">
          <a:xfrm>
            <a:off x="4760694" y="3588205"/>
            <a:ext cx="183636" cy="2441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10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1777352919" name="Скругленный прямоугольник 11"/>
          <p:cNvSpPr/>
          <p:nvPr/>
        </p:nvSpPr>
        <p:spPr bwMode="auto">
          <a:xfrm>
            <a:off x="432672" y="1388962"/>
            <a:ext cx="7198889" cy="3719779"/>
          </a:xfrm>
          <a:prstGeom prst="roundRect">
            <a:avLst>
              <a:gd name="adj" fmla="val 3193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 marL="285750" indent="-285750"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en-US" sz="2200">
                <a:solidFill>
                  <a:schemeClr val="tx1"/>
                </a:solidFill>
                <a:latin typeface="Arial"/>
              </a:rPr>
              <a:t>Что узнали нового?</a:t>
            </a:r>
            <a:endParaRPr sz="2200">
              <a:solidFill>
                <a:schemeClr val="tx1"/>
              </a:solidFill>
              <a:latin typeface="Arial"/>
            </a:endParaRPr>
          </a:p>
          <a:p>
            <a:pPr marL="285750" indent="-285750"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en-US" sz="2200">
                <a:solidFill>
                  <a:schemeClr val="tx1"/>
                </a:solidFill>
                <a:latin typeface="Arial"/>
              </a:rPr>
              <a:t>Что изменилось? Раньше я думал(а), что… А теперь…</a:t>
            </a:r>
            <a:endParaRPr sz="2200">
              <a:solidFill>
                <a:schemeClr val="tx1"/>
              </a:solidFill>
              <a:latin typeface="Arial"/>
            </a:endParaRPr>
          </a:p>
          <a:p>
            <a:pPr marL="285750" indent="-285750">
              <a:spcAft>
                <a:spcPts val="599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en-US" sz="2200">
                <a:solidFill>
                  <a:schemeClr val="tx1"/>
                </a:solidFill>
                <a:latin typeface="Arial"/>
              </a:rPr>
              <a:t>Какие вопросы остались?</a:t>
            </a:r>
            <a:endParaRPr sz="2200">
              <a:solidFill>
                <a:schemeClr val="tx1"/>
              </a:solidFill>
              <a:latin typeface="Arial"/>
            </a:endParaRPr>
          </a:p>
        </p:txBody>
      </p:sp>
      <p:pic>
        <p:nvPicPr>
          <p:cNvPr id="462123038" name="Рисунок 12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9"/>
            <a:ext cx="3677961" cy="3918851"/>
          </a:xfrm>
          <a:prstGeom prst="rect">
            <a:avLst/>
          </a:prstGeom>
        </p:spPr>
      </p:pic>
      <p:pic>
        <p:nvPicPr>
          <p:cNvPr id="49824042" name="Рисунок 10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32672" y="1523779"/>
            <a:ext cx="844034" cy="647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DocSecurity>0</DocSecurity>
  <PresentationFormat>On-screen Show (4:3)</PresentationFormat>
  <Paragraphs>0</Paragraphs>
  <Slides>32</Slides>
  <Notes>32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dc:identifier/>
  <dc:language/>
  <cp:lastModifiedBy/>
  <cp:revision>189</cp:revision>
  <dcterms:created xsi:type="dcterms:W3CDTF">2023-02-20T15:32:58Z</dcterms:created>
  <dcterms:modified xsi:type="dcterms:W3CDTF">2026-09-20T21:37:17Z</dcterms:modified>
  <cp:category/>
  <cp:contentStatus/>
  <cp:version/>
</cp:coreProperties>
</file>