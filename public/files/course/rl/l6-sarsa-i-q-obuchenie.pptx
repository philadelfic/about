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28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howGuides="1">
      <p:cViewPr varScale="1">
        <p:scale>
          <a:sx n="68" d="100"/>
          <a:sy n="68" d="100"/>
        </p:scale>
        <p:origin x="1098" y="54"/>
      </p:cViewPr>
      <p:guideLst>
        <p:guide pos="3840"/>
        <p:guide pos="2160" orient="horz"/>
        <p:guide pos="867" orient="horz"/>
      </p:guideLst>
    </p:cSldViewPr>
  </p:slideViewPr>
  <p:gridSpacing cx="216001" cy="216001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notesMaster" Target="notesMasters/notesMaster1.xml"/><Relationship Id="rId46" Type="http://schemas.openxmlformats.org/officeDocument/2006/relationships/handoutMaster" Target="handoutMasters/handoutMaster1.xml"/><Relationship Id="rId47" Type="http://schemas.openxmlformats.org/officeDocument/2006/relationships/presProps" Target="presProps.xml" /><Relationship Id="rId48" Type="http://schemas.openxmlformats.org/officeDocument/2006/relationships/tableStyles" Target="tableStyles.xml" /><Relationship Id="rId49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37601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6291690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6908799" y="0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CDE1F29B-EE96-4CE1-AC3D-7E2068063834}" type="datetimeFigureOut">
              <a:rPr lang="ru-RU"/>
              <a:t/>
            </a:fld>
            <a:endParaRPr/>
          </a:p>
        </p:txBody>
      </p:sp>
      <p:sp>
        <p:nvSpPr>
          <p:cNvPr id="1308272392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6513909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93324511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6908799" y="6513909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0185F3F7-EED9-E6E4-EA21-D8C3AAF98D08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99102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13432965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EB4590AE-419C-7848-9550-F62033609B25}" type="datetimeFigureOut">
              <a:rPr lang="ru-RU"/>
              <a:t/>
            </a:fld>
            <a:endParaRPr lang="ru-RU"/>
          </a:p>
        </p:txBody>
      </p:sp>
      <p:sp>
        <p:nvSpPr>
          <p:cNvPr id="152788312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9284154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4726150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53175363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57F69232-B7F1-2A44-AAD4-5E776A4A1F79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1" hdr="0" sldNum="1"/>
  <p:notesStyle>
    <a:lvl1pPr marL="0" algn="l" defTabSz="91440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9698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8912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166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09E6FC-48B7-E073-EAA5-75116A5649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7085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88457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7317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40AAF5-3E47-C3CE-6671-A34781C24E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439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46785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3146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1B5944-B106-A60B-0D32-25B71848A5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2907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1401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6352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BF9D41-46E5-E60C-597F-6014A72EF1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6272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526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03176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DAA543-A484-FC93-E0CC-202E40BEEC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6289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8963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953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C78AB5-AEC1-8E13-5E0F-6B4DCBD721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8777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1587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731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42704-729A-ED24-6E8A-D7A6C87FEE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9226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887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019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75CCF0-F818-2E1E-9C72-9971BA04D6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078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513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46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8E3D42-299B-A096-1901-45E7EB0447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3492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9680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8001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AAC81-8FEC-4FB1-8E00-AABD5DF88A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7901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3202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610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8ACA4-015A-2938-F0DE-A88054BA4A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654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904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3979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3D771D-9672-7CB9-DE59-E4E8424E4B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12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3389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9268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BD45A3-6E4B-EBDA-DEF9-5CD7318EBA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3871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8008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097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CCF41C-9BBA-56CB-5FB4-9083A26298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367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4389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1259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EC6792-DD92-F1A8-7AD4-6B95ACB694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3587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64342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7511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3369B8-877E-778C-AFA9-26FB3A8A7D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27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8249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25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2A4C-39BA-A813-6EE6-9B603633CE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2542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3380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9187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506893-37EB-FDF7-6ADB-729919C81B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6278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30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381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412EF-0295-A580-9FCB-A8197217A2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850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1697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6404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697AF4-B5D3-6E1A-5189-10D941C6C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1402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1400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9532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9D0B6B-60C7-6A79-0796-6B32F6FD66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583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33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8939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F8E278-C71B-B5AF-76F2-AC5F474A90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7409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2588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0674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51F9E3-E544-ECD4-9052-011BD04753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313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4118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197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E88B22-77BF-0AD5-F32E-904A958C50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5408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4862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328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790C5A-8158-4569-10FE-8D522DF389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7368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36245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797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0AB9FC-1EC0-CBBA-379D-C549281B9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079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2165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3415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2A6433-D0E0-6479-B781-9D4F102DB3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0564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7258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683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F4E3EB-628C-AF26-BBBF-0F89A3229F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432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9079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21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2A4B5F-DDAA-D9AA-3D2C-D5D0B5F65C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5514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2118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125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EF7EB3-7A3D-A3F3-D8A3-88F2D95DD6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441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42834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501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95ADBA-0C1F-C29F-D6D2-2DCC195A85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02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9793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765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C553B-970C-AF0F-878D-36314E4E28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996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0184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24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B6C161-2447-7B69-7E8B-1C8C40A560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827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9380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0715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37076E-F8AF-08AF-6485-C0DEA2EFF6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54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4178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2163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F18E9-D55B-3966-4D1F-4977EC1B83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5962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480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2234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DBDD10-68B5-498B-7F53-38E73CC02C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049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79502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2873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1CD308-EC1D-7AAE-FC48-0FE2663741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4514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351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133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554FA0-429A-CB07-C90D-1F4B34A315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400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7986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445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4F9648-0BDB-B0B0-B089-CCBCB9D8B3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9910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646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89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BA04EA-0829-74D0-5617-6D4C037F93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Титульный слайд 1">
    <p:bg>
      <p:bgPr shadeToTitle="0">
        <a:solidFill>
          <a:srgbClr val="F1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123555" name="Текст 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0525143" y="482012"/>
            <a:ext cx="1282403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>
                <a:solidFill>
                  <a:schemeClr val="tx1"/>
                </a:solidFill>
                <a:latin typeface="Arial"/>
              </a:defRPr>
            </a:lvl1pPr>
          </a:lstStyle>
          <a:p>
            <a:pPr marL="228600" lvl="0" indent="-228600">
              <a:lnSpc>
                <a:spcPct val="100000"/>
              </a:lnSpc>
              <a:defRPr/>
            </a:pPr>
            <a:r>
              <a:rPr lang="en-US"/>
              <a:t>00.00.202</a:t>
            </a:r>
            <a:r>
              <a:rPr lang="ru-RU"/>
              <a:t>6</a:t>
            </a:r>
            <a:endParaRPr/>
          </a:p>
        </p:txBody>
      </p:sp>
      <p:sp>
        <p:nvSpPr>
          <p:cNvPr id="1519151442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392407" y="2279703"/>
            <a:ext cx="8482112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0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ru-RU"/>
              <a:t>Подзаголовок</a:t>
            </a:r>
            <a:endParaRPr lang="en-US"/>
          </a:p>
        </p:txBody>
      </p:sp>
      <p:sp>
        <p:nvSpPr>
          <p:cNvPr id="122419370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92407" y="394505"/>
            <a:ext cx="846931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>
              <a:lnSpc>
                <a:spcPct val="70000"/>
              </a:lnSpc>
              <a:spcBef>
                <a:spcPts val="0"/>
              </a:spcBef>
              <a:buNone/>
              <a:defRPr lang="en-US" sz="6600" b="1" spc="-7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Длинный заголовок </a:t>
            </a:r>
            <a:br>
              <a:rPr lang="ru-RU"/>
            </a:br>
            <a:r>
              <a:rPr lang="ru-RU"/>
              <a:t>в две строки</a:t>
            </a:r>
            <a:endParaRPr lang="en-US"/>
          </a:p>
        </p:txBody>
      </p:sp>
      <p:pic>
        <p:nvPicPr>
          <p:cNvPr id="905647499" name="Т1"/>
          <p:cNvPicPr>
            <a:picLocks noChangeAspect="1"/>
          </p:cNvPicPr>
          <p:nvPr userDrawn="1"/>
        </p:nvPicPr>
        <p:blipFill rotWithShape="1">
          <a:blip r:embed="rId2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  <p:pic>
        <p:nvPicPr>
          <p:cNvPr id="2090297213" name="Рисунок 8"/>
          <p:cNvPicPr>
            <a:picLocks noChangeAspect="1"/>
          </p:cNvPicPr>
          <p:nvPr userDrawn="1"/>
        </p:nvPicPr>
        <p:blipFill rotWithShape="1">
          <a:blip r:embed="rId3"/>
          <a:srcRect l="0" t="-2336" r="0" b="0"/>
          <a:stretch/>
        </p:blipFill>
        <p:spPr bwMode="auto">
          <a:xfrm>
            <a:off x="3078480" y="1183376"/>
            <a:ext cx="9113520" cy="56746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07892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2029063336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Arial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072773185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013842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Содержание</a:t>
            </a:r>
            <a:endParaRPr/>
          </a:p>
        </p:txBody>
      </p:sp>
      <p:sp>
        <p:nvSpPr>
          <p:cNvPr id="826733590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669242010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98944" name="Полилиния: фигура 3"/>
          <p:cNvSpPr/>
          <p:nvPr userDrawn="1"/>
        </p:nvSpPr>
        <p:spPr bwMode="auto">
          <a:xfrm>
            <a:off x="11196444" y="443503"/>
            <a:ext cx="562937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sz="2700">
              <a:latin typeface="Arial"/>
            </a:endParaRPr>
          </a:p>
        </p:txBody>
      </p:sp>
      <p:sp>
        <p:nvSpPr>
          <p:cNvPr id="924948582" name="TextBox 3"/>
          <p:cNvSpPr txBox="1"/>
          <p:nvPr userDrawn="1"/>
        </p:nvSpPr>
        <p:spPr bwMode="auto">
          <a:xfrm>
            <a:off x="431799" y="443503"/>
            <a:ext cx="8950682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309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30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Знакомство</a:t>
            </a:r>
            <a:endParaRPr sz="3000"/>
          </a:p>
        </p:txBody>
      </p:sp>
      <p:sp>
        <p:nvSpPr>
          <p:cNvPr id="620086592" name="Рисунок 2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554057" y="1728890"/>
            <a:ext cx="3404023" cy="3403498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50"/>
            </a:lvl1pPr>
          </a:lstStyle>
          <a:p>
            <a:pPr>
              <a:defRPr/>
            </a:pPr>
            <a:r>
              <a:rPr lang="ru-RU"/>
              <a:t>Фото эксперта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0610644" name="Рисунок 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349661" y="1321684"/>
            <a:ext cx="9842339" cy="5536316"/>
          </a:xfrm>
          <a:prstGeom prst="rect">
            <a:avLst/>
          </a:prstGeom>
        </p:spPr>
      </p:pic>
      <p:sp>
        <p:nvSpPr>
          <p:cNvPr id="1968991182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Вопросы</a:t>
            </a:r>
            <a:endParaRPr/>
          </a:p>
        </p:txBody>
      </p:sp>
      <p:sp>
        <p:nvSpPr>
          <p:cNvPr id="832118096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95782803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Разделитель темный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17116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1990211226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989482266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45842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14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484534573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под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159155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87023376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94414141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2737768" name="Текст 5"/>
          <p:cNvSpPr>
            <a:spLocks noGrp="1"/>
          </p:cNvSpPr>
          <p:nvPr>
            <p:ph type="body" sz="quarter" idx="13"/>
          </p:nvPr>
        </p:nvSpPr>
        <p:spPr bwMode="auto">
          <a:xfrm>
            <a:off x="431799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1991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583421506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35147432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383103527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1129076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125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3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192798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2008154218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60932611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0065986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27116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15164172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8110538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3867689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4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8826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006309931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44397431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51290321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865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54842912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908208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42489372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3327821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6384387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 колон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881253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570716797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36561228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787211600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9595759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2741862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90246151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5051925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29784268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7352363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64769751" name="Текст 5"/>
          <p:cNvSpPr>
            <a:spLocks noGrp="1"/>
          </p:cNvSpPr>
          <p:nvPr>
            <p:ph type="body" sz="quarter" idx="21"/>
          </p:nvPr>
        </p:nvSpPr>
        <p:spPr bwMode="auto">
          <a:xfrm>
            <a:off x="9652801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фот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711220" name="Рисунок 6"/>
          <p:cNvSpPr>
            <a:spLocks noGrp="1"/>
          </p:cNvSpPr>
          <p:nvPr>
            <p:ph type="pic" sz="quarter" idx="12"/>
          </p:nvPr>
        </p:nvSpPr>
        <p:spPr bwMode="auto">
          <a:xfrm>
            <a:off x="7343774" y="0"/>
            <a:ext cx="4848225" cy="6858000"/>
          </a:xfrm>
          <a:prstGeom prst="rect">
            <a:avLst/>
          </a:prstGeom>
          <a:solidFill>
            <a:srgbClr val="151515"/>
          </a:solidFill>
        </p:spPr>
        <p:txBody>
          <a:bodyPr/>
          <a:lstStyle>
            <a:lvl1pPr>
              <a:defRPr lang="ru-RU">
                <a:solidFill>
                  <a:srgbClr val="151515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169856382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6266564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14163509" name="Текст 5"/>
          <p:cNvSpPr>
            <a:spLocks noGrp="1"/>
          </p:cNvSpPr>
          <p:nvPr>
            <p:ph type="body" sz="quarter" idx="14"/>
          </p:nvPr>
        </p:nvSpPr>
        <p:spPr bwMode="auto">
          <a:xfrm>
            <a:off x="431799" y="1022549"/>
            <a:ext cx="6266565" cy="4433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0397717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879863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 на весь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509715" name="Рисунок 10"/>
          <p:cNvSpPr>
            <a:spLocks noGrp="1"/>
          </p:cNvSpPr>
          <p:nvPr>
            <p:ph type="pic" sz="quarter" idx="12"/>
          </p:nvPr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>
            <a:noAutofit/>
          </a:bodyPr>
          <a:lstStyle>
            <a:lvl1pPr marL="0" indent="0" algn="l">
              <a:buNone/>
              <a:defRPr lang="ru-RU" sz="1400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18753115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597386863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голубой фон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1583885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35827987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4956253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687574332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темный фон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080109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455967855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9949649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979138701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Маленький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724323" name="Заголовок 3"/>
          <p:cNvSpPr>
            <a:spLocks noGrp="1"/>
          </p:cNvSpPr>
          <p:nvPr>
            <p:ph type="title"/>
          </p:nvPr>
        </p:nvSpPr>
        <p:spPr bwMode="auto">
          <a:xfrm>
            <a:off x="432619" y="466293"/>
            <a:ext cx="9519903" cy="22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18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67728802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32265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0930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3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721089733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28329347" name="Picture Placeholder 7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1140375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833841717" name="Picture Placeholder 7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2831062" y="198666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873210488" name="Picture Placeholder 7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4563705" y="198757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648942344" name="Picture Placeholder 7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292492" y="1985941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327058507" name="Picture Placeholder 7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8052349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60481716" name="Picture Placeholder 7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9781136" y="197142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75528287" name="Picture Placeholder 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42913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758648343" name="Picture Placeholder 7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2096887" y="371671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703880970" name="Picture Placeholder 7"/>
          <p:cNvSpPr>
            <a:spLocks noGrp="1"/>
          </p:cNvSpPr>
          <p:nvPr>
            <p:ph type="pic" sz="quarter" idx="21" hasCustomPrompt="1"/>
          </p:nvPr>
        </p:nvSpPr>
        <p:spPr bwMode="auto">
          <a:xfrm>
            <a:off x="3786581" y="371761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509974790" name="Picture Placeholder 7"/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5522869" y="3724300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513516337" name="Picture Placeholder 7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7249938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352048336" name="Picture Placeholder 7"/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973129" y="3726412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61050444" name="Picture Placeholder 7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10606088" y="3718718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пасибо за внимание">
    <p:bg>
      <p:bgPr shadeToTitle="0">
        <a:solidFill>
          <a:srgbClr val="F1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462053" name="TextBox 2"/>
          <p:cNvSpPr txBox="1"/>
          <p:nvPr userDrawn="1"/>
        </p:nvSpPr>
        <p:spPr bwMode="auto"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ts val="0"/>
              </a:spcBef>
              <a:buNone/>
              <a:defRPr sz="6600" spc="-70">
                <a:solidFill>
                  <a:schemeClr val="bg1"/>
                </a:solidFill>
                <a:latin typeface="ALS Hauss Medium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Спасибо </a:t>
            </a:r>
            <a:br>
              <a:rPr lang="ru-RU" b="1">
                <a:solidFill>
                  <a:schemeClr val="tx1"/>
                </a:solidFill>
                <a:latin typeface="Arial"/>
              </a:rPr>
            </a:br>
            <a:r>
              <a:rPr lang="ru-RU" b="1">
                <a:solidFill>
                  <a:schemeClr val="tx1"/>
                </a:solidFill>
                <a:latin typeface="Arial"/>
              </a:rPr>
              <a:t>за внимание</a:t>
            </a:r>
            <a:endParaRPr/>
          </a:p>
        </p:txBody>
      </p:sp>
      <p:pic>
        <p:nvPicPr>
          <p:cNvPr id="2109246925" name="Рисунок 1"/>
          <p:cNvPicPr>
            <a:picLocks noChangeAspect="1"/>
          </p:cNvPicPr>
          <p:nvPr userDrawn="1"/>
        </p:nvPicPr>
        <p:blipFill rotWithShape="1">
          <a:blip r:embed="rId2"/>
          <a:srcRect l="0" t="-2336" r="0" b="0"/>
          <a:stretch/>
        </p:blipFill>
        <p:spPr bwMode="auto">
          <a:xfrm>
            <a:off x="3370728" y="414000"/>
            <a:ext cx="8821271" cy="6444000"/>
          </a:xfrm>
          <a:prstGeom prst="rect">
            <a:avLst/>
          </a:prstGeom>
        </p:spPr>
      </p:pic>
      <p:pic>
        <p:nvPicPr>
          <p:cNvPr id="1386123684" name="Т1"/>
          <p:cNvPicPr>
            <a:picLocks noChangeAspect="1"/>
          </p:cNvPicPr>
          <p:nvPr userDrawn="1"/>
        </p:nvPicPr>
        <p:blipFill rotWithShape="1">
          <a:blip r:embed="rId3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3079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997521336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431799" y="6356351"/>
            <a:ext cx="2743200" cy="365124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B72D850-F836-2C18-A1F0-80B65E54C6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442995" name="Нижний колонтитул 1"/>
          <p:cNvSpPr txBox="1"/>
          <p:nvPr userDrawn="1"/>
        </p:nvSpPr>
        <p:spPr bwMode="auto"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524843894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1" hdr="0" sldNum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32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image" Target="../media/image33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34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35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36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Relationship Id="rId4" Type="http://schemas.openxmlformats.org/officeDocument/2006/relationships/image" Target="../media/image37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Relationship Id="rId4" Type="http://schemas.openxmlformats.org/officeDocument/2006/relationships/image" Target="../media/image38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Relationship Id="rId4" Type="http://schemas.openxmlformats.org/officeDocument/2006/relationships/image" Target="../media/image39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Relationship Id="rId4" Type="http://schemas.openxmlformats.org/officeDocument/2006/relationships/image" Target="../media/image40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972564" name="Заголовок 10"/>
          <p:cNvSpPr>
            <a:spLocks noGrp="1"/>
          </p:cNvSpPr>
          <p:nvPr>
            <p:ph type="title"/>
          </p:nvPr>
        </p:nvSpPr>
        <p:spPr bwMode="auto">
          <a:xfrm>
            <a:off x="393192" y="393192"/>
            <a:ext cx="8869680" cy="1682496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ru-RU" sz="3000"/>
              <a:t>SARSA и Q-обучение: две стратегии одного перехода</a:t>
            </a:r>
            <a:endParaRPr/>
          </a:p>
        </p:txBody>
      </p:sp>
      <p:sp>
        <p:nvSpPr>
          <p:cNvPr id="1924621985" name="TextBox 7"/>
          <p:cNvSpPr txBox="1"/>
          <p:nvPr/>
        </p:nvSpPr>
        <p:spPr bwMode="auto">
          <a:xfrm>
            <a:off x="393192" y="2350008"/>
            <a:ext cx="8485991" cy="33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600">
                <a:solidFill>
                  <a:schemeClr val="bg2"/>
                </a:solidFill>
              </a:rPr>
              <a:t>Лекция 6 · 16 октября 2026 · последняя лекция курса</a:t>
            </a:r>
            <a:endParaRPr lang="ru-RU" sz="3600">
              <a:solidFill>
                <a:schemeClr val="bg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563566" name="Прямоугольник: скругленные углы 5"/>
          <p:cNvSpPr/>
          <p:nvPr/>
        </p:nvSpPr>
        <p:spPr bwMode="auto">
          <a:xfrm>
            <a:off x="7540459" y="1376363"/>
            <a:ext cx="4212000" cy="3888000"/>
          </a:xfrm>
          <a:prstGeom prst="roundRect">
            <a:avLst>
              <a:gd name="adj" fmla="val 227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7956" tIns="0" rIns="143978" bIns="143978" rtlCol="0" anchor="t"/>
          <a:lstStyle/>
          <a:p>
            <a:pPr marL="261824" indent="-261824">
              <a:spcAft>
                <a:spcPts val="599"/>
              </a:spcAft>
              <a:buAutoNum type="arabicPeriod"/>
              <a:defRPr/>
            </a:pPr>
            <a:endParaRPr sz="1850"/>
          </a:p>
        </p:txBody>
      </p:sp>
      <p:sp>
        <p:nvSpPr>
          <p:cNvPr id="877251653" name="Прямоугольник: скругленные углы 5"/>
          <p:cNvSpPr/>
          <p:nvPr/>
        </p:nvSpPr>
        <p:spPr bwMode="auto">
          <a:xfrm>
            <a:off x="432000" y="1376363"/>
            <a:ext cx="6912000" cy="3888000"/>
          </a:xfrm>
          <a:prstGeom prst="roundRect">
            <a:avLst>
              <a:gd name="adj" fmla="val 2670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Мостик из лекции 5: хвост прошлой темы — 5–7 минут</a:t>
            </a:r>
            <a:endParaRPr>
              <a:solidFill>
                <a:schemeClr val="tx1"/>
              </a:solidFill>
              <a:latin typeface="Arial"/>
            </a:endParaRPr>
          </a:p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Обучение на опыте: учимся по эпизодам, без модели среды</a:t>
            </a:r>
            <a:endParaRPr>
              <a:solidFill>
                <a:schemeClr val="tx1"/>
              </a:solidFill>
              <a:latin typeface="Arial"/>
            </a:endParaRPr>
          </a:p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Монте-Карло и TD: ждать до конца или учиться сразу</a:t>
            </a:r>
            <a:endParaRPr>
              <a:solidFill>
                <a:schemeClr val="tx1"/>
              </a:solidFill>
              <a:latin typeface="Arial"/>
            </a:endParaRPr>
          </a:p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SARSA и Q-обучение: единая и разделённая стратегия</a:t>
            </a:r>
            <a:endParaRPr>
              <a:solidFill>
                <a:schemeClr val="tx1"/>
              </a:solidFill>
              <a:latin typeface="Arial"/>
            </a:endParaRPr>
          </a:p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Итоги и куда дальше: обобщение и продолжения</a:t>
            </a:r>
            <a:endParaRPr>
              <a:solidFill>
                <a:schemeClr val="tx1"/>
              </a:solidFill>
              <a:latin typeface="Arial"/>
            </a:endParaRPr>
          </a:p>
        </p:txBody>
      </p:sp>
      <p:sp>
        <p:nvSpPr>
          <p:cNvPr id="2109988540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Блоки лекции</a:t>
            </a:r>
            <a:endParaRPr/>
          </a:p>
        </p:txBody>
      </p:sp>
      <p:pic>
        <p:nvPicPr>
          <p:cNvPr id="1226795626" name="Рисунок 7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535863" y="1537618"/>
            <a:ext cx="3542815" cy="3726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637624" name="Прямоугольник: скругленные углы 5"/>
          <p:cNvSpPr/>
          <p:nvPr/>
        </p:nvSpPr>
        <p:spPr bwMode="auto">
          <a:xfrm>
            <a:off x="4664175" y="1376361"/>
            <a:ext cx="7092000" cy="42751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Познакомиться с обучением по опыту: агент учится </a:t>
            </a:r>
            <a:br>
              <a:rPr lang="ru-RU" sz="1800">
                <a:solidFill>
                  <a:schemeClr val="tx1"/>
                </a:solidFill>
                <a:latin typeface="Arial"/>
              </a:rPr>
            </a:br>
            <a:r>
              <a:rPr lang="ru-RU" sz="1800">
                <a:solidFill>
                  <a:schemeClr val="tx1"/>
                </a:solidFill>
                <a:latin typeface="Arial"/>
              </a:rPr>
              <a:t>на эпизодах, без модели среды</a:t>
            </a:r>
            <a:endParaRPr lang="ru-RU" sz="1800">
              <a:solidFill>
                <a:schemeClr val="tx1"/>
              </a:solidFill>
              <a:latin typeface="Arial"/>
            </a:endParaRPr>
          </a:p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Узнать два способа строить цель обновления: доход до конца эпизода и «шаг + γ × оценка дальше»</a:t>
            </a:r>
            <a:endParaRPr>
              <a:solidFill>
                <a:schemeClr val="tx1"/>
              </a:solidFill>
              <a:latin typeface="Arial"/>
            </a:endParaRPr>
          </a:p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Научиться различать единую и разделённую стратегию — на примере SARSA и Q-обучения</a:t>
            </a:r>
            <a:endParaRPr>
              <a:solidFill>
                <a:schemeClr val="tx1"/>
              </a:solidFill>
              <a:latin typeface="Arial"/>
            </a:endParaRPr>
          </a:p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Изучить гиперпараметры α, γ и ε: что каждый из них делает с обучением</a:t>
            </a:r>
            <a:endParaRPr>
              <a:solidFill>
                <a:schemeClr val="tx1"/>
              </a:solidFill>
              <a:latin typeface="Arial"/>
            </a:endParaRPr>
          </a:p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Познакомиться с продолжениями: TD(λ), исполнитель-критик, аппроксимация, каркасы</a:t>
            </a:r>
            <a:endParaRPr>
              <a:solidFill>
                <a:schemeClr val="tx1"/>
              </a:solidFill>
              <a:latin typeface="Arial"/>
            </a:endParaRPr>
          </a:p>
        </p:txBody>
      </p:sp>
      <p:sp>
        <p:nvSpPr>
          <p:cNvPr id="821303809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Цели лекции</a:t>
            </a:r>
            <a:endParaRPr/>
          </a:p>
        </p:txBody>
      </p:sp>
      <p:sp>
        <p:nvSpPr>
          <p:cNvPr id="1213456387" name="Прямоугольник: скругленные углы 1"/>
          <p:cNvSpPr/>
          <p:nvPr/>
        </p:nvSpPr>
        <p:spPr bwMode="auto">
          <a:xfrm>
            <a:off x="437261" y="1376361"/>
            <a:ext cx="4032000" cy="4275137"/>
          </a:xfrm>
          <a:prstGeom prst="roundRect">
            <a:avLst>
              <a:gd name="adj" fmla="val 34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1200"/>
          </a:p>
        </p:txBody>
      </p:sp>
      <p:pic>
        <p:nvPicPr>
          <p:cNvPr id="157127837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47535" y="2105613"/>
            <a:ext cx="3729544" cy="3545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47283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Итерация по ценностям: max вместо среднего</a:t>
            </a:r>
            <a:endParaRPr/>
          </a:p>
        </p:txBody>
      </p:sp>
      <p:sp>
        <p:nvSpPr>
          <p:cNvPr id="1567120030" name="Прямоугольник: скругленные углы 5"/>
          <p:cNvSpPr/>
          <p:nvPr/>
        </p:nvSpPr>
        <p:spPr bwMode="auto">
          <a:xfrm flipH="0" flipV="0">
            <a:off x="429767" y="1051560"/>
            <a:ext cx="11329416" cy="2191475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Отличие от оценки стратегии одно: вместо среднего по действиям стоит max — оценка и улучшение склеиваются в один проход.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На лабиринте: 10 проходов при θ = 0,1 против 233 у GPI — там каждую стратегию считали почти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до нуля.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Ответ тот же: v*(S6) = 3,40 — сверили оба способа.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Законно потому, что максимум тоже сжимает разницу: сходимость сохраняется.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389847879" name="Прямоугольник: скругленные углы 2"/>
          <p:cNvSpPr/>
          <p:nvPr/>
        </p:nvSpPr>
        <p:spPr bwMode="auto">
          <a:xfrm>
            <a:off x="429768" y="5221224"/>
            <a:ext cx="1133013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Точные ценности промежуточных стратегий никому не нужны</a:t>
            </a:r>
            <a:endParaRPr lang="ru-RU" sz="2000" b="1">
              <a:latin typeface="Arial"/>
            </a:endParaRPr>
          </a:p>
        </p:txBody>
      </p:sp>
      <p:pic>
        <p:nvPicPr>
          <p:cNvPr id="1222486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19737"/>
            <a:ext cx="468000" cy="468000"/>
          </a:xfrm>
          <a:prstGeom prst="rect">
            <a:avLst/>
          </a:prstGeom>
        </p:spPr>
      </p:pic>
      <p:pic>
        <p:nvPicPr>
          <p:cNvPr id="1252576528" name="Picture 2081775820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476755" y="3556634"/>
            <a:ext cx="9235440" cy="135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966734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Грабли этой скорости</a:t>
            </a:r>
            <a:endParaRPr/>
          </a:p>
        </p:txBody>
      </p:sp>
      <p:sp>
        <p:nvSpPr>
          <p:cNvPr id="826207107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Жадный выбор по незрелым ценностям даёт произвольные действия: промежуточная стратегия хорошей быть не обязана.</a:t>
            </a:r>
            <a:endParaRPr lang="ru-RU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Первый жадный шаг увёл вниз почти всё (S1–S8) — лучше, но ещё не оптимум.</a:t>
            </a:r>
            <a:endParaRPr lang="ru-RU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Критерий остановки остаётся прежним: изменения стали меньше порога.</a:t>
            </a:r>
            <a:endParaRPr lang="ru-RU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64569283" name="Прямоугольник: скругленные углы 2"/>
          <p:cNvSpPr/>
          <p:nvPr/>
        </p:nvSpPr>
        <p:spPr bwMode="auto">
          <a:xfrm>
            <a:off x="429768" y="5221224"/>
            <a:ext cx="1133013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Быстро — не значит «стратегия готова в любой момент»</a:t>
            </a:r>
            <a:endParaRPr lang="ru-RU" sz="2000" b="1">
              <a:latin typeface="Arial"/>
            </a:endParaRPr>
          </a:p>
        </p:txBody>
      </p:sp>
      <p:pic>
        <p:nvPicPr>
          <p:cNvPr id="92243991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19737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470743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Где метод кончается</a:t>
            </a:r>
            <a:endParaRPr/>
          </a:p>
        </p:txBody>
      </p:sp>
      <p:sp>
        <p:nvSpPr>
          <p:cNvPr id="314018171" name="Прямоугольник: скругленные углы 5"/>
          <p:cNvSpPr/>
          <p:nvPr/>
        </p:nvSpPr>
        <p:spPr bwMode="auto">
          <a:xfrm flipH="0" flipV="0">
            <a:off x="457200" y="1325880"/>
            <a:ext cx="4159049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Отсюда два следующих шага курса: убрать модель и ужать таблицу.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Метод не «плохой».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Он требует того, чего в реальных задачах обычно нет.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365089373" name="Прямоугольник: скругленные углы 2"/>
          <p:cNvSpPr/>
          <p:nvPr/>
        </p:nvSpPr>
        <p:spPr bwMode="auto">
          <a:xfrm>
            <a:off x="429768" y="5221224"/>
            <a:ext cx="11330496" cy="69753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Требования метода — это карта следующих лекций</a:t>
            </a:r>
            <a:endParaRPr lang="ru-RU" sz="2200" b="1">
              <a:latin typeface="Arial"/>
            </a:endParaRPr>
          </a:p>
        </p:txBody>
      </p:sp>
      <p:pic>
        <p:nvPicPr>
          <p:cNvPr id="62016004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35989"/>
            <a:ext cx="468000" cy="468000"/>
          </a:xfrm>
          <a:prstGeom prst="rect">
            <a:avLst/>
          </a:prstGeom>
        </p:spPr>
      </p:pic>
      <p:pic>
        <p:nvPicPr>
          <p:cNvPr id="990421617" name="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679613" y="1065892"/>
            <a:ext cx="7080650" cy="4155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973351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Зачем это в RL</a:t>
            </a:r>
            <a:endParaRPr/>
          </a:p>
        </p:txBody>
      </p:sp>
      <p:sp>
        <p:nvSpPr>
          <p:cNvPr id="1086186213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Цикл «оцени — улучши — снова оцени» лежит под всеми алгоритмами курса.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этой лекции меняем источник правой части: модель → опыт (TD-обновление — один шаг вместо суммы по модели).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21379240" name="Прямоугольник: скругленные углы 2"/>
          <p:cNvSpPr/>
          <p:nvPr/>
        </p:nvSpPr>
        <p:spPr bwMode="auto">
          <a:xfrm>
            <a:off x="429768" y="5221224"/>
            <a:ext cx="11339135" cy="69753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Тема представляет собой шаблон дальнейшей работы</a:t>
            </a:r>
            <a:endParaRPr lang="ru-RU" sz="2200" b="1">
              <a:latin typeface="Arial"/>
            </a:endParaRPr>
          </a:p>
        </p:txBody>
      </p:sp>
      <p:pic>
        <p:nvPicPr>
          <p:cNvPr id="197991761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35989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088889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Что стояло справа: модель среды</a:t>
            </a:r>
            <a:endParaRPr/>
          </a:p>
        </p:txBody>
      </p:sp>
      <p:sp>
        <p:nvSpPr>
          <p:cNvPr id="926760788" name="Прямоугольник: скругленные углы 5"/>
          <p:cNvSpPr/>
          <p:nvPr/>
        </p:nvSpPr>
        <p:spPr bwMode="auto">
          <a:xfrm flipH="0" flipV="0">
            <a:off x="457199" y="1325880"/>
            <a:ext cx="4272442" cy="437778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Уравнения Беллмана мы вывели в лекции 4, а в лекции 5 решали их по модели: оценка → улучшение → снова оценка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Оба раза правая часть была известна заранее — вероятности переходов p(s′|s, a)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Модель отвечает на вопрос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«что будет, если сделать шаг»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Сегодня её убираем: остаётся только то, что агент видел своими глазами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Что встанет на место модели — весь первый блок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794416522" name="Прямоугольник: скругленные углы 2"/>
          <p:cNvSpPr/>
          <p:nvPr/>
        </p:nvSpPr>
        <p:spPr bwMode="auto">
          <a:xfrm flipH="0" flipV="0">
            <a:off x="429767" y="5921753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Всё, что мы решали, было известно заранее</a:t>
            </a:r>
            <a:endParaRPr lang="ru-RU" sz="1600" b="1">
              <a:latin typeface="Arial"/>
            </a:endParaRPr>
          </a:p>
        </p:txBody>
      </p:sp>
      <p:pic>
        <p:nvPicPr>
          <p:cNvPr id="81794049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987763"/>
            <a:ext cx="468000" cy="468000"/>
          </a:xfrm>
          <a:prstGeom prst="rect">
            <a:avLst/>
          </a:prstGeom>
        </p:spPr>
      </p:pic>
      <p:pic>
        <p:nvPicPr>
          <p:cNvPr id="885326949" name="Picture 2081775820" descr="s_model_crossed.png"/>
          <p:cNvPicPr>
            <a:picLocks noChangeAspect="1"/>
          </p:cNvPicPr>
          <p:nvPr/>
        </p:nvPicPr>
        <p:blipFill rotWithShape="1">
          <a:blip r:embed="rId4"/>
          <a:srcRect l="0" t="25445" r="0" b="21275"/>
          <a:stretch/>
        </p:blipFill>
        <p:spPr bwMode="auto">
          <a:xfrm flipH="0" flipV="0">
            <a:off x="4854728" y="2222499"/>
            <a:ext cx="6941031" cy="23585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280172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Вместо модели — опыт</a:t>
            </a:r>
            <a:endParaRPr/>
          </a:p>
        </p:txBody>
      </p:sp>
      <p:sp>
        <p:nvSpPr>
          <p:cNvPr id="136198062" name="Прямоугольник: скругленные углы 5"/>
          <p:cNvSpPr/>
          <p:nvPr/>
        </p:nvSpPr>
        <p:spPr bwMode="auto">
          <a:xfrm flipH="0" flipV="0">
            <a:off x="457199" y="1455964"/>
            <a:ext cx="4374496" cy="3946071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Один шаг опыта — четыре величины: (s, a, r, s′)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Состояние, действие, вознаграждение, следующее состояние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Четвёрки приходят одна за другой — эпизод за эпизодом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Модель среды для этого не нужна: никто не сообщает вероятностей перехода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Что делать с этой лентой — весь первый блок лекции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244629265" name="Прямоугольник: скругленные углы 2"/>
          <p:cNvSpPr/>
          <p:nvPr/>
        </p:nvSpPr>
        <p:spPr bwMode="auto">
          <a:xfrm flipH="0" flipV="0">
            <a:off x="429767" y="5577940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Один шаг — четыре величины</a:t>
            </a:r>
            <a:endParaRPr lang="ru-RU" sz="1600" b="1">
              <a:latin typeface="Arial"/>
            </a:endParaRPr>
          </a:p>
        </p:txBody>
      </p:sp>
      <p:pic>
        <p:nvPicPr>
          <p:cNvPr id="1419957904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643950"/>
            <a:ext cx="468000" cy="468000"/>
          </a:xfrm>
          <a:prstGeom prst="rect">
            <a:avLst/>
          </a:prstGeom>
        </p:spPr>
      </p:pic>
      <p:pic>
        <p:nvPicPr>
          <p:cNvPr id="629715529" name="Picture 2081775820" descr="s_experience_ribbon.png"/>
          <p:cNvPicPr>
            <a:picLocks noChangeAspect="1"/>
          </p:cNvPicPr>
          <p:nvPr/>
        </p:nvPicPr>
        <p:blipFill rotWithShape="1">
          <a:blip r:embed="rId4"/>
          <a:srcRect l="0" t="21465" r="0" b="5352"/>
          <a:stretch/>
        </p:blipFill>
        <p:spPr bwMode="auto">
          <a:xfrm flipH="0" flipV="0">
            <a:off x="4847467" y="1807480"/>
            <a:ext cx="6948291" cy="3243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729631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Что именно учим: таблица Q</a:t>
            </a:r>
            <a:endParaRPr/>
          </a:p>
        </p:txBody>
      </p:sp>
      <p:sp>
        <p:nvSpPr>
          <p:cNvPr id="719407778" name="Прямоугольник: скругленные углы 5"/>
          <p:cNvSpPr/>
          <p:nvPr/>
        </p:nvSpPr>
        <p:spPr bwMode="auto">
          <a:xfrm flipH="0" flipV="0">
            <a:off x="457199" y="1325880"/>
            <a:ext cx="4295121" cy="4173673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Q(s, a) — оценка того, сколько можно получить, если в клетке s сделать действие a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Считать заранее нечего: таблица пока пустая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Для масштаба: 11 клеток ×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4 действия = 44 числа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Столько и нужно выучить — ничего больше от среды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не требуется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80190453" name="Прямоугольник: скругленные углы 2"/>
          <p:cNvSpPr/>
          <p:nvPr/>
        </p:nvSpPr>
        <p:spPr bwMode="auto">
          <a:xfrm flipH="0" flipV="0">
            <a:off x="429767" y="5802690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11 клеток на 4 действия</a:t>
            </a:r>
            <a:endParaRPr lang="ru-RU" sz="1600" b="1">
              <a:latin typeface="Arial"/>
            </a:endParaRPr>
          </a:p>
        </p:txBody>
      </p:sp>
      <p:pic>
        <p:nvPicPr>
          <p:cNvPr id="202695782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868700"/>
            <a:ext cx="468000" cy="468000"/>
          </a:xfrm>
          <a:prstGeom prst="rect">
            <a:avLst/>
          </a:prstGeom>
        </p:spPr>
      </p:pic>
      <p:pic>
        <p:nvPicPr>
          <p:cNvPr id="1236700556" name="Picture 2081775820" descr="s_q_table_empty.png"/>
          <p:cNvPicPr>
            <a:picLocks noChangeAspect="1"/>
          </p:cNvPicPr>
          <p:nvPr/>
        </p:nvPicPr>
        <p:blipFill rotWithShape="1">
          <a:blip r:embed="rId4"/>
          <a:srcRect l="0" t="18709" r="0" b="6885"/>
          <a:stretch/>
        </p:blipFill>
        <p:spPr bwMode="auto">
          <a:xfrm flipH="0" flipV="0">
            <a:off x="4842368" y="1973035"/>
            <a:ext cx="6953391" cy="32997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376529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Что нужно от среды</a:t>
            </a:r>
            <a:endParaRPr/>
          </a:p>
        </p:txBody>
      </p:sp>
      <p:sp>
        <p:nvSpPr>
          <p:cNvPr id="1160305093" name="Прямоугольник: скругленные углы 5"/>
          <p:cNvSpPr/>
          <p:nvPr/>
        </p:nvSpPr>
        <p:spPr bwMode="auto">
          <a:xfrm flipH="0" flipV="0">
            <a:off x="457199" y="1543503"/>
            <a:ext cx="4181728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Среда умеет начать эпизод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За каждый шаг отдаёт вознаграждение — у нас это −1 (соглашение Л3–Л5)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 сообщает, что эпизод закончился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Больше от неё ничего не нужно: наш environment.py с семинара 2 — ровно такая среда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495127484" name="Прямоугольник: скругленные углы 2"/>
          <p:cNvSpPr/>
          <p:nvPr/>
        </p:nvSpPr>
        <p:spPr bwMode="auto">
          <a:xfrm flipH="0" flipV="0">
            <a:off x="430931" y="5409950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Эпизод, вознаграждение, конец</a:t>
            </a:r>
            <a:endParaRPr lang="ru-RU" sz="1600" b="1">
              <a:latin typeface="Arial"/>
            </a:endParaRPr>
          </a:p>
        </p:txBody>
      </p:sp>
      <p:pic>
        <p:nvPicPr>
          <p:cNvPr id="165165950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9058" y="5475960"/>
            <a:ext cx="468000" cy="468000"/>
          </a:xfrm>
          <a:prstGeom prst="rect">
            <a:avLst/>
          </a:prstGeom>
        </p:spPr>
      </p:pic>
      <p:pic>
        <p:nvPicPr>
          <p:cNvPr id="951985396" name=""/>
          <p:cNvPicPr>
            <a:picLocks noChangeAspect="1"/>
          </p:cNvPicPr>
          <p:nvPr/>
        </p:nvPicPr>
        <p:blipFill rotWithShape="1">
          <a:blip r:embed="rId4"/>
          <a:srcRect l="1859" t="14715" r="1753" b="6503"/>
          <a:stretch/>
        </p:blipFill>
        <p:spPr bwMode="auto">
          <a:xfrm flipH="0" flipV="0">
            <a:off x="4778469" y="1597138"/>
            <a:ext cx="6810589" cy="3550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567469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Как из эпизода получить число?</a:t>
            </a:r>
            <a:endParaRPr/>
          </a:p>
        </p:txBody>
      </p:sp>
      <p:sp>
        <p:nvSpPr>
          <p:cNvPr id="1702923387" name="Прямоугольник: скругленные углы 5"/>
          <p:cNvSpPr/>
          <p:nvPr/>
        </p:nvSpPr>
        <p:spPr bwMode="auto">
          <a:xfrm flipH="0" flipV="0">
            <a:off x="457199" y="1678214"/>
            <a:ext cx="3456014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Слева — лента настоящих шагов: (s, a, r, s′) за шагом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Справа — пустая ячейка: число Q(s, a)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Между ними — вся оставшаяся лекция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Два ответа: ждать конца эпизода или учиться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на каждом шаге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116659102" name="Прямоугольник: скругленные углы 2"/>
          <p:cNvSpPr/>
          <p:nvPr/>
        </p:nvSpPr>
        <p:spPr bwMode="auto">
          <a:xfrm flipH="0" flipV="0">
            <a:off x="429767" y="5853717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У нас есть лента шагов — что с ней делать?</a:t>
            </a:r>
            <a:endParaRPr lang="ru-RU" sz="1600" b="1">
              <a:latin typeface="Arial"/>
            </a:endParaRPr>
          </a:p>
        </p:txBody>
      </p:sp>
      <p:pic>
        <p:nvPicPr>
          <p:cNvPr id="73138947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919727"/>
            <a:ext cx="468000" cy="468000"/>
          </a:xfrm>
          <a:prstGeom prst="rect">
            <a:avLst/>
          </a:prstGeom>
        </p:spPr>
      </p:pic>
      <p:pic>
        <p:nvPicPr>
          <p:cNvPr id="389801456" name="Picture 2081775820" descr="s_tie_in.png"/>
          <p:cNvPicPr>
            <a:picLocks noChangeAspect="1"/>
          </p:cNvPicPr>
          <p:nvPr/>
        </p:nvPicPr>
        <p:blipFill rotWithShape="1">
          <a:blip r:embed="rId4"/>
          <a:srcRect l="0" t="13810" r="0" b="3516"/>
          <a:stretch/>
        </p:blipFill>
        <p:spPr bwMode="auto">
          <a:xfrm flipH="0" flipV="0">
            <a:off x="4342268" y="1610178"/>
            <a:ext cx="7417634" cy="39111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152207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Монте-Карло: ждать до конца</a:t>
            </a:r>
            <a:endParaRPr/>
          </a:p>
        </p:txBody>
      </p:sp>
      <p:sp>
        <p:nvSpPr>
          <p:cNvPr id="1834901963" name="Прямоугольник: скругленные углы 5"/>
          <p:cNvSpPr/>
          <p:nvPr/>
        </p:nvSpPr>
        <p:spPr bwMode="auto">
          <a:xfrm>
            <a:off x="457200" y="1325880"/>
            <a:ext cx="5349240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Доход G — всё вознаграждение до конца эпизода; считаем с конца: G = r + γ · G_дальше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γ = 0,9, шаг r = −1: шаг в выход даёт G = −1 + 0,9 × 10 = 8,00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Дальше по цепочке: 6,20 · 4,58 · 3,12 · 1,81 — каждый шаг это −1 + 0,9 × предыдущий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Обновление: Q ← Q + α · (G − Q), α = 0,1 — оценка сдвигается к доходу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Цель известна только тогда, когда эпизод закончился</a:t>
            </a:r>
            <a:endParaRPr/>
          </a:p>
        </p:txBody>
      </p:sp>
      <p:sp>
        <p:nvSpPr>
          <p:cNvPr id="1174501351" name="Прямоугольник: скругленные углы 2"/>
          <p:cNvSpPr/>
          <p:nvPr/>
        </p:nvSpPr>
        <p:spPr bwMode="auto">
          <a:xfrm flipH="0" flipV="0">
            <a:off x="429767" y="5236497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Цель — доход за остаток эпизода</a:t>
            </a:r>
            <a:endParaRPr lang="ru-RU" sz="1600" b="1">
              <a:latin typeface="Arial"/>
            </a:endParaRPr>
          </a:p>
        </p:txBody>
      </p:sp>
      <p:pic>
        <p:nvPicPr>
          <p:cNvPr id="204999229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295464"/>
            <a:ext cx="468000" cy="468000"/>
          </a:xfrm>
          <a:prstGeom prst="rect">
            <a:avLst/>
          </a:prstGeom>
        </p:spPr>
      </p:pic>
      <p:pic>
        <p:nvPicPr>
          <p:cNvPr id="733640281" name="Picture 2081775820" descr="s_mc_route.png"/>
          <p:cNvPicPr>
            <a:picLocks noChangeAspect="1"/>
          </p:cNvPicPr>
          <p:nvPr/>
        </p:nvPicPr>
        <p:blipFill rotWithShape="1">
          <a:blip r:embed="rId4"/>
          <a:srcRect l="11504" t="26670" r="11355" b="0"/>
          <a:stretch/>
        </p:blipFill>
        <p:spPr bwMode="auto">
          <a:xfrm flipH="0" flipV="0">
            <a:off x="5989695" y="1405663"/>
            <a:ext cx="5769488" cy="34980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445372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704" cy="366120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Шаг обучения α</a:t>
            </a:r>
            <a:endParaRPr/>
          </a:p>
        </p:txBody>
      </p:sp>
      <p:sp>
        <p:nvSpPr>
          <p:cNvPr id="362590262" name="Прямоугольник: скругленные углы 5"/>
          <p:cNvSpPr/>
          <p:nvPr/>
        </p:nvSpPr>
        <p:spPr bwMode="auto">
          <a:xfrm flipH="0" flipV="0">
            <a:off x="457200" y="975731"/>
            <a:ext cx="5349240" cy="4390792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правиле обновления появилась буква </a:t>
            </a: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α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— та, что обещана в целях лекции; разберём сразу, чтобы дальше 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не спотыкаться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α — какая доля разницы «цель − оценка»</a:t>
            </a:r>
            <a:r>
              <a:rPr lang="en-US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уходит в оценку за один шаг: у нас α = 0,1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Оценка 0, цель 8,00: первый шаг даёт 0,80 — к цели идём десятыми долями,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а не одним прыжком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α = 1 — верим цели сразу, оценка прыгает; α = 0 — не учимся вовсе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Что бывает при большой α, увидим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на «Трёх ручках» (α = 0,5): стратегия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там начинает метаться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337532074" name="Прямоугольник: скругленные углы 2"/>
          <p:cNvSpPr/>
          <p:nvPr/>
        </p:nvSpPr>
        <p:spPr bwMode="auto">
          <a:xfrm flipH="0" flipV="0">
            <a:off x="429766" y="5543908"/>
            <a:ext cx="1133049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α — доля разницы, которую берём в оценку</a:t>
            </a:r>
            <a:endParaRPr lang="ru-RU" sz="1600" b="1">
              <a:latin typeface="Arial"/>
            </a:endParaRPr>
          </a:p>
        </p:txBody>
      </p:sp>
      <p:pic>
        <p:nvPicPr>
          <p:cNvPr id="1919014174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602695"/>
            <a:ext cx="468000" cy="468000"/>
          </a:xfrm>
          <a:prstGeom prst="rect">
            <a:avLst/>
          </a:prstGeom>
        </p:spPr>
      </p:pic>
      <p:pic>
        <p:nvPicPr>
          <p:cNvPr id="756853322" name="Picture 5"/>
          <p:cNvPicPr>
            <a:picLocks noChangeAspect="1"/>
          </p:cNvPicPr>
          <p:nvPr/>
        </p:nvPicPr>
        <p:blipFill rotWithShape="1">
          <a:blip r:embed="rId4"/>
          <a:srcRect l="1636" t="0" r="1353" b="10412"/>
          <a:stretch/>
        </p:blipFill>
        <p:spPr bwMode="auto">
          <a:xfrm flipH="0" flipV="0">
            <a:off x="6012837" y="1431595"/>
            <a:ext cx="5906684" cy="3479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6590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Чего Монте-Карло не может</a:t>
            </a:r>
            <a:endParaRPr/>
          </a:p>
        </p:txBody>
      </p:sp>
      <p:sp>
        <p:nvSpPr>
          <p:cNvPr id="1718842156" name="Прямоугольник: скругленные углы 5"/>
          <p:cNvSpPr/>
          <p:nvPr/>
        </p:nvSpPr>
        <p:spPr bwMode="auto">
          <a:xfrm flipH="0" flipV="0">
            <a:off x="457200" y="952499"/>
            <a:ext cx="4181728" cy="4762499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Пока эпизод не закончился, обновлять нечего: цели ещё нет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непрерывных задачах эпизода нет вовсе — ждать нечего никогда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Доход гуляет: сносы копятся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по всем шагам и складываются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шум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Тот же жадный маршрут из S1, 2000 прогонов: доход в среднем 0,64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Без сносов он давал 1,81; разброс от −6,29 до 1,81;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642 прогона из 2000 недобрали больше единицы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552843248" name="Прямоугольник: скругленные углы 2"/>
          <p:cNvSpPr/>
          <p:nvPr/>
        </p:nvSpPr>
        <p:spPr bwMode="auto">
          <a:xfrm flipH="0" flipV="0">
            <a:off x="429767" y="5836708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Три ограничения</a:t>
            </a:r>
            <a:endParaRPr lang="ru-RU" sz="1600" b="1">
              <a:latin typeface="Arial"/>
            </a:endParaRPr>
          </a:p>
        </p:txBody>
      </p:sp>
      <p:pic>
        <p:nvPicPr>
          <p:cNvPr id="735127079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899536"/>
            <a:ext cx="468000" cy="468000"/>
          </a:xfrm>
          <a:prstGeom prst="rect">
            <a:avLst/>
          </a:prstGeom>
        </p:spPr>
      </p:pic>
      <p:pic>
        <p:nvPicPr>
          <p:cNvPr id="1093726975" name="Picture 2081775820" descr="s_wait_cost.png"/>
          <p:cNvPicPr>
            <a:picLocks noChangeAspect="1"/>
          </p:cNvPicPr>
          <p:nvPr/>
        </p:nvPicPr>
        <p:blipFill rotWithShape="1">
          <a:blip r:embed="rId4"/>
          <a:srcRect l="0" t="28813" r="0" b="0"/>
          <a:stretch/>
        </p:blipFill>
        <p:spPr bwMode="auto">
          <a:xfrm flipH="0" flipV="0">
            <a:off x="4752746" y="1610178"/>
            <a:ext cx="7043013" cy="31976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662375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Временные разности: цель из двух частей</a:t>
            </a:r>
            <a:endParaRPr/>
          </a:p>
        </p:txBody>
      </p:sp>
      <p:sp>
        <p:nvSpPr>
          <p:cNvPr id="608222473" name="Прямоугольник: скругленные углы 5"/>
          <p:cNvSpPr/>
          <p:nvPr/>
        </p:nvSpPr>
        <p:spPr bwMode="auto">
          <a:xfrm flipH="0" flipV="0">
            <a:off x="457200" y="1099910"/>
            <a:ext cx="4442532" cy="3889374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Ц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ель собирается из двух частей: цель = r + γ · Q(s′, ·)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самом начале оценки нулевые: обычный шаг — цель = −1 + 0,9 × 0 = −1,00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Шаг в выход: цель = −1 + 0,9 × 10 =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8,00 — там стоит ценность выхода +10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TD-ошибка = цель − Q(s, a) — именно её мы и разгоняем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Обновление: Q ← Q + α · TD-ошибка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532045770" name="Прямоугольник: скругленные углы 2"/>
          <p:cNvSpPr/>
          <p:nvPr/>
        </p:nvSpPr>
        <p:spPr bwMode="auto">
          <a:xfrm flipH="0" flipV="0">
            <a:off x="430931" y="5167690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Шаг плюс оценка дальше</a:t>
            </a:r>
            <a:endParaRPr lang="ru-RU" sz="1600" b="1">
              <a:latin typeface="Arial"/>
            </a:endParaRPr>
          </a:p>
        </p:txBody>
      </p:sp>
      <p:pic>
        <p:nvPicPr>
          <p:cNvPr id="83383076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9683" y="5241857"/>
            <a:ext cx="468000" cy="468000"/>
          </a:xfrm>
          <a:prstGeom prst="rect">
            <a:avLst/>
          </a:prstGeom>
        </p:spPr>
      </p:pic>
      <p:pic>
        <p:nvPicPr>
          <p:cNvPr id="252715581" name="Picture 2081775820" descr="s_td_step.png"/>
          <p:cNvPicPr>
            <a:picLocks noChangeAspect="1"/>
          </p:cNvPicPr>
          <p:nvPr/>
        </p:nvPicPr>
        <p:blipFill rotWithShape="1">
          <a:blip r:embed="rId4"/>
          <a:srcRect l="3497" t="22383" r="2763" b="0"/>
          <a:stretch/>
        </p:blipFill>
        <p:spPr bwMode="auto">
          <a:xfrm flipH="0" flipV="0">
            <a:off x="5126517" y="1620784"/>
            <a:ext cx="6508749" cy="34372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298567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Учиться по ходу</a:t>
            </a:r>
            <a:endParaRPr/>
          </a:p>
        </p:txBody>
      </p:sp>
      <p:sp>
        <p:nvSpPr>
          <p:cNvPr id="1927595340" name="Прямоугольник: скругленные углы 5"/>
          <p:cNvSpPr/>
          <p:nvPr/>
        </p:nvSpPr>
        <p:spPr bwMode="auto">
          <a:xfrm flipH="0" flipV="0">
            <a:off x="457200" y="1325880"/>
            <a:ext cx="4068335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Монте-Карло: обновление одно — после эпизода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TD: обновление на каждом шаге — прошли шаг, поправили Q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Развязку ждать не нужно: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TD учится по ходу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Цена: цель TD опирается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на незрелые оценки и может уводить в сторону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502832373" name="Прямоугольник: скругленные углы 2"/>
          <p:cNvSpPr/>
          <p:nvPr/>
        </p:nvSpPr>
        <p:spPr bwMode="auto">
          <a:xfrm flipH="0" flipV="0">
            <a:off x="429767" y="5166146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Один и тот же эпизод — два момента обновления</a:t>
            </a:r>
            <a:endParaRPr lang="ru-RU" sz="1600" b="1">
              <a:latin typeface="Arial"/>
            </a:endParaRPr>
          </a:p>
        </p:txBody>
      </p:sp>
      <p:pic>
        <p:nvPicPr>
          <p:cNvPr id="39227516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232156"/>
            <a:ext cx="468000" cy="468000"/>
          </a:xfrm>
          <a:prstGeom prst="rect">
            <a:avLst/>
          </a:prstGeom>
        </p:spPr>
      </p:pic>
      <p:pic>
        <p:nvPicPr>
          <p:cNvPr id="1799867118" name="Picture 2081775820" descr="s_two_ribbons.png"/>
          <p:cNvPicPr>
            <a:picLocks noChangeAspect="1"/>
          </p:cNvPicPr>
          <p:nvPr/>
        </p:nvPicPr>
        <p:blipFill rotWithShape="1">
          <a:blip r:embed="rId4"/>
          <a:srcRect l="0" t="24221" r="0" b="0"/>
          <a:stretch/>
        </p:blipFill>
        <p:spPr bwMode="auto">
          <a:xfrm flipH="0" flipV="0">
            <a:off x="4581629" y="1411331"/>
            <a:ext cx="7214130" cy="34866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0669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Смещение и разброс: чем платим</a:t>
            </a:r>
            <a:endParaRPr/>
          </a:p>
        </p:txBody>
      </p:sp>
      <p:sp>
        <p:nvSpPr>
          <p:cNvPr id="606423777" name="Прямоугольник: скругленные углы 5"/>
          <p:cNvSpPr/>
          <p:nvPr/>
        </p:nvSpPr>
        <p:spPr bwMode="auto">
          <a:xfrm flipH="0" flipV="0">
            <a:off x="457199" y="1325880"/>
            <a:ext cx="4204406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МК: цель — полный доход за эпизод; оценка несмещённая,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но шумная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TD: цель — шаг + γ × своя же оценка; оценка смещена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Сносы копятся по всем шагам — отсюда разброс дохода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Своя ошибка переносится в цель — отсюда смещение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814907653" name="Прямоугольник: скругленные углы 2"/>
          <p:cNvSpPr/>
          <p:nvPr/>
        </p:nvSpPr>
        <p:spPr bwMode="auto">
          <a:xfrm flipH="0" flipV="0">
            <a:off x="429767" y="5236497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Цель TD опирается на свою оценку, цель Монте-Карло — на факт</a:t>
            </a:r>
            <a:endParaRPr lang="ru-RU" sz="1600" b="1">
              <a:latin typeface="Arial"/>
            </a:endParaRPr>
          </a:p>
        </p:txBody>
      </p:sp>
      <p:pic>
        <p:nvPicPr>
          <p:cNvPr id="14882041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295464"/>
            <a:ext cx="468000" cy="468000"/>
          </a:xfrm>
          <a:prstGeom prst="rect">
            <a:avLst/>
          </a:prstGeom>
        </p:spPr>
      </p:pic>
      <p:pic>
        <p:nvPicPr>
          <p:cNvPr id="195153520" name="Picture 2081775820" descr="s_two_bells.png"/>
          <p:cNvPicPr>
            <a:picLocks noChangeAspect="1"/>
          </p:cNvPicPr>
          <p:nvPr/>
        </p:nvPicPr>
        <p:blipFill rotWithShape="1">
          <a:blip r:embed="rId4"/>
          <a:srcRect l="1837" t="32794" r="1590" b="8108"/>
          <a:stretch/>
        </p:blipFill>
        <p:spPr bwMode="auto">
          <a:xfrm flipH="0" flipV="0">
            <a:off x="4788597" y="1805304"/>
            <a:ext cx="6914705" cy="269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541475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Обрыв эпизода</a:t>
            </a:r>
            <a:endParaRPr/>
          </a:p>
        </p:txBody>
      </p:sp>
      <p:sp>
        <p:nvSpPr>
          <p:cNvPr id="428356129" name="Прямоугольник: скругленные углы 5"/>
          <p:cNvSpPr/>
          <p:nvPr/>
        </p:nvSpPr>
        <p:spPr bwMode="auto">
          <a:xfrm flipH="0" flipV="0">
            <a:off x="457200" y="1325880"/>
            <a:ext cx="3898245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Обычный шаг: цель =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r + γ · Q(s′, ·)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— за ним своя оценка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Шаг в терминал: цель =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r + γ · v(терминала)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— дальше ничего нет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Наш выход: цель = −1 + 0,9 × 10 = 8,00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Если в терминале спрашивать «а что дальше», обучение уезжает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290666437" name="Прямоугольник: скругленные углы 2"/>
          <p:cNvSpPr/>
          <p:nvPr/>
        </p:nvSpPr>
        <p:spPr bwMode="auto">
          <a:xfrm flipH="0" flipV="0">
            <a:off x="429767" y="5183922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В терминале дальше ничего нет</a:t>
            </a:r>
            <a:endParaRPr lang="ru-RU" sz="1600" b="1">
              <a:latin typeface="Arial"/>
            </a:endParaRPr>
          </a:p>
        </p:txBody>
      </p:sp>
      <p:pic>
        <p:nvPicPr>
          <p:cNvPr id="25130682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249932"/>
            <a:ext cx="468000" cy="468000"/>
          </a:xfrm>
          <a:prstGeom prst="rect">
            <a:avLst/>
          </a:prstGeom>
        </p:spPr>
      </p:pic>
      <p:pic>
        <p:nvPicPr>
          <p:cNvPr id="587491498" name="Picture 2081775820" descr="s_terminal.png"/>
          <p:cNvPicPr>
            <a:picLocks noChangeAspect="1"/>
          </p:cNvPicPr>
          <p:nvPr/>
        </p:nvPicPr>
        <p:blipFill rotWithShape="1">
          <a:blip r:embed="rId4"/>
          <a:srcRect l="5059" t="24527" r="2177" b="15459"/>
          <a:stretch/>
        </p:blipFill>
        <p:spPr bwMode="auto">
          <a:xfrm flipH="0" flipV="0">
            <a:off x="4627589" y="1641427"/>
            <a:ext cx="7041696" cy="2905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688720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Что показывают числа</a:t>
            </a:r>
            <a:endParaRPr/>
          </a:p>
        </p:txBody>
      </p:sp>
      <p:sp>
        <p:nvSpPr>
          <p:cNvPr id="212278549" name="Прямоугольник: скругленные углы 5"/>
          <p:cNvSpPr/>
          <p:nvPr/>
        </p:nvSpPr>
        <p:spPr bwMode="auto">
          <a:xfrm flipH="0" flipV="0">
            <a:off x="457199" y="1325880"/>
            <a:ext cx="3886907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Ошибка |Q − q*| — среднее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по 44 парам (s, a)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Монте-Карло: 2,54 → 0,89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SARSA: 2,55 → 1,30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Q-обучение: 2,52 → 0,94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Порог 2,00: МК — 53-й эпизод, Q-обучение — 132-й,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SARSA — 266-й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Кривые близки: методам на простом лабиринте негде разойтись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217236596" name="Прямоугольник: скругленные углы 2"/>
          <p:cNvSpPr/>
          <p:nvPr/>
        </p:nvSpPr>
        <p:spPr bwMode="auto">
          <a:xfrm flipH="0" flipV="0">
            <a:off x="429767" y="5247837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Обучение с нулей: α = 0,1, ε = 0,1, 1000 эпизодов</a:t>
            </a:r>
            <a:endParaRPr lang="ru-RU" sz="1600" b="1">
              <a:latin typeface="Arial"/>
            </a:endParaRPr>
          </a:p>
        </p:txBody>
      </p:sp>
      <p:pic>
        <p:nvPicPr>
          <p:cNvPr id="1434271396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06803"/>
            <a:ext cx="468000" cy="468000"/>
          </a:xfrm>
          <a:prstGeom prst="rect">
            <a:avLst/>
          </a:prstGeom>
        </p:spPr>
      </p:pic>
      <p:pic>
        <p:nvPicPr>
          <p:cNvPr id="1516399091" name="Picture 2081775820" descr="s_learning_curves.png"/>
          <p:cNvPicPr>
            <a:picLocks noChangeAspect="1"/>
          </p:cNvPicPr>
          <p:nvPr/>
        </p:nvPicPr>
        <p:blipFill rotWithShape="1">
          <a:blip r:embed="rId4"/>
          <a:srcRect l="4474" t="20546" r="0" b="0"/>
          <a:stretch/>
        </p:blipFill>
        <p:spPr bwMode="auto">
          <a:xfrm flipH="0" flipV="0">
            <a:off x="4706964" y="1222989"/>
            <a:ext cx="7088795" cy="37604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380450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Единая стратегия: учимся про свою</a:t>
            </a:r>
            <a:endParaRPr/>
          </a:p>
        </p:txBody>
      </p:sp>
      <p:sp>
        <p:nvSpPr>
          <p:cNvPr id="78457175" name="Прямоугольник: скругленные углы 5"/>
          <p:cNvSpPr/>
          <p:nvPr/>
        </p:nvSpPr>
        <p:spPr bwMode="auto">
          <a:xfrm flipH="0" flipV="0">
            <a:off x="457199" y="929821"/>
            <a:ext cx="5757888" cy="4053658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Цель собирается из шага и дисконтированной оценки выбранной пары: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цель = r + γ · Q(s′, a′)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a′ — действие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, которое наша стратегия реально выбрала в следующем состоянии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Учимся </a:t>
            </a: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про ту же стратегию, которой действуем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, — это единая стратегия (on-policy)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Имя — просто </a:t>
            </a: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склейка пяти букв: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State, Action, Reward, State, Action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Обновление: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Q(s, a) ← Q(s, a) + α · [цель − Q(s, a)]; γ = 0,9 — как в лекциях 3 и 5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502517311" name="Прямоугольник: скругленные углы 2"/>
          <p:cNvSpPr/>
          <p:nvPr/>
        </p:nvSpPr>
        <p:spPr bwMode="auto">
          <a:xfrm flipH="0" flipV="0">
            <a:off x="429767" y="5253506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Цель SARSA — шаг плюс оценка выбранной пары</a:t>
            </a:r>
            <a:endParaRPr lang="ru-RU" sz="1600" b="1">
              <a:latin typeface="Arial"/>
            </a:endParaRPr>
          </a:p>
        </p:txBody>
      </p:sp>
      <p:pic>
        <p:nvPicPr>
          <p:cNvPr id="136712057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19516"/>
            <a:ext cx="468000" cy="468000"/>
          </a:xfrm>
          <a:prstGeom prst="rect">
            <a:avLst/>
          </a:prstGeom>
        </p:spPr>
      </p:pic>
      <p:pic>
        <p:nvPicPr>
          <p:cNvPr id="1829393000" name="Picture 2081775820" descr="s_sarsa_pentad.png"/>
          <p:cNvPicPr>
            <a:picLocks noChangeAspect="1"/>
          </p:cNvPicPr>
          <p:nvPr/>
        </p:nvPicPr>
        <p:blipFill rotWithShape="1">
          <a:blip r:embed="rId4"/>
          <a:srcRect l="1811" t="0" r="629" b="0"/>
          <a:stretch/>
        </p:blipFill>
        <p:spPr bwMode="auto">
          <a:xfrm flipH="0" flipV="0">
            <a:off x="6301964" y="1104990"/>
            <a:ext cx="5525254" cy="36121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955754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Наш ε-шум входит в цель SARSA</a:t>
            </a:r>
            <a:endParaRPr/>
          </a:p>
        </p:txBody>
      </p:sp>
      <p:sp>
        <p:nvSpPr>
          <p:cNvPr id="270982381" name="Прямоугольник: скругленные углы 5"/>
          <p:cNvSpPr/>
          <p:nvPr/>
        </p:nvSpPr>
        <p:spPr bwMode="auto">
          <a:xfrm flipH="0" flipV="0">
            <a:off x="457199" y="941160"/>
            <a:ext cx="11329416" cy="2029731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1600" b="1">
                <a:solidFill>
                  <a:schemeClr val="accent4"/>
                </a:solidFill>
                <a:latin typeface="Arial"/>
              </a:rPr>
              <a:t>Четыре оценки действий клетки S10 —</a:t>
            </a:r>
            <a:r>
              <a:rPr lang="ru-RU" sz="1600" b="0">
                <a:solidFill>
                  <a:schemeClr val="accent4"/>
                </a:solidFill>
                <a:latin typeface="Arial"/>
              </a:rPr>
              <a:t> из снимка после 100 эпизодов; «вниз» уводит за край — там срыв, −100 (что за край — через два слайда)</a:t>
            </a: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1600" b="1">
                <a:solidFill>
                  <a:schemeClr val="accent4"/>
                </a:solidFill>
                <a:latin typeface="Arial"/>
              </a:rPr>
              <a:t>Девять раз из десяти берём лучшее действие, один раз — случайное:</a:t>
            </a:r>
            <a:r>
              <a:rPr lang="ru-RU" sz="1600" b="0">
                <a:solidFill>
                  <a:schemeClr val="accent4"/>
                </a:solidFill>
                <a:latin typeface="Arial"/>
              </a:rPr>
              <a:t> наш ε-шум входит прямо в цель</a:t>
            </a: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1600" b="1">
                <a:solidFill>
                  <a:schemeClr val="accent4"/>
                </a:solidFill>
                <a:latin typeface="Arial"/>
              </a:rPr>
              <a:t>Отсюда три цели на рисунке: </a:t>
            </a:r>
            <a:r>
              <a:rPr lang="ru-RU" sz="1600" b="0">
                <a:solidFill>
                  <a:schemeClr val="accent4"/>
                </a:solidFill>
                <a:latin typeface="Arial"/>
              </a:rPr>
              <a:t>3,91 — по лучшему действию; −23,19 — если случай выпал на «вниз»; 2,98 — средняя цель SARSA</a:t>
            </a:r>
            <a:endParaRPr sz="2200"/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600" b="1">
                <a:solidFill>
                  <a:schemeClr val="accent4"/>
                </a:solidFill>
                <a:latin typeface="Arial"/>
              </a:rPr>
              <a:t>Средняя цель ниже: </a:t>
            </a:r>
            <a:r>
              <a:rPr lang="ru-RU" sz="1600" b="0">
                <a:solidFill>
                  <a:schemeClr val="accent4"/>
                </a:solidFill>
                <a:latin typeface="Arial"/>
              </a:rPr>
              <a:t>SARSA заранее учитывает, что иногда оступится сам, — отсюда его осторожность</a:t>
            </a:r>
            <a:endParaRPr lang="ru-RU" sz="16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281540429" name="Прямоугольник: скругленные углы 2"/>
          <p:cNvSpPr/>
          <p:nvPr/>
        </p:nvSpPr>
        <p:spPr bwMode="auto">
          <a:xfrm flipH="0" flipV="0">
            <a:off x="429767" y="5537771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Ошибёмся в оценке — цель это почувствует</a:t>
            </a:r>
            <a:endParaRPr lang="ru-RU" sz="1600" b="1">
              <a:latin typeface="Arial"/>
            </a:endParaRPr>
          </a:p>
        </p:txBody>
      </p:sp>
      <p:pic>
        <p:nvPicPr>
          <p:cNvPr id="135527166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603781"/>
            <a:ext cx="468000" cy="468000"/>
          </a:xfrm>
          <a:prstGeom prst="rect">
            <a:avLst/>
          </a:prstGeom>
        </p:spPr>
      </p:pic>
      <p:pic>
        <p:nvPicPr>
          <p:cNvPr id="606457076" name=""/>
          <p:cNvPicPr>
            <a:picLocks noChangeAspect="1"/>
          </p:cNvPicPr>
          <p:nvPr/>
        </p:nvPicPr>
        <p:blipFill rotWithShape="1">
          <a:blip r:embed="rId4"/>
          <a:srcRect l="0" t="5757" r="11448" b="0"/>
          <a:stretch/>
        </p:blipFill>
        <p:spPr bwMode="auto">
          <a:xfrm flipH="0" flipV="0">
            <a:off x="723827" y="3122839"/>
            <a:ext cx="10796160" cy="2207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746127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Разделённая стратегия: учимся про лучшую</a:t>
            </a:r>
            <a:endParaRPr/>
          </a:p>
        </p:txBody>
      </p:sp>
      <p:sp>
        <p:nvSpPr>
          <p:cNvPr id="693667110" name="Прямоугольник: скругленные углы 5"/>
          <p:cNvSpPr/>
          <p:nvPr/>
        </p:nvSpPr>
        <p:spPr bwMode="auto">
          <a:xfrm>
            <a:off x="457200" y="1019719"/>
            <a:ext cx="11329416" cy="169164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defRPr/>
            </a:pP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Тот же переход, но цель другая: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не оценка выбранной пары, а максимум по всем действиям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defRPr/>
            </a:pP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Q-обучение: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цель = −1,00 + 0,9 × max(−0,35; −24,66; 0,13; 5,46) = 3,91 — это тот же снимок клетки S10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defRPr/>
            </a:pP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У SARSA в среднем было 2,98: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разница только в том, что стоит справа от плюса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defRPr/>
            </a:pP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Стратегия обучения отделена от стратегии поведения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— это разделённая стратегия (off-policy)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863217746" name="Прямоугольник: скругленные углы 2"/>
          <p:cNvSpPr/>
          <p:nvPr/>
        </p:nvSpPr>
        <p:spPr bwMode="auto">
          <a:xfrm flipH="0" flipV="0">
            <a:off x="429767" y="5275317"/>
            <a:ext cx="11330855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Цель Q-обучения — шаг плюс максимум по действиям</a:t>
            </a:r>
            <a:endParaRPr lang="ru-RU" sz="1600" b="1">
              <a:latin typeface="Arial"/>
            </a:endParaRPr>
          </a:p>
        </p:txBody>
      </p:sp>
      <p:pic>
        <p:nvPicPr>
          <p:cNvPr id="49634247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41327"/>
            <a:ext cx="468000" cy="468000"/>
          </a:xfrm>
          <a:prstGeom prst="rect">
            <a:avLst/>
          </a:prstGeom>
        </p:spPr>
      </p:pic>
      <p:pic>
        <p:nvPicPr>
          <p:cNvPr id="346630165" name="Picture 2081775820" descr="s_two_targets.png"/>
          <p:cNvPicPr>
            <a:picLocks noChangeAspect="1"/>
          </p:cNvPicPr>
          <p:nvPr/>
        </p:nvPicPr>
        <p:blipFill rotWithShape="1">
          <a:blip r:embed="rId4"/>
          <a:srcRect l="1762" t="11192" r="1173" b="0"/>
          <a:stretch/>
        </p:blipFill>
        <p:spPr bwMode="auto">
          <a:xfrm flipH="0" flipV="0">
            <a:off x="639195" y="3084285"/>
            <a:ext cx="10965425" cy="19276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079074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Наш пример риска: вариант «край»</a:t>
            </a:r>
            <a:endParaRPr/>
          </a:p>
        </p:txBody>
      </p:sp>
      <p:sp>
        <p:nvSpPr>
          <p:cNvPr id="2021090230" name="Прямоугольник: скругленные углы 5"/>
          <p:cNvSpPr/>
          <p:nvPr/>
        </p:nvSpPr>
        <p:spPr bwMode="auto">
          <a:xfrm flipH="0" flipV="0">
            <a:off x="457199" y="1167946"/>
            <a:ext cx="6279496" cy="3815533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Старт S9; нижний ряд S9 / S10 / S11 — край: действие «вниз» уводит в срыв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Ценность срыва −100, поэтому шаг вниз из S9 стоит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−1 + 0,9 × (−100) = −91,00, а сама клетка при верной игре — 3,06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По краю путь короткий — 3 шага: 9 → 10 → 11 → 12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Сверху путь безопасный, но на два шага длиннее — 5 шагов: 9 → 5 → 6 → 7 → 8 → 12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Это наш собственный вариант для сегодняшней лекции; основной лабиринт лекций 4 и 5 не трогаем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657146410" name="Прямоугольник: скругленные углы 2"/>
          <p:cNvSpPr/>
          <p:nvPr/>
        </p:nvSpPr>
        <p:spPr bwMode="auto">
          <a:xfrm flipH="0" flipV="0">
            <a:off x="429767" y="5298864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По краю — три шага, сверху — пять</a:t>
            </a:r>
            <a:endParaRPr lang="ru-RU" sz="1600" b="1">
              <a:latin typeface="Arial"/>
            </a:endParaRPr>
          </a:p>
        </p:txBody>
      </p:sp>
      <p:pic>
        <p:nvPicPr>
          <p:cNvPr id="123450755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64873"/>
            <a:ext cx="468000" cy="468000"/>
          </a:xfrm>
          <a:prstGeom prst="rect">
            <a:avLst/>
          </a:prstGeom>
        </p:spPr>
      </p:pic>
      <p:pic>
        <p:nvPicPr>
          <p:cNvPr id="1850618153" name="Picture 2081775820" descr="s_cliff_plan.png"/>
          <p:cNvPicPr>
            <a:picLocks noChangeAspect="1"/>
          </p:cNvPicPr>
          <p:nvPr/>
        </p:nvPicPr>
        <p:blipFill rotWithShape="1">
          <a:blip r:embed="rId4"/>
          <a:srcRect l="13847" t="18403" r="13700" b="4129"/>
          <a:stretch/>
        </p:blipFill>
        <p:spPr bwMode="auto">
          <a:xfrm flipH="0" flipV="0">
            <a:off x="6793392" y="1444159"/>
            <a:ext cx="4965791" cy="33863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176111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Два характера на одной среде</a:t>
            </a:r>
            <a:endParaRPr/>
          </a:p>
        </p:txBody>
      </p:sp>
      <p:sp>
        <p:nvSpPr>
          <p:cNvPr id="2027335041" name="Прямоугольник: скругленные углы 5"/>
          <p:cNvSpPr/>
          <p:nvPr/>
        </p:nvSpPr>
        <p:spPr bwMode="auto">
          <a:xfrm flipH="0" flipV="0">
            <a:off x="457199" y="975177"/>
            <a:ext cx="11329416" cy="2042341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6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Одна и та же среда, две выученные стратегии:</a:t>
            </a:r>
            <a:r>
              <a:rPr lang="ru-RU" sz="16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SARSA обходит сверху, Q-обучение идёт вдоль края</a:t>
            </a:r>
            <a:endParaRPr lang="ru-RU" sz="16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6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Ошибка |Q − q*| на 1000-м эпизоде:</a:t>
            </a:r>
            <a:r>
              <a:rPr lang="ru-RU" sz="16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у SARSA 8,00 → 2,85, у Q-обучения 8,01 → 1,69</a:t>
            </a:r>
            <a:endParaRPr lang="ru-RU" sz="16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6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Верных жадных действий меньше — 4 из 11 против 7, </a:t>
            </a:r>
            <a:r>
              <a:rPr lang="ru-RU" sz="16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но итоговая ошибка |Q − q*| у Q-обучения ниже</a:t>
            </a:r>
            <a:r>
              <a:rPr lang="ru-RU" sz="16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: 1,69 против 2,85</a:t>
            </a:r>
            <a:endParaRPr lang="ru-RU" sz="16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6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Это не «кто умнее»:</a:t>
            </a:r>
            <a:r>
              <a:rPr lang="ru-RU" sz="16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один учится про свою стратегию, другой про лучшую, — и задачи у них разные</a:t>
            </a:r>
            <a:endParaRPr lang="ru-RU" sz="16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6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 это не случай одного сида:</a:t>
            </a:r>
            <a:r>
              <a:rPr lang="ru-RU" sz="16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на всех шести сидах SARSA срывается реже, а Q-обучение уходит по краю</a:t>
            </a:r>
            <a:endParaRPr lang="ru-RU" sz="16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708438287" name="Прямоугольник: скругленные углы 2"/>
          <p:cNvSpPr/>
          <p:nvPr/>
        </p:nvSpPr>
        <p:spPr bwMode="auto">
          <a:xfrm flipH="0" flipV="0">
            <a:off x="429767" y="5336384"/>
            <a:ext cx="11330855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Один край, две выученные стратегии</a:t>
            </a:r>
            <a:endParaRPr lang="ru-RU" sz="1600" b="1">
              <a:latin typeface="Arial"/>
            </a:endParaRPr>
          </a:p>
        </p:txBody>
      </p:sp>
      <p:pic>
        <p:nvPicPr>
          <p:cNvPr id="1983711039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408839"/>
            <a:ext cx="468000" cy="468000"/>
          </a:xfrm>
          <a:prstGeom prst="rect">
            <a:avLst/>
          </a:prstGeom>
        </p:spPr>
      </p:pic>
      <p:pic>
        <p:nvPicPr>
          <p:cNvPr id="1105617246" name="Picture 2081775820" descr="s_two_maps.png"/>
          <p:cNvPicPr>
            <a:picLocks noChangeAspect="1"/>
          </p:cNvPicPr>
          <p:nvPr/>
        </p:nvPicPr>
        <p:blipFill rotWithShape="1">
          <a:blip r:embed="rId4"/>
          <a:srcRect l="1762" t="7246" r="1498" b="0"/>
          <a:stretch/>
        </p:blipFill>
        <p:spPr bwMode="auto">
          <a:xfrm flipH="0" flipV="0">
            <a:off x="437697" y="3209017"/>
            <a:ext cx="11325540" cy="20864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865172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Цена осторожности и смелости</a:t>
            </a:r>
            <a:endParaRPr/>
          </a:p>
        </p:txBody>
      </p:sp>
      <p:sp>
        <p:nvSpPr>
          <p:cNvPr id="1406576471" name="Прямоугольник: скругленные углы 5"/>
          <p:cNvSpPr/>
          <p:nvPr/>
        </p:nvSpPr>
        <p:spPr bwMode="auto">
          <a:xfrm flipH="0" flipV="0">
            <a:off x="457199" y="1020535"/>
            <a:ext cx="11329416" cy="1996984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Всё за 1000 эпизодов: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вариант «край», α = 0,1, ε = 0,1, сид 7 — три числа в таблице на рисунке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Срывов за обучение: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осторожный срывается реже, зато идёт длинным путём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Доход выученной жадной стратегии: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смелый зарабатывает заметно больше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Если продолжать действовать с исследованием (ε = 0,1), оба в минусе — и </a:t>
            </a: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смелый теряет больше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Вот весь компромисс: </a:t>
            </a: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смелость 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— короткий путь и доход, </a:t>
            </a: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осторожность 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— меньше срывов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158377198" name="Прямоугольник: скругленные углы 2"/>
          <p:cNvSpPr/>
          <p:nvPr/>
        </p:nvSpPr>
        <p:spPr bwMode="auto">
          <a:xfrm flipH="0" flipV="0">
            <a:off x="429767" y="5293194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Всё за 1000 эпизодов</a:t>
            </a:r>
            <a:endParaRPr lang="ru-RU" sz="1600" b="1">
              <a:latin typeface="Arial"/>
            </a:endParaRPr>
          </a:p>
        </p:txBody>
      </p:sp>
      <p:pic>
        <p:nvPicPr>
          <p:cNvPr id="7863018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59204"/>
            <a:ext cx="468000" cy="468000"/>
          </a:xfrm>
          <a:prstGeom prst="rect">
            <a:avLst/>
          </a:prstGeom>
        </p:spPr>
      </p:pic>
      <p:pic>
        <p:nvPicPr>
          <p:cNvPr id="1939238043" name="Picture 2081775820" descr="s_price_tabl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8680" y="3063240"/>
            <a:ext cx="10469880" cy="2011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421908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То же явление: край из Sutton &amp; Barto</a:t>
            </a:r>
            <a:endParaRPr/>
          </a:p>
        </p:txBody>
      </p:sp>
      <p:sp>
        <p:nvSpPr>
          <p:cNvPr id="1681021628" name="Прямоугольник: скругленные углы 5"/>
          <p:cNvSpPr/>
          <p:nvPr/>
        </p:nvSpPr>
        <p:spPr bwMode="auto">
          <a:xfrm flipH="0" flipV="0">
            <a:off x="457199" y="1167946"/>
            <a:ext cx="11329416" cy="1849573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Классический cliff walking: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сетка-коридор, а вдоль нижней границы — пропасть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Картина один в один с нашей, только сетка другая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Среда другая — механизм тот же: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разделённая стратегия смело идёт по краю, единая учитывает, что иногда оступится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Значит, осторожность </a:t>
            </a: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SARSA — свойство самого подхода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, а не особенность нашего лабиринта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445453548" name="Прямоугольник: скругленные углы 2"/>
          <p:cNvSpPr/>
          <p:nvPr/>
        </p:nvSpPr>
        <p:spPr bwMode="auto">
          <a:xfrm>
            <a:off x="429768" y="5221224"/>
            <a:ext cx="11329416" cy="123444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То же явление на другой сетке</a:t>
            </a:r>
            <a:endParaRPr lang="ru-RU" sz="1600" b="1">
              <a:latin typeface="Arial"/>
            </a:endParaRPr>
          </a:p>
        </p:txBody>
      </p:sp>
      <p:pic>
        <p:nvPicPr>
          <p:cNvPr id="154355046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431536"/>
            <a:ext cx="468000" cy="468000"/>
          </a:xfrm>
          <a:prstGeom prst="rect">
            <a:avLst/>
          </a:prstGeom>
        </p:spPr>
      </p:pic>
      <p:pic>
        <p:nvPicPr>
          <p:cNvPr id="731890082" name="Picture 2081775820" descr="s_sutton_cliff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8680" y="3063240"/>
            <a:ext cx="10469880" cy="2011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313354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Учим робота ходить</a:t>
            </a:r>
            <a:endParaRPr/>
          </a:p>
        </p:txBody>
      </p:sp>
      <p:sp>
        <p:nvSpPr>
          <p:cNvPr id="949634863" name="Прямоугольник: скругленные углы 5"/>
          <p:cNvSpPr/>
          <p:nvPr/>
        </p:nvSpPr>
        <p:spPr bwMode="auto">
          <a:xfrm flipH="0" flipV="0">
            <a:off x="457199" y="1088571"/>
            <a:ext cx="5349240" cy="449035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Тот же цикл s / a / r, но действий не четверо: каждое действие — активация своей мышцы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Состояний и действий не перечесть — таблица, которую мы заполняли, здесь невозможна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Таких роботов учат без демонстраций: метод depRL, движок Hyfydy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То, что видно на видео, — результат прогона обученной стратегии, а не сама среда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Отсюда мостик к функции или сети и к исследованию в огромном пространстве действий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617564062" name="Прямоугольник: скругленные углы 2"/>
          <p:cNvSpPr/>
          <p:nvPr/>
        </p:nvSpPr>
        <p:spPr bwMode="auto">
          <a:xfrm flipH="0" flipV="0">
            <a:off x="429767" y="5819699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Действий и состояний — не перечесть</a:t>
            </a:r>
            <a:endParaRPr lang="ru-RU" sz="1600" b="1">
              <a:latin typeface="Arial"/>
            </a:endParaRPr>
          </a:p>
        </p:txBody>
      </p:sp>
      <p:pic>
        <p:nvPicPr>
          <p:cNvPr id="137722789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885709"/>
            <a:ext cx="468000" cy="468000"/>
          </a:xfrm>
          <a:prstGeom prst="rect">
            <a:avLst/>
          </a:prstGeom>
        </p:spPr>
      </p:pic>
      <p:pic>
        <p:nvPicPr>
          <p:cNvPr id="1891415392" name="Picture 2081775820" descr="s_walk_robot.png"/>
          <p:cNvPicPr>
            <a:picLocks noChangeAspect="1"/>
          </p:cNvPicPr>
          <p:nvPr/>
        </p:nvPicPr>
        <p:blipFill rotWithShape="1">
          <a:blip r:embed="rId4"/>
          <a:srcRect l="2911" t="6155" r="1787" b="17295"/>
          <a:stretch/>
        </p:blipFill>
        <p:spPr bwMode="auto">
          <a:xfrm flipH="0" flipV="0">
            <a:off x="6094836" y="2018392"/>
            <a:ext cx="5777048" cy="29595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702598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Три ручки обучения</a:t>
            </a:r>
            <a:endParaRPr/>
          </a:p>
        </p:txBody>
      </p:sp>
      <p:sp>
        <p:nvSpPr>
          <p:cNvPr id="1948328739" name="Прямоугольник: скругленные углы 5"/>
          <p:cNvSpPr/>
          <p:nvPr/>
        </p:nvSpPr>
        <p:spPr bwMode="auto">
          <a:xfrm flipH="0" flipV="0">
            <a:off x="457199" y="952499"/>
            <a:ext cx="4703335" cy="4694464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α — скорость учёта нового опыта: чем больше, тем сильнее оценка прыгает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за последним шагом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При α = 0,5 SARSA уходит в крюк 9 → 5 → 1 → 2 → 3 → 7 → 8 → 12, доход жадной стратегии −1,23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При α = 0,1 крюк пропадает: 9 → 5 → 6 → 7 → 8 → 12, доход 0,16 (среднее за эпизод)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γ — дальновидность, она знакома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из лекций 3 и 5: постановка задачи,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а не наша ручка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ε — какую долю шагов отдаём случайности; о его цене — следующий слайд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507996666" name="Прямоугольник: скругленные углы 2"/>
          <p:cNvSpPr/>
          <p:nvPr/>
        </p:nvSpPr>
        <p:spPr bwMode="auto">
          <a:xfrm flipH="0" flipV="0">
            <a:off x="429767" y="5819699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Скорость, дальновидность, исследование</a:t>
            </a:r>
            <a:endParaRPr lang="ru-RU" sz="1600" b="1">
              <a:latin typeface="Arial"/>
            </a:endParaRPr>
          </a:p>
        </p:txBody>
      </p:sp>
      <p:pic>
        <p:nvPicPr>
          <p:cNvPr id="84938762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885709"/>
            <a:ext cx="468000" cy="468000"/>
          </a:xfrm>
          <a:prstGeom prst="rect">
            <a:avLst/>
          </a:prstGeom>
        </p:spPr>
      </p:pic>
      <p:pic>
        <p:nvPicPr>
          <p:cNvPr id="397334249" name="Picture 2081775820" descr="s_alpha_slider.png"/>
          <p:cNvPicPr>
            <a:picLocks noChangeAspect="1"/>
          </p:cNvPicPr>
          <p:nvPr/>
        </p:nvPicPr>
        <p:blipFill rotWithShape="1">
          <a:blip r:embed="rId4"/>
          <a:srcRect l="3302" t="7686" r="6081" b="8721"/>
          <a:stretch/>
        </p:blipFill>
        <p:spPr bwMode="auto">
          <a:xfrm flipH="0" flipV="0">
            <a:off x="5294530" y="1564821"/>
            <a:ext cx="6147969" cy="3617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611903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Сколько стоит исследование</a:t>
            </a:r>
            <a:endParaRPr/>
          </a:p>
        </p:txBody>
      </p:sp>
      <p:sp>
        <p:nvSpPr>
          <p:cNvPr id="112889299" name="Прямоугольник: скругленные углы 5"/>
          <p:cNvSpPr/>
          <p:nvPr/>
        </p:nvSpPr>
        <p:spPr bwMode="auto">
          <a:xfrm flipH="0" flipV="0">
            <a:off x="457199" y="997857"/>
            <a:ext cx="11329416" cy="2019662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Те же настройки: вариант «край», 1000 эпизодов, α = 0,1, сид 7 — и три значения ε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Слева — срывы за обучение: чем меньше исследуем, тем реже срываемся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Справа — доход с исследованием: он растёт к нулю и выше, у SARSA мягче, чем у Q-обучения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Правило простое: меньше исследуем — меньше платим; при ε = 0,02 оба уже в плюсе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Обратная сторона: если опасное место так и не встретим, то и не научимся его обходить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592333881" name="Прямоугольник: скругленные углы 2"/>
          <p:cNvSpPr/>
          <p:nvPr/>
        </p:nvSpPr>
        <p:spPr bwMode="auto">
          <a:xfrm>
            <a:off x="429768" y="5221224"/>
            <a:ext cx="11329416" cy="123444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Меньше исследуем — меньше платим</a:t>
            </a:r>
            <a:endParaRPr lang="ru-RU" sz="1600" b="1">
              <a:latin typeface="Arial"/>
            </a:endParaRPr>
          </a:p>
        </p:txBody>
      </p:sp>
      <p:pic>
        <p:nvPicPr>
          <p:cNvPr id="198126847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431536"/>
            <a:ext cx="468000" cy="468000"/>
          </a:xfrm>
          <a:prstGeom prst="rect">
            <a:avLst/>
          </a:prstGeom>
        </p:spPr>
      </p:pic>
      <p:pic>
        <p:nvPicPr>
          <p:cNvPr id="441798768" name="Picture 2081775820" descr="s_eps_pric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8680" y="3063240"/>
            <a:ext cx="10469880" cy="2011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013223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Две грабли</a:t>
            </a:r>
            <a:endParaRPr/>
          </a:p>
        </p:txBody>
      </p:sp>
      <p:sp>
        <p:nvSpPr>
          <p:cNvPr id="1140501207" name="Прямоугольник: скругленные углы 5"/>
          <p:cNvSpPr/>
          <p:nvPr/>
        </p:nvSpPr>
        <p:spPr bwMode="auto">
          <a:xfrm flipH="0" flipV="0">
            <a:off x="457200" y="1325880"/>
            <a:ext cx="5349240" cy="3776798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Слишком большая α: оценки прыгают, стратегия мечется — это мы видели на α = 0,5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Максимум по шумным оценкам завышает — но не в среднем, а в отдельных клетках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среднем «обещание минус истина» отрицательное у обоих: Q-обучение −1,02, SARSA −1,21; переоценка — только в отдельных клетках: S9 +0,83 у Q-обучения и S11 +0,04 у SARSA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Вариант «край», 1000 эпизодов, α = 0,1, сид 7 (report §8)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295087806" name="Прямоугольник: скругленные углы 2"/>
          <p:cNvSpPr/>
          <p:nvPr/>
        </p:nvSpPr>
        <p:spPr bwMode="auto">
          <a:xfrm flipH="0" flipV="0">
            <a:off x="429767" y="5242167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Где ошибаются чаще всего</a:t>
            </a:r>
            <a:endParaRPr lang="ru-RU" sz="1600" b="1">
              <a:latin typeface="Arial"/>
            </a:endParaRPr>
          </a:p>
        </p:txBody>
      </p:sp>
      <p:pic>
        <p:nvPicPr>
          <p:cNvPr id="7370128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291068"/>
            <a:ext cx="468000" cy="468000"/>
          </a:xfrm>
          <a:prstGeom prst="rect">
            <a:avLst/>
          </a:prstGeom>
        </p:spPr>
      </p:pic>
      <p:pic>
        <p:nvPicPr>
          <p:cNvPr id="1383377946" name="Picture 2081775820" descr="s_rakes.png"/>
          <p:cNvPicPr>
            <a:picLocks noChangeAspect="1"/>
          </p:cNvPicPr>
          <p:nvPr/>
        </p:nvPicPr>
        <p:blipFill rotWithShape="1">
          <a:blip r:embed="rId4"/>
          <a:srcRect l="9161" t="20546" r="12137" b="19438"/>
          <a:stretch/>
        </p:blipFill>
        <p:spPr bwMode="auto">
          <a:xfrm flipH="0" flipV="0">
            <a:off x="5931163" y="1796867"/>
            <a:ext cx="5828739" cy="28348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164698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Таблица не масштабируется</a:t>
            </a:r>
            <a:endParaRPr/>
          </a:p>
        </p:txBody>
      </p:sp>
      <p:sp>
        <p:nvSpPr>
          <p:cNvPr id="1331115654" name="Прямоугольник: скругленные углы 5"/>
          <p:cNvSpPr/>
          <p:nvPr/>
        </p:nvSpPr>
        <p:spPr bwMode="auto">
          <a:xfrm flipH="0" flipV="0">
            <a:off x="457200" y="1325880"/>
            <a:ext cx="4567264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Клеток и действий не перечесть — заполнить таблицу нечем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Как тогда хранить оценку и чем за это придётся заплатить?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Ответ — в последнем блоке лекции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73416084" name="Прямоугольник: скругленные углы 2"/>
          <p:cNvSpPr/>
          <p:nvPr/>
        </p:nvSpPr>
        <p:spPr bwMode="auto">
          <a:xfrm flipH="0" flipV="0">
            <a:off x="429767" y="5247837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Вход в последний блок</a:t>
            </a:r>
            <a:endParaRPr lang="ru-RU" sz="1600" b="1">
              <a:latin typeface="Arial"/>
            </a:endParaRPr>
          </a:p>
        </p:txBody>
      </p:sp>
      <p:pic>
        <p:nvPicPr>
          <p:cNvPr id="88063512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23277"/>
            <a:ext cx="468000" cy="468000"/>
          </a:xfrm>
          <a:prstGeom prst="rect">
            <a:avLst/>
          </a:prstGeom>
        </p:spPr>
      </p:pic>
      <p:pic>
        <p:nvPicPr>
          <p:cNvPr id="1560590726" name="Picture 2081775820" descr="s_table_to_function.png"/>
          <p:cNvPicPr>
            <a:picLocks noChangeAspect="1"/>
          </p:cNvPicPr>
          <p:nvPr/>
        </p:nvPicPr>
        <p:blipFill rotWithShape="1">
          <a:blip r:embed="rId4"/>
          <a:srcRect l="1837" t="16872" r="2177" b="0"/>
          <a:stretch/>
        </p:blipFill>
        <p:spPr bwMode="auto">
          <a:xfrm flipH="0" flipV="0">
            <a:off x="5138953" y="1376361"/>
            <a:ext cx="6530331" cy="36071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413654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Проверяем себя</a:t>
            </a:r>
            <a:endParaRPr/>
          </a:p>
        </p:txBody>
      </p:sp>
      <p:sp>
        <p:nvSpPr>
          <p:cNvPr id="1643371470" name="Прямоугольник: скругленные углы 5"/>
          <p:cNvSpPr/>
          <p:nvPr/>
        </p:nvSpPr>
        <p:spPr bwMode="auto">
          <a:xfrm>
            <a:off x="457200" y="963022"/>
            <a:ext cx="11329416" cy="169164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Вопрос на выход, на подумать после лекции: опишите одну задачу из своей работы как задачу обучения с подкреплением — что здесь состояние, что действие, что вознаграждение и где может быть свой «край»?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Ответ с места не нужен: это размышление после лекции, как «вопрос на подумать» на финале лекции 5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653619495" name="Прямоугольник: скругленные углы 2"/>
          <p:cNvSpPr/>
          <p:nvPr/>
        </p:nvSpPr>
        <p:spPr bwMode="auto">
          <a:xfrm flipH="0" flipV="0">
            <a:off x="429767" y="5791351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Четыре вопроса — и один на выход</a:t>
            </a:r>
            <a:endParaRPr lang="ru-RU" sz="1600" b="1">
              <a:latin typeface="Arial"/>
            </a:endParaRPr>
          </a:p>
        </p:txBody>
      </p:sp>
      <p:pic>
        <p:nvPicPr>
          <p:cNvPr id="161191835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8492" y="5857361"/>
            <a:ext cx="468000" cy="468000"/>
          </a:xfrm>
          <a:prstGeom prst="rect">
            <a:avLst/>
          </a:prstGeom>
        </p:spPr>
      </p:pic>
      <p:pic>
        <p:nvPicPr>
          <p:cNvPr id="649390288" name="Picture 2081775820" descr="s_questions.png"/>
          <p:cNvPicPr>
            <a:picLocks noChangeAspect="1"/>
          </p:cNvPicPr>
          <p:nvPr/>
        </p:nvPicPr>
        <p:blipFill rotWithShape="1">
          <a:blip r:embed="rId4"/>
          <a:srcRect l="0" t="0" r="10054" b="0"/>
          <a:stretch/>
        </p:blipFill>
        <p:spPr bwMode="auto">
          <a:xfrm flipH="0" flipV="0">
            <a:off x="429767" y="3038928"/>
            <a:ext cx="11253433" cy="24039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574656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TD(λ)</a:t>
            </a:r>
            <a:endParaRPr/>
          </a:p>
        </p:txBody>
      </p:sp>
      <p:sp>
        <p:nvSpPr>
          <p:cNvPr id="2147101431" name="Прямоугольник: скругленные углы 5"/>
          <p:cNvSpPr/>
          <p:nvPr/>
        </p:nvSpPr>
        <p:spPr bwMode="auto">
          <a:xfrm flipH="0" flipV="0">
            <a:off x="457199" y="1325880"/>
            <a:ext cx="4538805" cy="3819942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Мы видели две крайности: Монте-Карло смотрит до конца эпизода, TD — на один шаг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Между ними есть плавная ручка — параметр λ: он смешивает цели разной глубины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При λ = 0 получаем чистый TD, при λ, близкой к единице, — почти Монте-Карло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Так устроен TD(λ): не брать одну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из двух крайностей, а смешивать цели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263458747" name="Прямоугольник: скругленные углы 2"/>
          <p:cNvSpPr/>
          <p:nvPr/>
        </p:nvSpPr>
        <p:spPr bwMode="auto">
          <a:xfrm flipH="0" flipV="0">
            <a:off x="429767" y="5232349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Ручка между Монте-Карло и TD</a:t>
            </a:r>
            <a:endParaRPr lang="ru-RU" sz="1600" b="1">
              <a:latin typeface="Arial"/>
            </a:endParaRPr>
          </a:p>
        </p:txBody>
      </p:sp>
      <p:pic>
        <p:nvPicPr>
          <p:cNvPr id="40095110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298359"/>
            <a:ext cx="468000" cy="468000"/>
          </a:xfrm>
          <a:prstGeom prst="rect">
            <a:avLst/>
          </a:prstGeom>
        </p:spPr>
      </p:pic>
      <p:pic>
        <p:nvPicPr>
          <p:cNvPr id="942233295" name="Picture 2081775820" descr="s_td_lambda.png"/>
          <p:cNvPicPr>
            <a:picLocks noChangeAspect="1"/>
          </p:cNvPicPr>
          <p:nvPr/>
        </p:nvPicPr>
        <p:blipFill rotWithShape="1">
          <a:blip r:embed="rId4"/>
          <a:srcRect l="0" t="0" r="0" b="26982"/>
          <a:stretch/>
        </p:blipFill>
        <p:spPr bwMode="auto">
          <a:xfrm flipH="0" flipV="0">
            <a:off x="5066443" y="1668919"/>
            <a:ext cx="6729316" cy="31338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77046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Исполнитель-критик</a:t>
            </a:r>
            <a:endParaRPr/>
          </a:p>
        </p:txBody>
      </p:sp>
      <p:sp>
        <p:nvSpPr>
          <p:cNvPr id="1690388491" name="Прямоугольник: скругленные углы 5"/>
          <p:cNvSpPr/>
          <p:nvPr/>
        </p:nvSpPr>
        <p:spPr bwMode="auto">
          <a:xfrm>
            <a:off x="457200" y="1325880"/>
            <a:ext cx="5349240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Держим две части: исполнителя, который выбирает действия, и критика, который оценивает, как исполнитель играет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Исполнитель учится по подсказке критика: если оценка выросла, действие закрепляется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Это тот же Q, разделённый на две роли: действие и его оценка живут отдельно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Оба обновляются вместе — так устроен исполнитель-критик (actor-critic)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529572574" name="Прямоугольник: скругленные углы 2"/>
          <p:cNvSpPr/>
          <p:nvPr/>
        </p:nvSpPr>
        <p:spPr bwMode="auto">
          <a:xfrm flipH="0" flipV="0">
            <a:off x="429767" y="5185886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Две роли: кто действует и кто оценивает</a:t>
            </a:r>
            <a:endParaRPr lang="ru-RU" sz="1600" b="1">
              <a:latin typeface="Arial"/>
            </a:endParaRPr>
          </a:p>
        </p:txBody>
      </p:sp>
      <p:pic>
        <p:nvPicPr>
          <p:cNvPr id="17759954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251895"/>
            <a:ext cx="468000" cy="468000"/>
          </a:xfrm>
          <a:prstGeom prst="rect">
            <a:avLst/>
          </a:prstGeom>
        </p:spPr>
      </p:pic>
      <p:pic>
        <p:nvPicPr>
          <p:cNvPr id="242652130" name="Picture 2081775820" descr="s_actor_critic.png"/>
          <p:cNvPicPr>
            <a:picLocks noChangeAspect="1"/>
          </p:cNvPicPr>
          <p:nvPr/>
        </p:nvPicPr>
        <p:blipFill rotWithShape="1">
          <a:blip r:embed="rId4"/>
          <a:srcRect l="4298" t="0" r="4278" b="21021"/>
          <a:stretch/>
        </p:blipFill>
        <p:spPr bwMode="auto">
          <a:xfrm flipH="0" flipV="0">
            <a:off x="5925274" y="1518052"/>
            <a:ext cx="5940924" cy="3273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627699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Аппроксимация: таблица → функция</a:t>
            </a:r>
            <a:endParaRPr/>
          </a:p>
        </p:txBody>
      </p:sp>
      <p:sp>
        <p:nvSpPr>
          <p:cNvPr id="277875324" name="Прямоугольник: скругленные углы 5"/>
          <p:cNvSpPr/>
          <p:nvPr/>
        </p:nvSpPr>
        <p:spPr bwMode="auto">
          <a:xfrm flipH="0" flipV="0">
            <a:off x="457200" y="998963"/>
            <a:ext cx="4283256" cy="4146859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Таблицу заменяем функцией или нейросетью: на входе состояние, на выходе оценка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Получаем масштаб: похожим состояниям достаются похожие оценки, таблица на миллионы строк не нужна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Теряем табличные гарантии сходимости: там, где появляется приближение, сходимость становится условной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Это та цена, которую платят все практические методы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617906037" name="Прямоугольник: скругленные углы 2"/>
          <p:cNvSpPr/>
          <p:nvPr/>
        </p:nvSpPr>
        <p:spPr bwMode="auto">
          <a:xfrm flipH="0" flipV="0">
            <a:off x="429767" y="5260730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Что теряем, что получаем</a:t>
            </a:r>
            <a:endParaRPr lang="ru-RU" sz="1600" b="1">
              <a:latin typeface="Arial"/>
            </a:endParaRPr>
          </a:p>
        </p:txBody>
      </p:sp>
      <p:pic>
        <p:nvPicPr>
          <p:cNvPr id="328268026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26740"/>
            <a:ext cx="468000" cy="468000"/>
          </a:xfrm>
          <a:prstGeom prst="rect">
            <a:avLst/>
          </a:prstGeom>
        </p:spPr>
      </p:pic>
      <p:pic>
        <p:nvPicPr>
          <p:cNvPr id="108056930" name="Picture 2081775820" descr="s_table_to_net.png"/>
          <p:cNvPicPr>
            <a:picLocks noChangeAspect="1"/>
          </p:cNvPicPr>
          <p:nvPr/>
        </p:nvPicPr>
        <p:blipFill rotWithShape="1">
          <a:blip r:embed="rId4"/>
          <a:srcRect l="0" t="0" r="4078" b="6908"/>
          <a:stretch/>
        </p:blipFill>
        <p:spPr bwMode="auto">
          <a:xfrm flipH="0" flipV="0">
            <a:off x="5100548" y="1270429"/>
            <a:ext cx="6260945" cy="38753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38171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Каркасы</a:t>
            </a:r>
            <a:endParaRPr/>
          </a:p>
        </p:txBody>
      </p:sp>
      <p:sp>
        <p:nvSpPr>
          <p:cNvPr id="1284070621" name="Прямоугольник: скругленные углы 5"/>
          <p:cNvSpPr/>
          <p:nvPr/>
        </p:nvSpPr>
        <p:spPr bwMode="auto">
          <a:xfrm flipH="0" flipV="0">
            <a:off x="457199" y="987347"/>
            <a:ext cx="11329416" cy="182108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Всё, что мы писали руками, в каркасах уже есть: среду — на семинаре, обновление Q и ε-жадный выбор — сами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Каркас берёт на себя скучное: готовые среды, готовые алгоритмы, читаемый код, масштаб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Среда и обучение живут раздельно: среда отвечает на шаг, обучение учится на этих шагах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Для лабораторной 3 хватит Gymnasium и Stable-Baselines3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522143852" name="Прямоугольник: скругленные углы 2"/>
          <p:cNvSpPr/>
          <p:nvPr/>
        </p:nvSpPr>
        <p:spPr bwMode="auto">
          <a:xfrm flipH="0" flipV="0">
            <a:off x="429767" y="5808913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Что каждая библиотека берёт на себя</a:t>
            </a:r>
            <a:endParaRPr lang="ru-RU" sz="1600" b="1">
              <a:latin typeface="Arial"/>
            </a:endParaRPr>
          </a:p>
        </p:txBody>
      </p:sp>
      <p:pic>
        <p:nvPicPr>
          <p:cNvPr id="117807588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874923"/>
            <a:ext cx="468000" cy="468000"/>
          </a:xfrm>
          <a:prstGeom prst="rect">
            <a:avLst/>
          </a:prstGeom>
        </p:spPr>
      </p:pic>
      <p:pic>
        <p:nvPicPr>
          <p:cNvPr id="728871297" name="Picture 2081775820" descr="s_frameworks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7036" y="3237477"/>
            <a:ext cx="12048003" cy="2314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429593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Карта курса</a:t>
            </a:r>
            <a:endParaRPr/>
          </a:p>
        </p:txBody>
      </p:sp>
      <p:sp>
        <p:nvSpPr>
          <p:cNvPr id="1227813821" name="Прямоугольник: скругленные углы 5"/>
          <p:cNvSpPr/>
          <p:nvPr/>
        </p:nvSpPr>
        <p:spPr bwMode="auto">
          <a:xfrm flipH="0" flipV="0">
            <a:off x="457199" y="1010579"/>
            <a:ext cx="11329416" cy="200694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От вывода уравнений Беллмана в лекции 4 — через решение по модели в лекции 5 — к обучению по опыту сегодня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Монте-Карло, временные разности, SARSA и Q-обучение: сегодняшняя лекция закрывает эту линию курса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Дальше — только то, что снимает ограничения таблицы: функция вместо таблицы и готовые каркасы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493840309" name="Прямоугольник: скругленные углы 2"/>
          <p:cNvSpPr/>
          <p:nvPr/>
        </p:nvSpPr>
        <p:spPr bwMode="auto">
          <a:xfrm flipH="0" flipV="0">
            <a:off x="429767" y="5877950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Весь путь курса — на одной ленте</a:t>
            </a:r>
            <a:endParaRPr lang="ru-RU" sz="1600" b="1">
              <a:latin typeface="Arial"/>
            </a:endParaRPr>
          </a:p>
        </p:txBody>
      </p:sp>
      <p:pic>
        <p:nvPicPr>
          <p:cNvPr id="12857608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943960"/>
            <a:ext cx="468000" cy="468000"/>
          </a:xfrm>
          <a:prstGeom prst="rect">
            <a:avLst/>
          </a:prstGeom>
        </p:spPr>
      </p:pic>
      <p:pic>
        <p:nvPicPr>
          <p:cNvPr id="120361419" name="Picture 2081775820" descr="s_course_map.png"/>
          <p:cNvPicPr>
            <a:picLocks noChangeAspect="1"/>
          </p:cNvPicPr>
          <p:nvPr/>
        </p:nvPicPr>
        <p:blipFill rotWithShape="1">
          <a:blip r:embed="rId4"/>
          <a:srcRect l="0" t="0" r="0" b="8022"/>
          <a:stretch/>
        </p:blipFill>
        <p:spPr bwMode="auto">
          <a:xfrm flipH="0" flipV="0">
            <a:off x="79929" y="3429000"/>
            <a:ext cx="11981652" cy="2117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121517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Пять мыслей курса</a:t>
            </a:r>
            <a:endParaRPr/>
          </a:p>
        </p:txBody>
      </p:sp>
      <p:sp>
        <p:nvSpPr>
          <p:cNvPr id="253036356" name="Прямоугольник: скругленные углы 5"/>
          <p:cNvSpPr/>
          <p:nvPr/>
        </p:nvSpPr>
        <p:spPr bwMode="auto">
          <a:xfrm flipH="0" flipV="0">
            <a:off x="538510" y="930940"/>
            <a:ext cx="11329416" cy="4435583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Курс был про одно: как научить агента действовать ради вознаграждения, когда модели среды нет</a:t>
            </a:r>
            <a:endParaRPr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Остальное — детали, к которым всегда можно вернуться по слайдам лекции</a:t>
            </a:r>
            <a:endParaRPr sz="1800" b="0" i="0" u="none" strike="noStrike" cap="none" spc="0">
              <a:solidFill>
                <a:schemeClr val="accent4"/>
              </a:solidFill>
              <a:latin typeface="Arial"/>
              <a:ea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4"/>
              </a:spcAft>
              <a:buClr>
                <a:schemeClr val="bg2"/>
              </a:buClr>
              <a:buChar char="+"/>
              <a:defRPr/>
            </a:pPr>
            <a:endParaRPr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Обучение с подкреплением - это про цель, а не про правило: агент действует ради суммарного вознаграждения.</a:t>
            </a:r>
            <a:endParaRPr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Всё держится на одном правиле: ценность сейчас - это вознаграждение плюс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ru-RU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γ</m:t>
                      </m:r>
                    </m:oMath>
                  </m:oMathPara>
                </a14:m>
              </mc:Choice>
              <mc:Fallback/>
            </mc:AlternateContent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умноженная </a:t>
            </a:r>
            <a:b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 ценность потом.</a:t>
            </a:r>
            <a:endParaRPr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Решение строят итеративно: оценить - улучшить - снова оценить; так работают GPI и итерация </a:t>
            </a:r>
            <a:b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 ценностям.</a:t>
            </a:r>
            <a:endParaRPr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Когда модели нет, учимся по опыту: цель - шаг плюс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ru-RU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γ</m:t>
                      </m:r>
                    </m:oMath>
                  </m:oMathPara>
                </a14:m>
              </mc:Choice>
              <mc:Fallback/>
            </mc:AlternateContent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умноженная на оценку дальше; это временные разности и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TD-ошибка.</a:t>
            </a:r>
            <a:endParaRPr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Один и тот же переход даёт два характера: SARSA учится про свою стратегию и осторожен, </a:t>
            </a:r>
            <a:b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Q-обучение - про лучшую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 смело; дальше это масштабируют функцией.</a:t>
            </a:r>
            <a:endParaRPr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82678173" name="Прямоугольник: скругленные углы 2"/>
          <p:cNvSpPr/>
          <p:nvPr/>
        </p:nvSpPr>
        <p:spPr bwMode="auto">
          <a:xfrm flipH="0" flipV="0">
            <a:off x="429767" y="5501093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ctr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Всё, что нужно унести с лекции</a:t>
            </a:r>
            <a:endParaRPr lang="ru-RU" sz="1600" b="1">
              <a:latin typeface="Arial"/>
            </a:endParaRPr>
          </a:p>
        </p:txBody>
      </p:sp>
      <p:pic>
        <p:nvPicPr>
          <p:cNvPr id="54484026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8510" y="5551060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ONLYOFFICE/10.0.0.169</Application>
  <DocSecurity>0</DocSecurity>
  <PresentationFormat>On-screen Show (4:3)</PresentationFormat>
  <Paragraphs>0</Paragraphs>
  <Slides>40</Slides>
  <Notes>40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subject/>
  <dc:creator>Приходько Антон</dc:creator>
  <cp:keywords/>
  <dc:description/>
  <dc:identifier/>
  <dc:language/>
  <cp:lastModifiedBy/>
  <cp:revision>188</cp:revision>
  <dcterms:created xsi:type="dcterms:W3CDTF">2023-02-20T15:32:58Z</dcterms:created>
  <dcterms:modified xsi:type="dcterms:W3CDTF">2026-10-15T21:13:35Z</dcterms:modified>
  <cp:category/>
  <cp:contentStatus/>
  <cp:version/>
</cp:coreProperties>
</file>