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2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68" d="100"/>
          <a:sy n="68" d="100"/>
        </p:scale>
        <p:origin x="1098" y="54"/>
      </p:cViewPr>
      <p:guideLst>
        <p:guide pos="3840"/>
        <p:guide pos="2160" orient="horz"/>
        <p:guide pos="867" orient="horz"/>
      </p:guideLst>
    </p:cSldViewPr>
  </p:slideViewPr>
  <p:gridSpacing cx="216001" cy="216001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 /><Relationship Id="rId26" Type="http://schemas.openxmlformats.org/officeDocument/2006/relationships/tableStyles" Target="tableStyles.xml" /><Relationship Id="rId2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15256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23662092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EB4590AE-419C-7848-9550-F62033609B25}" type="datetimeFigureOut">
              <a:rPr lang="ru-RU"/>
              <a:t/>
            </a:fld>
            <a:endParaRPr lang="ru-RU"/>
          </a:p>
        </p:txBody>
      </p:sp>
      <p:sp>
        <p:nvSpPr>
          <p:cNvPr id="1293428477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244705469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11720019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75252824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57F69232-B7F1-2A44-AAD4-5E776A4A1F79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1" hdr="0" sldNum="1"/>
  <p:notesStyle>
    <a:lvl1pPr marL="0" algn="l" defTabSz="91440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371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29720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238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6B899D-A44C-FCF3-B833-1BBDAAA8D3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955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27631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30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83DB41-4FE6-8CC4-2A54-F7B94B73A6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257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1275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096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63B350-EA2D-BF50-CF06-FEC5AA7CB3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2903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8625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узнаем на занятии</a:t>
            </a:r>
            <a:r>
              <a:rPr lang="ru-RU"/>
              <a:t>.</a:t>
            </a:r>
            <a:endParaRPr/>
          </a:p>
        </p:txBody>
      </p:sp>
      <p:sp>
        <p:nvSpPr>
          <p:cNvPr id="1178771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183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3048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784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453F0C-8571-D87A-E593-1912550921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611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3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7218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486F38-3A4D-1EC6-113A-F8EBF22C5D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223438" name="Образ слайда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-228600" y="1523999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400708737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algn="l" defTabSz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Пример слайда со схемой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1654667878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559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5493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746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13A75F-AC67-1ED7-269A-9695E9B437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207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7903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481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E5A525-8300-8914-BF2B-CB9565C9F5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2375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62091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09038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C893C1-D29F-B44D-8B31-BA8359BE0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850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1763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29261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1269A8-0407-8BFB-347B-37E614C8A1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09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9248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53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04EF3E-5B0C-9EDC-28C1-30565A8964B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853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72431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751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23D590-9750-3486-B853-B6AD48004E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224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847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793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7F1361-0087-E36E-F357-C53B82D954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9485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481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043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63FA-99DE-9A5F-72F5-95D680AF50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476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87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494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8E53CD-AEE7-DFCF-C9C9-252862AD382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8012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408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657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3D1-DCEF-2495-20A2-EC3C055974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84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9688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Что узна</a:t>
            </a:r>
            <a:r>
              <a:rPr lang="ru-RU"/>
              <a:t>ли</a:t>
            </a:r>
            <a:r>
              <a:rPr/>
              <a:t> на занятии</a:t>
            </a:r>
            <a:r>
              <a:rPr lang="ru-RU"/>
              <a:t>.</a:t>
            </a:r>
            <a:endParaRPr/>
          </a:p>
        </p:txBody>
      </p:sp>
      <p:sp>
        <p:nvSpPr>
          <p:cNvPr id="8748871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4919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935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Proxima Nova"/>
                <a:ea typeface="Proxima Nova"/>
                <a:cs typeface="Proxima Nova"/>
              </a:rPr>
              <a:t>Рефлексия</a:t>
            </a:r>
            <a:endParaRPr/>
          </a:p>
        </p:txBody>
      </p:sp>
      <p:sp>
        <p:nvSpPr>
          <p:cNvPr id="176551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131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72499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971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EC90EB-CFBE-50C3-C55C-4132CAC600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Титульный слайд 1">
    <p:bg>
      <p:bgPr shadeToTitle="0">
        <a:solidFill>
          <a:srgbClr val="F1F8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942749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>
                <a:solidFill>
                  <a:schemeClr val="tx1"/>
                </a:solidFill>
                <a:latin typeface="Arial"/>
              </a:defRPr>
            </a:lvl1pPr>
          </a:lstStyle>
          <a:p>
            <a:pPr marL="228600" lvl="0" indent="-228600">
              <a:lnSpc>
                <a:spcPct val="100000"/>
              </a:lnSpc>
              <a:defRPr/>
            </a:pPr>
            <a:r>
              <a:rPr lang="en-US"/>
              <a:t>00.00.202</a:t>
            </a:r>
            <a:r>
              <a:rPr lang="ru-RU"/>
              <a:t>6</a:t>
            </a:r>
            <a:endParaRPr/>
          </a:p>
        </p:txBody>
      </p:sp>
      <p:sp>
        <p:nvSpPr>
          <p:cNvPr id="1316433389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7" y="2279703"/>
            <a:ext cx="8482112" cy="30777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0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/>
            </a:pPr>
            <a:r>
              <a:rPr lang="ru-RU"/>
              <a:t>Подзаголовок</a:t>
            </a:r>
            <a:endParaRPr lang="en-US"/>
          </a:p>
        </p:txBody>
      </p:sp>
      <p:sp>
        <p:nvSpPr>
          <p:cNvPr id="194688456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7" y="394505"/>
            <a:ext cx="846931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>
              <a:lnSpc>
                <a:spcPct val="70000"/>
              </a:lnSpc>
              <a:spcBef>
                <a:spcPts val="0"/>
              </a:spcBef>
              <a:buNone/>
              <a:defRPr lang="en-US" sz="6600" b="1" spc="-7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Длинный заголовок </a:t>
            </a:r>
            <a:br>
              <a:rPr lang="ru-RU"/>
            </a:br>
            <a:r>
              <a:rPr lang="ru-RU"/>
              <a:t>в две строки</a:t>
            </a:r>
            <a:endParaRPr lang="en-US"/>
          </a:p>
        </p:txBody>
      </p:sp>
      <p:pic>
        <p:nvPicPr>
          <p:cNvPr id="1585103119" name="Т1"/>
          <p:cNvPicPr>
            <a:picLocks noChangeAspect="1"/>
          </p:cNvPicPr>
          <p:nvPr userDrawn="1"/>
        </p:nvPicPr>
        <p:blipFill rotWithShape="1">
          <a:blip r:embed="rId2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  <p:pic>
        <p:nvPicPr>
          <p:cNvPr id="1194761897" name="Рисунок 8"/>
          <p:cNvPicPr>
            <a:picLocks noChangeAspect="1"/>
          </p:cNvPicPr>
          <p:nvPr userDrawn="1"/>
        </p:nvPicPr>
        <p:blipFill rotWithShape="1">
          <a:blip r:embed="rId3"/>
          <a:srcRect l="0" t="-2336" r="0" b="0"/>
          <a:stretch/>
        </p:blipFill>
        <p:spPr bwMode="auto">
          <a:xfrm>
            <a:off x="3078480" y="1183376"/>
            <a:ext cx="9113520" cy="567462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66001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867979406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Arial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6435917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851144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Содержание</a:t>
            </a:r>
            <a:endParaRPr/>
          </a:p>
        </p:txBody>
      </p:sp>
      <p:sp>
        <p:nvSpPr>
          <p:cNvPr id="1482499014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18096958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Разделитель голубой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160711" name="Полилиния: фигура 3"/>
          <p:cNvSpPr/>
          <p:nvPr userDrawn="1"/>
        </p:nvSpPr>
        <p:spPr bwMode="auto">
          <a:xfrm>
            <a:off x="11196444" y="443503"/>
            <a:ext cx="562937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 sz="2700">
              <a:latin typeface="Arial"/>
            </a:endParaRPr>
          </a:p>
        </p:txBody>
      </p:sp>
      <p:sp>
        <p:nvSpPr>
          <p:cNvPr id="2140656715" name="TextBox 3"/>
          <p:cNvSpPr txBox="1"/>
          <p:nvPr userDrawn="1"/>
        </p:nvSpPr>
        <p:spPr bwMode="auto">
          <a:xfrm>
            <a:off x="431799" y="443503"/>
            <a:ext cx="895068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309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30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Знакомство</a:t>
            </a:r>
            <a:endParaRPr sz="3000"/>
          </a:p>
        </p:txBody>
      </p:sp>
      <p:sp>
        <p:nvSpPr>
          <p:cNvPr id="215502239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1554057" y="1728890"/>
            <a:ext cx="3404023" cy="3403498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buNone/>
              <a:defRPr sz="1850"/>
            </a:lvl1pPr>
          </a:lstStyle>
          <a:p>
            <a:pPr>
              <a:defRPr/>
            </a:pPr>
            <a:r>
              <a:rPr lang="ru-RU"/>
              <a:t>Фото эксперта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Содержание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292143" name="Рисунок 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2349661" y="1321684"/>
            <a:ext cx="9842339" cy="5536316"/>
          </a:xfrm>
          <a:prstGeom prst="rect">
            <a:avLst/>
          </a:prstGeom>
        </p:spPr>
      </p:pic>
      <p:sp>
        <p:nvSpPr>
          <p:cNvPr id="550320895" name="TextBox 3"/>
          <p:cNvSpPr txBox="1"/>
          <p:nvPr/>
        </p:nvSpPr>
        <p:spPr bwMode="auto">
          <a:xfrm>
            <a:off x="431799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>
              <a:lnSpc>
                <a:spcPct val="90000"/>
              </a:lnSpc>
              <a:spcBef>
                <a:spcPts val="0"/>
              </a:spcBef>
              <a:buNone/>
              <a:defRPr/>
            </a:pPr>
            <a:r>
              <a:rPr lang="ru-RU" sz="4800" b="1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Вопросы</a:t>
            </a:r>
            <a:endParaRPr/>
          </a:p>
        </p:txBody>
      </p:sp>
      <p:sp>
        <p:nvSpPr>
          <p:cNvPr id="106617758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53822109" name="Текст 2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42913" y="1384989"/>
            <a:ext cx="7698197" cy="1329595"/>
          </a:xfrm>
          <a:prstGeom prst="rect">
            <a:avLst/>
          </a:prstGeom>
        </p:spPr>
        <p:txBody>
          <a:bodyPr lIns="0" tIns="0">
            <a:spAutoFit/>
          </a:bodyPr>
          <a:lstStyle>
            <a:lvl1pPr marL="360000" indent="-3600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sz="2000" b="1">
                <a:solidFill>
                  <a:schemeClr val="bg1"/>
                </a:solidFill>
                <a:latin typeface="+mn-lt"/>
              </a:defRPr>
            </a:lvl1pPr>
            <a:lvl2pPr marL="540000" indent="-216000">
              <a:spcBef>
                <a:spcPts val="0"/>
              </a:spcBef>
              <a:spcAft>
                <a:spcPts val="600"/>
              </a:spcAft>
              <a:buClr>
                <a:schemeClr val="bg1"/>
              </a:buClr>
              <a:buFont typeface="Arial"/>
              <a:buChar char="+"/>
              <a:defRPr sz="2000" b="0">
                <a:solidFill>
                  <a:schemeClr val="bg1"/>
                </a:solidFill>
                <a:latin typeface="+mn-lt"/>
              </a:defRPr>
            </a:lvl2pPr>
            <a:lvl3pPr marL="1080000" indent="-216000"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800" b="0">
                <a:solidFill>
                  <a:schemeClr val="bg1"/>
                </a:solidFill>
                <a:latin typeface="+mn-lt"/>
              </a:defRPr>
            </a:lvl3pPr>
            <a:lvl4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4pPr>
            <a:lvl5pPr>
              <a:spcBef>
                <a:spcPts val="0"/>
              </a:spcBef>
              <a:spcAft>
                <a:spcPts val="600"/>
              </a:spcAft>
              <a:defRPr sz="1600" b="0">
                <a:solidFill>
                  <a:schemeClr val="bg1"/>
                </a:solidFill>
                <a:latin typeface="+mn-lt"/>
              </a:defRPr>
            </a:lvl5pPr>
          </a:lstStyle>
          <a:p>
            <a:pPr lvl="0">
              <a:defRPr/>
            </a:pPr>
            <a:r>
              <a:rPr lang="ru-RU"/>
              <a:t>Пункт </a:t>
            </a:r>
            <a:endParaRPr/>
          </a:p>
          <a:p>
            <a:pPr lvl="1">
              <a:defRPr/>
            </a:pPr>
            <a:r>
              <a:rPr lang="ru-RU"/>
              <a:t>подпункт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2"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итель темный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37311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Обложка раздела</a:t>
            </a:r>
            <a:endParaRPr lang="en-US"/>
          </a:p>
        </p:txBody>
      </p:sp>
      <p:sp>
        <p:nvSpPr>
          <p:cNvPr id="1437174778" name="Текст 2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32619" y="1434455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>
              <a:lnSpc>
                <a:spcPct val="100000"/>
              </a:lnSpc>
              <a:spcBef>
                <a:spcPts val="1000"/>
              </a:spcBef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91899228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472843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14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841135818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под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733998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203335784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87725362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29449175" name="Текст 5"/>
          <p:cNvSpPr>
            <a:spLocks noGrp="1"/>
          </p:cNvSpPr>
          <p:nvPr>
            <p:ph type="body" sz="quarter" idx="13"/>
          </p:nvPr>
        </p:nvSpPr>
        <p:spPr bwMode="auto">
          <a:xfrm>
            <a:off x="431799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9423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788602321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2783207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722096408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83229582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1250" y="2945077"/>
            <a:ext cx="5567363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3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755154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27137815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27185150" name="Текст 5"/>
          <p:cNvSpPr>
            <a:spLocks noGrp="1"/>
          </p:cNvSpPr>
          <p:nvPr>
            <p:ph type="body" sz="quarter" idx="16"/>
          </p:nvPr>
        </p:nvSpPr>
        <p:spPr bwMode="auto">
          <a:xfrm>
            <a:off x="43179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26678012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271169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530994731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8110538" y="2945077"/>
            <a:ext cx="3648074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11602274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4 колонк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601837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41636747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84242827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765354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619865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39482800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9082087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10286400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3327821" y="2945074"/>
            <a:ext cx="267652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90086742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5 колон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578846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921339132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20493466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37377016" name="Текст 5"/>
          <p:cNvSpPr>
            <a:spLocks noGrp="1"/>
          </p:cNvSpPr>
          <p:nvPr>
            <p:ph type="body" sz="quarter" idx="17"/>
          </p:nvPr>
        </p:nvSpPr>
        <p:spPr bwMode="auto">
          <a:xfrm>
            <a:off x="431799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06988735" name="Текст 5"/>
          <p:cNvSpPr>
            <a:spLocks noGrp="1"/>
          </p:cNvSpPr>
          <p:nvPr>
            <p:ph type="body" sz="quarter" idx="18"/>
          </p:nvPr>
        </p:nvSpPr>
        <p:spPr bwMode="auto">
          <a:xfrm>
            <a:off x="2741862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52053343" name="Текст 5"/>
          <p:cNvSpPr>
            <a:spLocks noGrp="1"/>
          </p:cNvSpPr>
          <p:nvPr>
            <p:ph type="body" sz="quarter" idx="19"/>
          </p:nvPr>
        </p:nvSpPr>
        <p:spPr bwMode="auto">
          <a:xfrm>
            <a:off x="5051925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7821900" name="Текст 5"/>
          <p:cNvSpPr>
            <a:spLocks noGrp="1"/>
          </p:cNvSpPr>
          <p:nvPr>
            <p:ph type="body" sz="quarter" idx="20"/>
          </p:nvPr>
        </p:nvSpPr>
        <p:spPr bwMode="auto">
          <a:xfrm>
            <a:off x="7352363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43697860" name="Текст 5"/>
          <p:cNvSpPr>
            <a:spLocks noGrp="1"/>
          </p:cNvSpPr>
          <p:nvPr>
            <p:ph type="body" sz="quarter" idx="21"/>
          </p:nvPr>
        </p:nvSpPr>
        <p:spPr bwMode="auto">
          <a:xfrm>
            <a:off x="9652801" y="2945074"/>
            <a:ext cx="2111376" cy="22278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нтент + фот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575463" name="Рисунок 6"/>
          <p:cNvSpPr>
            <a:spLocks noGrp="1"/>
          </p:cNvSpPr>
          <p:nvPr>
            <p:ph type="pic" sz="quarter" idx="12"/>
          </p:nvPr>
        </p:nvSpPr>
        <p:spPr bwMode="auto">
          <a:xfrm>
            <a:off x="7343774" y="0"/>
            <a:ext cx="4848225" cy="6858000"/>
          </a:xfrm>
          <a:prstGeom prst="rect">
            <a:avLst/>
          </a:prstGeom>
          <a:solidFill>
            <a:srgbClr val="151515"/>
          </a:solidFill>
        </p:spPr>
        <p:txBody>
          <a:bodyPr/>
          <a:lstStyle>
            <a:lvl1pPr>
              <a:defRPr lang="ru-RU">
                <a:solidFill>
                  <a:srgbClr val="151515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346014033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6266564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08509256" name="Текст 5"/>
          <p:cNvSpPr>
            <a:spLocks noGrp="1"/>
          </p:cNvSpPr>
          <p:nvPr>
            <p:ph type="body" sz="quarter" idx="14"/>
          </p:nvPr>
        </p:nvSpPr>
        <p:spPr bwMode="auto">
          <a:xfrm>
            <a:off x="431799" y="1022549"/>
            <a:ext cx="6266565" cy="4433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400">
                <a:latin typeface="+mj-lt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/>
              <a:buChar char="+"/>
              <a:defRPr sz="1400">
                <a:latin typeface="+mj-lt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―"/>
              <a:defRPr lang="ru-RU" sz="14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+mj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 b="0">
                <a:solidFill>
                  <a:schemeClr val="bg2"/>
                </a:solidFill>
                <a:latin typeface="+mj-lt"/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marL="432000" lvl="2" indent="-180000" algn="l" defTabSz="9144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/>
              <a:buChar char="•"/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10524788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175421636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 на весь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194138" name="Рисунок 10"/>
          <p:cNvSpPr>
            <a:spLocks noGrp="1"/>
          </p:cNvSpPr>
          <p:nvPr>
            <p:ph type="pic" sz="quarter" idx="12"/>
          </p:nvPr>
        </p:nvSpPr>
        <p:spPr bwMode="auto"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>
            <a:noAutofit/>
          </a:bodyPr>
          <a:lstStyle>
            <a:lvl1pPr marL="0" indent="0" algn="l">
              <a:buNone/>
              <a:defRPr lang="ru-RU" sz="1400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125250707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293104792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голубой фон">
    <p:bg>
      <p:bgPr shadeToTitle="0">
        <a:solidFill>
          <a:schemeClr val="bg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3059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1413089086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86482311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574060360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Контент + темный фон">
    <p:bg>
      <p:bgPr shadeToTitle="0">
        <a:solidFill>
          <a:srgbClr val="151515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009684" name="Текст 2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32619" y="1011238"/>
            <a:ext cx="9616256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/>
            </a:lvl2pPr>
          </a:lstStyle>
          <a:p>
            <a:pPr lvl="0">
              <a:defRPr/>
            </a:pPr>
            <a:r>
              <a:rPr lang="ru-RU"/>
              <a:t>Подзаголовок слайда</a:t>
            </a:r>
            <a:endParaRPr/>
          </a:p>
        </p:txBody>
      </p:sp>
      <p:sp>
        <p:nvSpPr>
          <p:cNvPr id="34097667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16256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415913375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/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915854091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Маленький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2415786" name="Заголовок 3"/>
          <p:cNvSpPr>
            <a:spLocks noGrp="1"/>
          </p:cNvSpPr>
          <p:nvPr>
            <p:ph type="title"/>
          </p:nvPr>
        </p:nvSpPr>
        <p:spPr bwMode="auto">
          <a:xfrm>
            <a:off x="432619" y="466293"/>
            <a:ext cx="9519903" cy="222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1800" b="1">
                <a:latin typeface="+mj-lt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57991876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270029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0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4_Контент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499148" name="Номер слайда 5"/>
          <p:cNvSpPr txBox="1"/>
          <p:nvPr userDrawn="1"/>
        </p:nvSpPr>
        <p:spPr bwMode="auto">
          <a:xfrm>
            <a:off x="0" y="6565920"/>
            <a:ext cx="432000" cy="12311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51A1E-902D-48AF-9020-955120F399B6}" type="slidenum">
              <a:rPr lang="ru-RU" sz="800" b="0" i="0" u="none" strike="noStrike" cap="none" spc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latin typeface="Arial"/>
                <a:ea typeface="Verdana"/>
                <a:cs typeface="Verdana"/>
              </a:rPr>
              <a:t>3</a:t>
            </a:fld>
            <a:endParaRPr lang="ru-RU" sz="800" b="0" i="0" u="none" strike="noStrike" cap="none" spc="0">
              <a:ln>
                <a:noFill/>
              </a:ln>
              <a:solidFill>
                <a:schemeClr val="bg1">
                  <a:lumMod val="65000"/>
                </a:schemeClr>
              </a:solidFill>
              <a:latin typeface="Arial"/>
              <a:ea typeface="Verdana"/>
              <a:cs typeface="Verdana"/>
            </a:endParaRPr>
          </a:p>
        </p:txBody>
      </p:sp>
      <p:sp>
        <p:nvSpPr>
          <p:cNvPr id="1790219930" name="Заголовок 5"/>
          <p:cNvSpPr>
            <a:spLocks noGrp="1"/>
          </p:cNvSpPr>
          <p:nvPr>
            <p:ph type="title"/>
          </p:nvPr>
        </p:nvSpPr>
        <p:spPr bwMode="auto">
          <a:xfrm>
            <a:off x="432619" y="423292"/>
            <a:ext cx="9606530" cy="3708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000" b="1">
                <a:latin typeface="Arial"/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873910" name="Picture Placeholder 7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1140375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122101080" name="Picture Placeholder 7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2831062" y="198666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082741615" name="Picture Placeholder 7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563705" y="198757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2093761228" name="Picture Placeholder 7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6292492" y="1985941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909418506" name="Picture Placeholder 7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8052349" y="197305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34008473" name="Picture Placeholder 7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781136" y="1971427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55007503" name="Picture Placeholder 7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442913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41362685" name="Picture Placeholder 7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2096887" y="3716713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337268956" name="Picture Placeholder 7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3786581" y="3717619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10424890" name="Picture Placeholder 7"/>
          <p:cNvSpPr>
            <a:spLocks noGrp="1"/>
          </p:cNvSpPr>
          <p:nvPr>
            <p:ph type="pic" sz="quarter" idx="22" hasCustomPrompt="1"/>
          </p:nvPr>
        </p:nvSpPr>
        <p:spPr bwMode="auto">
          <a:xfrm>
            <a:off x="5522869" y="3724300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203868402" name="Picture Placeholder 7"/>
          <p:cNvSpPr>
            <a:spLocks noGrp="1"/>
          </p:cNvSpPr>
          <p:nvPr>
            <p:ph type="pic" sz="quarter" idx="23" hasCustomPrompt="1"/>
          </p:nvPr>
        </p:nvSpPr>
        <p:spPr bwMode="auto">
          <a:xfrm>
            <a:off x="7249938" y="3728044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955334326" name="Picture Placeholder 7"/>
          <p:cNvSpPr>
            <a:spLocks noGrp="1"/>
          </p:cNvSpPr>
          <p:nvPr>
            <p:ph type="pic" sz="quarter" idx="24" hasCustomPrompt="1"/>
          </p:nvPr>
        </p:nvSpPr>
        <p:spPr bwMode="auto">
          <a:xfrm>
            <a:off x="8973129" y="3726412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  <p:sp>
        <p:nvSpPr>
          <p:cNvPr id="1628157501" name="Picture Placeholder 7"/>
          <p:cNvSpPr>
            <a:spLocks noGrp="1"/>
          </p:cNvSpPr>
          <p:nvPr>
            <p:ph type="pic" sz="quarter" idx="25" hasCustomPrompt="1"/>
          </p:nvPr>
        </p:nvSpPr>
        <p:spPr bwMode="auto">
          <a:xfrm>
            <a:off x="10606088" y="3718718"/>
            <a:ext cx="1152525" cy="1160463"/>
          </a:xfrm>
          <a:prstGeom prst="flowChartConnector">
            <a:avLst/>
          </a:prstGeom>
          <a:solidFill>
            <a:schemeClr val="bg1"/>
          </a:solidFill>
          <a:ln w="571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88000" rIns="0" rtlCol="0" anchor="t"/>
          <a:lstStyle>
            <a:lvl1pPr>
              <a:defRPr lang="ru-RU" sz="800">
                <a:noFill/>
                <a:latin typeface="Arial"/>
              </a:defRPr>
            </a:lvl1pPr>
          </a:lstStyle>
          <a:p>
            <a:pPr lvl="0" algn="ctr">
              <a:spcAft>
                <a:spcPts val="600"/>
              </a:spcAft>
              <a:defRPr/>
            </a:pPr>
            <a:r>
              <a:rPr lang="ru-RU"/>
              <a:t>Мобильный скриншот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Спасибо за внимание">
    <p:bg>
      <p:bgPr shadeToTitle="0">
        <a:solidFill>
          <a:srgbClr val="F1F9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198070" name="TextBox 2"/>
          <p:cNvSpPr txBox="1"/>
          <p:nvPr userDrawn="1"/>
        </p:nvSpPr>
        <p:spPr bwMode="auto">
          <a:xfrm>
            <a:off x="387546" y="414000"/>
            <a:ext cx="6133450" cy="1523357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ts val="0"/>
              </a:spcBef>
              <a:buNone/>
              <a:defRPr sz="6600" spc="-70">
                <a:solidFill>
                  <a:schemeClr val="bg1"/>
                </a:solidFill>
                <a:latin typeface="ALS Hauss Medium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ru-RU" b="1">
                <a:solidFill>
                  <a:schemeClr val="tx1"/>
                </a:solidFill>
                <a:latin typeface="Arial"/>
              </a:rPr>
              <a:t>Спасибо </a:t>
            </a:r>
            <a:br>
              <a:rPr lang="ru-RU" b="1">
                <a:solidFill>
                  <a:schemeClr val="tx1"/>
                </a:solidFill>
                <a:latin typeface="Arial"/>
              </a:rPr>
            </a:br>
            <a:r>
              <a:rPr lang="ru-RU" b="1">
                <a:solidFill>
                  <a:schemeClr val="tx1"/>
                </a:solidFill>
                <a:latin typeface="Arial"/>
              </a:rPr>
              <a:t>за внимание</a:t>
            </a:r>
            <a:endParaRPr/>
          </a:p>
        </p:txBody>
      </p:sp>
      <p:pic>
        <p:nvPicPr>
          <p:cNvPr id="1008516214" name="Рисунок 1"/>
          <p:cNvPicPr>
            <a:picLocks noChangeAspect="1"/>
          </p:cNvPicPr>
          <p:nvPr userDrawn="1"/>
        </p:nvPicPr>
        <p:blipFill rotWithShape="1">
          <a:blip r:embed="rId2"/>
          <a:srcRect l="0" t="-2336" r="0" b="0"/>
          <a:stretch/>
        </p:blipFill>
        <p:spPr bwMode="auto">
          <a:xfrm>
            <a:off x="3370728" y="414000"/>
            <a:ext cx="8821271" cy="6444000"/>
          </a:xfrm>
          <a:prstGeom prst="rect">
            <a:avLst/>
          </a:prstGeom>
        </p:spPr>
      </p:pic>
      <p:pic>
        <p:nvPicPr>
          <p:cNvPr id="5472023" name="Т1"/>
          <p:cNvPicPr>
            <a:picLocks noChangeAspect="1"/>
          </p:cNvPicPr>
          <p:nvPr userDrawn="1"/>
        </p:nvPicPr>
        <p:blipFill rotWithShape="1">
          <a:blip r:embed="rId3"/>
          <a:srcRect l="0" t="2251" r="0" b="2251"/>
          <a:stretch/>
        </p:blipFill>
        <p:spPr bwMode="auto">
          <a:xfrm>
            <a:off x="384366" y="5938771"/>
            <a:ext cx="1446895" cy="540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8411287" name="Нижний колонтитул 1"/>
          <p:cNvSpPr txBox="1"/>
          <p:nvPr userDrawn="1"/>
        </p:nvSpPr>
        <p:spPr bwMode="auto"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>
              <a:defRPr sz="8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1121782048" name="Полилиния: фигура 3"/>
          <p:cNvSpPr/>
          <p:nvPr userDrawn="1"/>
        </p:nvSpPr>
        <p:spPr bwMode="auto"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 fill="norm" stroke="1" extrusionOk="0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1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86844" name="Текст 3"/>
          <p:cNvSpPr>
            <a:spLocks noGrp="1"/>
          </p:cNvSpPr>
          <p:nvPr>
            <p:ph type="body" sz="quarter" idx="10" hasCustomPrompt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310391" name="Text Placeholder 2"/>
          <p:cNvSpPr>
            <a:spLocks noGrp="1"/>
          </p:cNvSpPr>
          <p:nvPr>
            <p:ph type="body" idx="1" hasCustomPrompt="1"/>
          </p:nvPr>
        </p:nvSpPr>
        <p:spPr bwMode="auto">
          <a:xfrm>
            <a:off x="392406" y="2346159"/>
            <a:ext cx="8484991" cy="24419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/>
              <a:t>Лекция 2</a:t>
            </a:r>
            <a:endParaRPr/>
          </a:p>
        </p:txBody>
      </p:sp>
      <p:sp>
        <p:nvSpPr>
          <p:cNvPr id="18793759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92405" y="394503"/>
            <a:ext cx="8471108" cy="148053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ru-RU" sz="66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К</a:t>
            </a:r>
            <a:r>
              <a:rPr lang="en-US" sz="66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онцепция агента </a:t>
            </a:r>
            <a:br>
              <a:rPr lang="en-US" sz="66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en-US" sz="6600" b="1" i="0" u="none" strike="noStrike" cap="none" spc="-69">
                <a:solidFill>
                  <a:schemeClr val="tx1"/>
                </a:solidFill>
                <a:latin typeface="Arial"/>
                <a:ea typeface="Arial"/>
                <a:cs typeface="Arial"/>
              </a:rPr>
              <a:t>и среды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3484444" name=""/>
          <p:cNvPicPr>
            <a:picLocks noChangeAspect="1"/>
          </p:cNvPicPr>
          <p:nvPr>
            <p:ph type="pic" sz="quarter" idx="10" hasCustomPrompt="1"/>
          </p:nvPr>
        </p:nvPicPr>
        <p:blipFill rotWithShape="1">
          <a:blip r:embed="rId3">
            <a:alphaModFix amt="99999"/>
          </a:blip>
          <a:srcRect l="10265" t="48" r="0" b="23120"/>
          <a:stretch/>
        </p:blipFill>
        <p:spPr bwMode="auto">
          <a:xfrm rot="0" flipH="0" flipV="0">
            <a:off x="2157280" y="2121535"/>
            <a:ext cx="2481459" cy="2614928"/>
          </a:xfrm>
          <a:prstGeom prst="ellipse">
            <a:avLst/>
          </a:prstGeom>
        </p:spPr>
      </p:pic>
      <p:sp>
        <p:nvSpPr>
          <p:cNvPr id="443574967" name="Прямоугольник: скругленные углы 4"/>
          <p:cNvSpPr/>
          <p:nvPr/>
        </p:nvSpPr>
        <p:spPr bwMode="auto">
          <a:xfrm>
            <a:off x="5394706" y="2391777"/>
            <a:ext cx="5172979" cy="2074440"/>
          </a:xfrm>
          <a:prstGeom prst="roundRect">
            <a:avLst>
              <a:gd name="adj" fmla="val 4675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144000" bIns="144000" rtlCol="0" anchor="ctr"/>
          <a:lstStyle/>
          <a:p>
            <a:pPr>
              <a:spcAft>
                <a:spcPts val="1799"/>
              </a:spcAft>
              <a:defRPr/>
            </a:pPr>
            <a:r>
              <a:rPr lang="ru-RU" sz="4000" b="1">
                <a:solidFill>
                  <a:schemeClr val="bg1"/>
                </a:solidFill>
                <a:latin typeface="Arial"/>
              </a:rPr>
              <a:t>Олег Орловский</a:t>
            </a:r>
            <a:endParaRPr/>
          </a:p>
          <a:p>
            <a:pPr>
              <a:defRPr/>
            </a:pPr>
            <a:r>
              <a:rPr lang="ru-RU" sz="2000">
                <a:solidFill>
                  <a:schemeClr val="bg1"/>
                </a:solidFill>
                <a:latin typeface="Arial"/>
              </a:rPr>
              <a:t>ИТ-лидер команды развития кадровых сервисов</a:t>
            </a:r>
            <a:endParaRPr lang="ru-RU" sz="280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056279" name="Прямоугольник: скругленные углы 5"/>
          <p:cNvSpPr/>
          <p:nvPr/>
        </p:nvSpPr>
        <p:spPr bwMode="auto">
          <a:xfrm>
            <a:off x="7540458" y="1376361"/>
            <a:ext cx="4212000" cy="3888000"/>
          </a:xfrm>
          <a:prstGeom prst="roundRect">
            <a:avLst>
              <a:gd name="adj" fmla="val 227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7955" tIns="0" rIns="143977" bIns="143977" rtlCol="0" anchor="t"/>
          <a:lstStyle/>
          <a:p>
            <a:pPr marL="261823" indent="-261823">
              <a:spcAft>
                <a:spcPts val="598"/>
              </a:spcAft>
              <a:buAutoNum type="arabicPeriod"/>
              <a:defRPr/>
            </a:pPr>
            <a:endParaRPr sz="1850"/>
          </a:p>
        </p:txBody>
      </p:sp>
      <p:sp>
        <p:nvSpPr>
          <p:cNvPr id="623761440" name="Прямоугольник: скругленные углы 5"/>
          <p:cNvSpPr/>
          <p:nvPr/>
        </p:nvSpPr>
        <p:spPr bwMode="auto">
          <a:xfrm>
            <a:off x="432000" y="1376361"/>
            <a:ext cx="6912000" cy="3888000"/>
          </a:xfrm>
          <a:prstGeom prst="roundRect">
            <a:avLst>
              <a:gd name="adj" fmla="val 2670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Главное из прошлой лекции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Агент и среда</a:t>
            </a:r>
            <a:r>
              <a:rPr>
                <a:solidFill>
                  <a:schemeClr val="tx1"/>
                </a:solidFill>
                <a:latin typeface="Arial"/>
              </a:rPr>
              <a:t>: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состояние, действие, вознаграждение, один шаг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Доход и дисконтирование</a:t>
            </a:r>
            <a:r>
              <a:rPr>
                <a:solidFill>
                  <a:schemeClr val="tx1"/>
                </a:solidFill>
                <a:latin typeface="Arial"/>
              </a:rPr>
              <a:t>: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агент на самом деле максимизирует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Стратегия</a:t>
            </a:r>
            <a:r>
              <a:rPr>
                <a:solidFill>
                  <a:schemeClr val="tx1"/>
                </a:solidFill>
                <a:latin typeface="Arial"/>
              </a:rPr>
              <a:t>: как выбрать действие</a:t>
            </a:r>
            <a:endParaRPr>
              <a:solidFill>
                <a:schemeClr val="tx1"/>
              </a:solidFill>
              <a:latin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Подводим итоги</a:t>
            </a:r>
            <a:endParaRPr>
              <a:solidFill>
                <a:schemeClr val="tx1"/>
              </a:solidFill>
              <a:latin typeface="Arial"/>
            </a:endParaRPr>
          </a:p>
          <a:p>
            <a:pPr>
              <a:spcAft>
                <a:spcPts val="598"/>
              </a:spcAft>
              <a:defRPr/>
            </a:pPr>
            <a:endParaRPr sz="2400" b="1">
              <a:solidFill>
                <a:schemeClr val="bg2"/>
              </a:solidFill>
              <a:latin typeface="Arial"/>
            </a:endParaRPr>
          </a:p>
        </p:txBody>
      </p:sp>
      <p:sp>
        <p:nvSpPr>
          <p:cNvPr id="150922309" name="Заголовок 1"/>
          <p:cNvSpPr>
            <a:spLocks noGrp="1"/>
          </p:cNvSpPr>
          <p:nvPr/>
        </p:nvSpPr>
        <p:spPr bwMode="auto">
          <a:xfrm>
            <a:off x="433491" y="423754"/>
            <a:ext cx="9610085" cy="366063"/>
          </a:xfr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Блоки лекции</a:t>
            </a:r>
            <a:endParaRPr/>
          </a:p>
        </p:txBody>
      </p:sp>
      <p:pic>
        <p:nvPicPr>
          <p:cNvPr id="312988263" name="Рисунок 7"/>
          <p:cNvPicPr>
            <a:picLocks noChangeAspect="1"/>
          </p:cNvPicPr>
          <p:nvPr/>
        </p:nvPicPr>
        <p:blipFill rotWithShape="1">
          <a:blip r:embed="rId3"/>
          <a:srcRect l="5655" t="0" r="0" b="24604"/>
          <a:stretch/>
        </p:blipFill>
        <p:spPr bwMode="auto">
          <a:xfrm>
            <a:off x="7535862" y="1537616"/>
            <a:ext cx="3542814" cy="37267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938255" name="Прямоугольник: скругленные углы 5"/>
          <p:cNvSpPr/>
          <p:nvPr/>
        </p:nvSpPr>
        <p:spPr bwMode="auto">
          <a:xfrm>
            <a:off x="4664174" y="1376361"/>
            <a:ext cx="7092000" cy="42751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Познакомиться с формальным языком: схема «агент — среда», обозначения S, A, R, t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Узнать, как задаётся цель во времени: траектория, эпизод, доход, дисконтирование γ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Изучить, как агент выбирает действия: стратегия и ε-жадность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22" indent="-261822">
              <a:spcAft>
                <a:spcPts val="598"/>
              </a:spcAft>
              <a:buClr>
                <a:schemeClr val="bg2"/>
              </a:buClr>
              <a:buFont typeface="Arial"/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Научиться описывать задачу формально: состояние, действия, вознаграждение, γ, тип задачи</a:t>
            </a:r>
            <a:endParaRPr lang="ru-RU" sz="18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4637755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1" y="423754"/>
            <a:ext cx="9615125" cy="366120"/>
          </a:xfrm>
        </p:spPr>
        <p:txBody>
          <a:bodyPr/>
          <a:lstStyle/>
          <a:p>
            <a:pPr>
              <a:defRPr/>
            </a:pPr>
            <a:r>
              <a:rPr lang="ru-RU"/>
              <a:t>Цели лекции</a:t>
            </a:r>
            <a:endParaRPr/>
          </a:p>
        </p:txBody>
      </p:sp>
      <p:sp>
        <p:nvSpPr>
          <p:cNvPr id="1380965713" name="Прямоугольник: скругленные углы 1"/>
          <p:cNvSpPr/>
          <p:nvPr/>
        </p:nvSpPr>
        <p:spPr bwMode="auto">
          <a:xfrm>
            <a:off x="437260" y="1376361"/>
            <a:ext cx="4032000" cy="4275136"/>
          </a:xfrm>
          <a:prstGeom prst="roundRect">
            <a:avLst>
              <a:gd name="adj" fmla="val 3485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pic>
        <p:nvPicPr>
          <p:cNvPr id="781775512" name="Рисунок 3"/>
          <p:cNvPicPr>
            <a:picLocks noChangeAspect="1"/>
          </p:cNvPicPr>
          <p:nvPr/>
        </p:nvPicPr>
        <p:blipFill rotWithShape="1">
          <a:blip r:embed="rId3"/>
          <a:srcRect l="13623" t="0" r="0" b="17876"/>
          <a:stretch/>
        </p:blipFill>
        <p:spPr bwMode="auto">
          <a:xfrm>
            <a:off x="447534" y="2105613"/>
            <a:ext cx="3729543" cy="35458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0628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8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Вспомним прошлую лекцию</a:t>
            </a:r>
            <a:endParaRPr/>
          </a:p>
        </p:txBody>
      </p:sp>
      <p:sp>
        <p:nvSpPr>
          <p:cNvPr id="1902329932" name="Прямоугольник: скругленные углы 5"/>
          <p:cNvSpPr/>
          <p:nvPr/>
        </p:nvSpPr>
        <p:spPr bwMode="auto">
          <a:xfrm>
            <a:off x="432592" y="2751136"/>
            <a:ext cx="11326020" cy="36655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144000" tIns="108000" rIns="144000" bIns="144000" numCol="1" spcCol="0" rtlCol="0" fromWordArt="0" anchor="ctr" anchorCtr="0" forceAA="0" upright="0" compatLnSpc="0"/>
          <a:lstStyle/>
          <a:p>
            <a:pPr>
              <a:spcAft>
                <a:spcPts val="599"/>
              </a:spcAft>
              <a:defRPr/>
            </a:pPr>
            <a:r>
              <a:rPr lang="ru-RU" b="1">
                <a:solidFill>
                  <a:schemeClr val="bg2"/>
                </a:solidFill>
                <a:latin typeface="Arial"/>
              </a:rPr>
              <a:t>Главное: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RL — это про выбор действий, а не про прогноз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Базовая четвёрка</a:t>
            </a: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и цикл их взаимодействия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агент (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тот, кто принимает решения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),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действие (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то, что агент может сделать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),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среда (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мир, внутри которого действует агент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),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вознаграждение (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числовой сигнал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)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Агент учится на последствиях: действие сейчас — результат потом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Вознаграждение — способ задать цель: важен не «плюс сейчас», а суммарный результат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«Попробовать новое или использовать проверенное» — уже про стратегию, а не про отдельный шаг</a:t>
            </a:r>
            <a:endParaRPr/>
          </a:p>
        </p:txBody>
      </p:sp>
      <p:sp>
        <p:nvSpPr>
          <p:cNvPr id="618712686" name="Прямоугольник: скругленные углы 2"/>
          <p:cNvSpPr/>
          <p:nvPr/>
        </p:nvSpPr>
        <p:spPr bwMode="auto">
          <a:xfrm>
            <a:off x="431797" y="1376361"/>
            <a:ext cx="11335452" cy="1087578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defRPr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Reinforcement Learning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(RL) — обучение с подкреплением; метод машинного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обучения, при котором система учится выбирать действия на основе получаемых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последствий или вознаграждений.</a:t>
            </a:r>
            <a:endParaRPr lang="ru-RU" sz="1600">
              <a:latin typeface="Arial"/>
            </a:endParaRPr>
          </a:p>
        </p:txBody>
      </p:sp>
      <p:pic>
        <p:nvPicPr>
          <p:cNvPr id="1234108370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554063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537608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8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Язык для RL: зачем он нужен</a:t>
            </a:r>
            <a:endParaRPr/>
          </a:p>
        </p:txBody>
      </p:sp>
      <p:sp>
        <p:nvSpPr>
          <p:cNvPr id="2143079889" name="Прямоугольник: скругленные углы 5"/>
          <p:cNvSpPr/>
          <p:nvPr/>
        </p:nvSpPr>
        <p:spPr bwMode="auto">
          <a:xfrm flipH="0" flipV="0">
            <a:off x="1055810" y="1313468"/>
            <a:ext cx="4433186" cy="36655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599"/>
              </a:spcAft>
              <a:defRPr/>
            </a:pPr>
            <a:r>
              <a:rPr lang="ru-RU" sz="18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от интуиции — к языку</a:t>
            </a: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Интуиция: система действует, получает обратную связь и учится — словами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Язык: те же идеи точными обозначениями — состояния, действия, вознаграждения, время</a:t>
            </a:r>
            <a:endParaRPr/>
          </a:p>
        </p:txBody>
      </p:sp>
      <p:sp>
        <p:nvSpPr>
          <p:cNvPr id="1125813363" name="Прямоугольник: скругленные углы 2"/>
          <p:cNvSpPr/>
          <p:nvPr/>
        </p:nvSpPr>
        <p:spPr bwMode="auto">
          <a:xfrm>
            <a:off x="431798" y="5221629"/>
            <a:ext cx="11327893" cy="119321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формализация — запись задачи точными обозначениями и правилами, по которым можно производить вычисления</a:t>
            </a:r>
            <a:endParaRPr lang="ru-RU" sz="1600" b="1"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интуиции хватает, чтобы понять; формального языка — чтобы посчитать и написать код</a:t>
            </a:r>
            <a:endParaRPr lang="ru-RU" sz="1600">
              <a:latin typeface="Arial"/>
            </a:endParaRPr>
          </a:p>
        </p:txBody>
      </p:sp>
      <p:pic>
        <p:nvPicPr>
          <p:cNvPr id="259333941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585151"/>
            <a:ext cx="468000" cy="468000"/>
          </a:xfrm>
          <a:prstGeom prst="rect">
            <a:avLst/>
          </a:prstGeom>
        </p:spPr>
      </p:pic>
      <p:pic>
        <p:nvPicPr>
          <p:cNvPr id="68842581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6892572" y="1250575"/>
            <a:ext cx="3791323" cy="3791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731754" name="Дуга 29"/>
          <p:cNvSpPr/>
          <p:nvPr/>
        </p:nvSpPr>
        <p:spPr bwMode="auto">
          <a:xfrm flipV="1">
            <a:off x="2247219" y="2474889"/>
            <a:ext cx="1893852" cy="1523711"/>
          </a:xfrm>
          <a:prstGeom prst="arc">
            <a:avLst>
              <a:gd name="adj1" fmla="val 11466578"/>
              <a:gd name="adj2" fmla="val 20865846"/>
            </a:avLst>
          </a:prstGeom>
          <a:ln w="57150">
            <a:solidFill>
              <a:schemeClr val="accent5">
                <a:lumMod val="75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1239811281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2" y="423291"/>
            <a:ext cx="9605408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Схема взаимодействия: кто с кем и как</a:t>
            </a:r>
            <a:endParaRPr/>
          </a:p>
        </p:txBody>
      </p:sp>
      <p:grpSp>
        <p:nvGrpSpPr>
          <p:cNvPr id="50649929" name="Группа 32"/>
          <p:cNvGrpSpPr/>
          <p:nvPr/>
        </p:nvGrpSpPr>
        <p:grpSpPr bwMode="auto">
          <a:xfrm>
            <a:off x="6223775" y="2242110"/>
            <a:ext cx="2701011" cy="1199814"/>
            <a:chOff x="0" y="0"/>
            <a:chExt cx="2701011" cy="1199814"/>
          </a:xfrm>
        </p:grpSpPr>
        <p:sp>
          <p:nvSpPr>
            <p:cNvPr id="1271785325" name="Прямоугольник: скругленные углы 10"/>
            <p:cNvSpPr/>
            <p:nvPr/>
          </p:nvSpPr>
          <p:spPr bwMode="auto">
            <a:xfrm flipH="0" flipV="0">
              <a:off x="0" y="453782"/>
              <a:ext cx="2687585" cy="733106"/>
            </a:xfrm>
            <a:prstGeom prst="roundRect">
              <a:avLst>
                <a:gd name="adj" fmla="val 7596"/>
              </a:avLst>
            </a:prstGeom>
            <a:solidFill>
              <a:srgbClr val="E3ECF6"/>
            </a:solidFill>
            <a:ln w="57150">
              <a:noFill/>
            </a:ln>
          </p:spPr>
          <p:style>
            <a:lnRef idx="2">
              <a:schemeClr val="accent3">
                <a:hueOff val="0"/>
                <a:satOff val="0"/>
                <a:lumOff val="-45489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977" tIns="143977" rIns="143977" bIns="143977" numCol="1" spcCol="1268" anchor="b" anchorCtr="0">
              <a:noAutofit/>
            </a:bodyPr>
            <a:lstStyle/>
            <a:p>
              <a:pPr marL="0" lvl="1" defTabSz="859280">
                <a:lnSpc>
                  <a:spcPct val="90000"/>
                </a:lnSpc>
                <a:defRPr/>
              </a:pPr>
              <a:endParaRPr sz="1200"/>
            </a:p>
          </p:txBody>
        </p:sp>
        <p:sp>
          <p:nvSpPr>
            <p:cNvPr id="292636888" name="Прямоугольник: скругленные углы 17"/>
            <p:cNvSpPr/>
            <p:nvPr/>
          </p:nvSpPr>
          <p:spPr bwMode="auto">
            <a:xfrm>
              <a:off x="13426" y="0"/>
              <a:ext cx="2687585" cy="1199814"/>
            </a:xfrm>
            <a:prstGeom prst="roundRect">
              <a:avLst>
                <a:gd name="adj" fmla="val 9689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rgbClr val="000000"/>
            </a:fillRef>
            <a:effectRef idx="0">
              <a:schemeClr val="accent3">
                <a:hueOff val="0"/>
                <a:satOff val="0"/>
                <a:lumOff val="-6823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983" tIns="95983" rIns="95983" bIns="95983" numCol="1" spcCol="1268" anchor="ctr" anchorCtr="0">
              <a:noAutofit/>
            </a:bodyPr>
            <a:lstStyle/>
            <a:p>
              <a:pPr algn="ctr" defTabSz="711128">
                <a:defRPr/>
              </a:pPr>
              <a:r>
                <a:rPr lang="ru-RU" sz="1600" b="1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</a:rPr>
                <a:t>среда</a:t>
              </a:r>
              <a:endParaRPr sz="1200"/>
            </a:p>
          </p:txBody>
        </p:sp>
      </p:grpSp>
      <p:grpSp>
        <p:nvGrpSpPr>
          <p:cNvPr id="264263997" name="Группа 31"/>
          <p:cNvGrpSpPr/>
          <p:nvPr/>
        </p:nvGrpSpPr>
        <p:grpSpPr bwMode="auto">
          <a:xfrm flipH="0" flipV="0">
            <a:off x="3328633" y="2242110"/>
            <a:ext cx="2701011" cy="1186888"/>
            <a:chOff x="0" y="0"/>
            <a:chExt cx="2701011" cy="1186888"/>
          </a:xfrm>
        </p:grpSpPr>
        <p:sp>
          <p:nvSpPr>
            <p:cNvPr id="1862570632" name="Прямоугольник: скругленные углы 7"/>
            <p:cNvSpPr/>
            <p:nvPr/>
          </p:nvSpPr>
          <p:spPr bwMode="auto">
            <a:xfrm>
              <a:off x="0" y="241070"/>
              <a:ext cx="2687585" cy="945817"/>
            </a:xfrm>
            <a:prstGeom prst="roundRect">
              <a:avLst>
                <a:gd name="adj" fmla="val 8100"/>
              </a:avLst>
            </a:prstGeom>
            <a:solidFill>
              <a:srgbClr val="E3ECF6"/>
            </a:solidFill>
            <a:ln w="57150">
              <a:noFill/>
            </a:ln>
          </p:spPr>
          <p:style>
            <a:lnRef idx="2">
              <a:schemeClr val="accent3">
                <a:hueOff val="0"/>
                <a:satOff val="0"/>
                <a:lumOff val="-22745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977" tIns="143977" rIns="143977" bIns="143977" numCol="1" spcCol="1268" anchor="b" anchorCtr="0">
              <a:noAutofit/>
            </a:bodyPr>
            <a:lstStyle/>
            <a:p>
              <a:pPr marL="0" lvl="1" defTabSz="859280">
                <a:lnSpc>
                  <a:spcPct val="90000"/>
                </a:lnSpc>
                <a:defRPr/>
              </a:pPr>
              <a:endParaRPr sz="1200"/>
            </a:p>
          </p:txBody>
        </p:sp>
        <p:sp>
          <p:nvSpPr>
            <p:cNvPr id="809271744" name="Прямоугольник: скругленные углы 18"/>
            <p:cNvSpPr/>
            <p:nvPr/>
          </p:nvSpPr>
          <p:spPr bwMode="auto">
            <a:xfrm flipH="0" flipV="0">
              <a:off x="13426" y="0"/>
              <a:ext cx="2687585" cy="1186888"/>
            </a:xfrm>
            <a:prstGeom prst="roundRect">
              <a:avLst>
                <a:gd name="adj" fmla="val 12015"/>
              </a:avLst>
            </a:prstGeom>
            <a:solidFill>
              <a:schemeClr val="bg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rgbClr val="000000"/>
            </a:fillRef>
            <a:effectRef idx="0">
              <a:schemeClr val="accent3">
                <a:hueOff val="0"/>
                <a:satOff val="0"/>
                <a:lumOff val="-6823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983" tIns="95983" rIns="95983" bIns="95983" numCol="1" spcCol="1268" anchor="ctr" anchorCtr="0">
              <a:noAutofit/>
            </a:bodyPr>
            <a:lstStyle/>
            <a:p>
              <a:pPr algn="ctr" defTabSz="711128">
                <a:defRPr/>
              </a:pPr>
              <a:r>
                <a:rPr lang="ru-RU" sz="1600" b="1" i="0" u="none" strike="noStrike" cap="none" spc="0">
                  <a:solidFill>
                    <a:schemeClr val="tx1"/>
                  </a:solidFill>
                  <a:latin typeface="Arial"/>
                  <a:ea typeface="Arial"/>
                  <a:cs typeface="Arial"/>
                </a:rPr>
                <a:t>действие</a:t>
              </a:r>
              <a:endParaRPr sz="1200"/>
            </a:p>
          </p:txBody>
        </p:sp>
      </p:grpSp>
      <p:grpSp>
        <p:nvGrpSpPr>
          <p:cNvPr id="306460079" name="Группа 30"/>
          <p:cNvGrpSpPr/>
          <p:nvPr/>
        </p:nvGrpSpPr>
        <p:grpSpPr bwMode="auto">
          <a:xfrm>
            <a:off x="433492" y="2242110"/>
            <a:ext cx="2687585" cy="1199814"/>
            <a:chOff x="0" y="0"/>
            <a:chExt cx="2687585" cy="1199814"/>
          </a:xfrm>
        </p:grpSpPr>
        <p:sp>
          <p:nvSpPr>
            <p:cNvPr id="864786436" name="Прямоугольник: скругленные углы 4"/>
            <p:cNvSpPr/>
            <p:nvPr/>
          </p:nvSpPr>
          <p:spPr bwMode="auto">
            <a:xfrm flipH="0" flipV="0">
              <a:off x="0" y="453782"/>
              <a:ext cx="2687585" cy="733106"/>
            </a:xfrm>
            <a:prstGeom prst="roundRect">
              <a:avLst>
                <a:gd name="adj" fmla="val 6588"/>
              </a:avLst>
            </a:prstGeom>
            <a:solidFill>
              <a:srgbClr val="E3ECF6"/>
            </a:solidFill>
            <a:ln w="57150">
              <a:noFill/>
            </a:ln>
          </p:spPr>
          <p:style>
            <a:lnRef idx="2">
              <a:schemeClr val="accent3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3977" tIns="143977" rIns="143977" bIns="143977" numCol="1" spcCol="1268" anchor="b" anchorCtr="0">
              <a:noAutofit/>
            </a:bodyPr>
            <a:lstStyle/>
            <a:p>
              <a:pPr>
                <a:defRPr/>
              </a:pPr>
              <a:endParaRPr/>
            </a:p>
          </p:txBody>
        </p:sp>
        <p:sp>
          <p:nvSpPr>
            <p:cNvPr id="514041954" name="Прямоугольник: скругленные углы 19"/>
            <p:cNvSpPr/>
            <p:nvPr/>
          </p:nvSpPr>
          <p:spPr bwMode="auto">
            <a:xfrm>
              <a:off x="0" y="0"/>
              <a:ext cx="2687585" cy="1199814"/>
            </a:xfrm>
            <a:prstGeom prst="roundRect">
              <a:avLst>
                <a:gd name="adj" fmla="val 13178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rgbClr val="000000"/>
            </a:fillRef>
            <a:effectRef idx="0">
              <a:schemeClr val="accent3">
                <a:hueOff val="0"/>
                <a:satOff val="0"/>
                <a:lumOff val="-6823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5983" tIns="95983" rIns="95983" bIns="95983" numCol="1" spcCol="1268" anchor="ctr" anchorCtr="0">
              <a:noAutofit/>
            </a:bodyPr>
            <a:lstStyle/>
            <a:p>
              <a:pPr algn="ctr" defTabSz="711128">
                <a:defRPr/>
              </a:pPr>
              <a:r>
                <a:rPr lang="ru-RU" sz="1600" b="1" i="0" u="none" strike="noStrike" cap="none" spc="0">
                  <a:solidFill>
                    <a:schemeClr val="lt1"/>
                  </a:solidFill>
                  <a:latin typeface="Arial"/>
                  <a:ea typeface="Arial"/>
                  <a:cs typeface="Arial"/>
                </a:rPr>
                <a:t>агент</a:t>
              </a:r>
              <a:endParaRPr sz="1200"/>
            </a:p>
          </p:txBody>
        </p:sp>
      </p:grpSp>
      <p:sp>
        <p:nvSpPr>
          <p:cNvPr id="1342941091" name="Дуга 27"/>
          <p:cNvSpPr/>
          <p:nvPr/>
        </p:nvSpPr>
        <p:spPr bwMode="auto">
          <a:xfrm>
            <a:off x="5149073" y="1665324"/>
            <a:ext cx="1893852" cy="1523711"/>
          </a:xfrm>
          <a:prstGeom prst="arc">
            <a:avLst>
              <a:gd name="adj1" fmla="val 11466578"/>
              <a:gd name="adj2" fmla="val 20865846"/>
            </a:avLst>
          </a:prstGeom>
          <a:ln w="57150">
            <a:solidFill>
              <a:schemeClr val="bg2">
                <a:lumMod val="40000"/>
                <a:lumOff val="6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1449481055" name="Дуга 28"/>
          <p:cNvSpPr/>
          <p:nvPr/>
        </p:nvSpPr>
        <p:spPr bwMode="auto">
          <a:xfrm flipV="1">
            <a:off x="7998724" y="2533589"/>
            <a:ext cx="1893852" cy="1523711"/>
          </a:xfrm>
          <a:prstGeom prst="arc">
            <a:avLst>
              <a:gd name="adj1" fmla="val 11466578"/>
              <a:gd name="adj2" fmla="val 20865846"/>
            </a:avLst>
          </a:prstGeom>
          <a:ln w="57150">
            <a:solidFill>
              <a:schemeClr val="bg2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894044037" name="Дуга 27"/>
          <p:cNvSpPr/>
          <p:nvPr/>
        </p:nvSpPr>
        <p:spPr bwMode="auto">
          <a:xfrm flipH="1" flipV="0">
            <a:off x="1840588" y="1136923"/>
            <a:ext cx="8404411" cy="1523711"/>
          </a:xfrm>
          <a:prstGeom prst="arc">
            <a:avLst>
              <a:gd name="adj1" fmla="val 10532969"/>
              <a:gd name="adj2" fmla="val 326805"/>
            </a:avLst>
          </a:prstGeom>
          <a:ln w="57150">
            <a:solidFill>
              <a:schemeClr val="bg2">
                <a:lumMod val="40000"/>
                <a:lumOff val="60000"/>
              </a:schemeClr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>
              <a:defRPr/>
            </a:pPr>
            <a:endParaRPr lang="ru-RU" sz="1200"/>
          </a:p>
        </p:txBody>
      </p:sp>
      <p:sp>
        <p:nvSpPr>
          <p:cNvPr id="1548413573" name="Прямоугольник: скругленные углы 2"/>
          <p:cNvSpPr/>
          <p:nvPr/>
        </p:nvSpPr>
        <p:spPr bwMode="auto">
          <a:xfrm>
            <a:off x="433492" y="5221629"/>
            <a:ext cx="11328972" cy="90068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агент влияет на среду, но не контролирует её</a:t>
            </a:r>
            <a:endParaRPr lang="ru-RU" sz="1600" b="1">
              <a:latin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среда возвращает и состояние, и вознаграждение</a:t>
            </a:r>
            <a:endParaRPr lang="ru-RU" sz="1600">
              <a:latin typeface="Arial"/>
            </a:endParaRPr>
          </a:p>
        </p:txBody>
      </p:sp>
      <p:pic>
        <p:nvPicPr>
          <p:cNvPr id="889837582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9504" y="5585150"/>
            <a:ext cx="468000" cy="468000"/>
          </a:xfrm>
          <a:prstGeom prst="rect">
            <a:avLst/>
          </a:prstGeom>
        </p:spPr>
      </p:pic>
      <p:sp>
        <p:nvSpPr>
          <p:cNvPr id="1003254257" name="TextBox 13"/>
          <p:cNvSpPr txBox="1">
            <a:spLocks noChangeArrowheads="1"/>
          </p:cNvSpPr>
          <p:nvPr/>
        </p:nvSpPr>
        <p:spPr bwMode="auto">
          <a:xfrm flipH="0" flipV="0">
            <a:off x="2565999" y="4057301"/>
            <a:ext cx="1451117" cy="750168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599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marL="0" lvl="1" algn="ctr" defTabSz="859280">
              <a:lnSpc>
                <a:spcPct val="90000"/>
              </a:lnSpc>
              <a:defRPr/>
            </a:pPr>
            <a:r>
              <a:rPr lang="ru-RU" sz="1400" b="0" i="0" u="none" strike="noStrike" cap="none" spc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Arial"/>
                <a:ea typeface="Arial"/>
                <a:cs typeface="Arial"/>
              </a:rPr>
              <a:t>от агента идёт действие</a:t>
            </a:r>
            <a:endParaRPr sz="1400"/>
          </a:p>
          <a:p>
            <a:pPr>
              <a:defRPr/>
            </a:pPr>
            <a:endParaRPr/>
          </a:p>
        </p:txBody>
      </p:sp>
      <p:sp>
        <p:nvSpPr>
          <p:cNvPr id="1485860633" name="TextBox 13"/>
          <p:cNvSpPr txBox="1">
            <a:spLocks noChangeArrowheads="1"/>
          </p:cNvSpPr>
          <p:nvPr/>
        </p:nvSpPr>
        <p:spPr bwMode="auto">
          <a:xfrm flipH="0" flipV="0">
            <a:off x="7755026" y="4057301"/>
            <a:ext cx="2381247" cy="914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defTabSz="457200"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Calibri"/>
              </a:defRPr>
            </a:lvl5pPr>
            <a:lvl6pPr marL="2514599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 defTabSz="4572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 algn="ctr"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от среды — новое состояние и вознаграждение</a:t>
            </a:r>
            <a:endParaRPr/>
          </a:p>
        </p:txBody>
      </p:sp>
      <p:sp>
        <p:nvSpPr>
          <p:cNvPr id="2120182536" name="Прямоугольник: скругленные углы 14"/>
          <p:cNvSpPr/>
          <p:nvPr/>
        </p:nvSpPr>
        <p:spPr bwMode="auto">
          <a:xfrm rot="0" flipH="0" flipV="0">
            <a:off x="9210996" y="2204927"/>
            <a:ext cx="2694064" cy="1256064"/>
          </a:xfrm>
          <a:prstGeom prst="roundRect">
            <a:avLst>
              <a:gd name="adj" fmla="val 12015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00000"/>
          </a:fillRef>
          <a:effectRef idx="0">
            <a:schemeClr val="accent3">
              <a:hueOff val="0"/>
              <a:satOff val="0"/>
              <a:lumOff val="-6823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5983" tIns="95983" rIns="95983" bIns="95983" numCol="1" spcCol="1268" anchor="ctr" anchorCtr="0">
            <a:spAutoFit/>
          </a:bodyPr>
          <a:lstStyle/>
          <a:p>
            <a:pPr algn="ctr" defTabSz="711128">
              <a:defRPr/>
            </a:pPr>
            <a:endParaRPr lang="ru-RU" sz="1600" b="1"/>
          </a:p>
          <a:p>
            <a:pPr algn="ctr" defTabSz="711128">
              <a:defRPr/>
            </a:pPr>
            <a:r>
              <a:rPr lang="ru-RU" sz="16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состояние и вознаграждение</a:t>
            </a:r>
            <a:endParaRPr lang="ru-RU" sz="1600" b="1"/>
          </a:p>
          <a:p>
            <a:pPr algn="ctr" defTabSz="711128">
              <a:defRPr/>
            </a:pPr>
            <a:endParaRPr lang="ru-RU" sz="16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4748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7970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Обозначения S, A, R, t</a:t>
            </a:r>
            <a:endParaRPr/>
          </a:p>
        </p:txBody>
      </p:sp>
      <p:sp>
        <p:nvSpPr>
          <p:cNvPr id="1011822162" name="Прямоугольник: скругленные углы 5"/>
          <p:cNvSpPr/>
          <p:nvPr/>
        </p:nvSpPr>
        <p:spPr bwMode="auto">
          <a:xfrm flipH="0" flipV="0">
            <a:off x="1055810" y="1109260"/>
            <a:ext cx="4433185" cy="3550519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S — множество состояний: все ситуации, в которых агент может оказаться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A — множество действий: всё, что агент может сделать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 — множество вознаграждений: числа, которыми оцениваем результат</a:t>
            </a:r>
            <a:br>
              <a:rPr/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t — время, номер шага</a:t>
            </a:r>
            <a:endParaRPr/>
          </a:p>
        </p:txBody>
      </p:sp>
      <p:sp>
        <p:nvSpPr>
          <p:cNvPr id="432053311" name="Прямоугольник: скругленные углы 2"/>
          <p:cNvSpPr/>
          <p:nvPr/>
        </p:nvSpPr>
        <p:spPr bwMode="auto">
          <a:xfrm>
            <a:off x="431798" y="5221629"/>
            <a:ext cx="11328972" cy="89255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состояние (state) — описание текущей ситуации, по которому агент принимает решение. Вознаграждение (reward, R) — числовая оценка результата</a:t>
            </a:r>
            <a:endParaRPr lang="ru-RU" sz="1600" b="1">
              <a:latin typeface="Arial"/>
            </a:endParaRPr>
          </a:p>
        </p:txBody>
      </p:sp>
      <p:pic>
        <p:nvPicPr>
          <p:cNvPr id="1238280316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433906"/>
            <a:ext cx="468000" cy="468000"/>
          </a:xfrm>
          <a:prstGeom prst="rect">
            <a:avLst/>
          </a:prstGeom>
        </p:spPr>
      </p:pic>
      <p:pic>
        <p:nvPicPr>
          <p:cNvPr id="162213691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920382" y="922488"/>
            <a:ext cx="4856896" cy="38452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273784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8330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Один шаг во времени</a:t>
            </a:r>
            <a:endParaRPr/>
          </a:p>
        </p:txBody>
      </p:sp>
      <p:sp>
        <p:nvSpPr>
          <p:cNvPr id="362950296" name="Прямоугольник: скругленные углы 5"/>
          <p:cNvSpPr/>
          <p:nvPr/>
        </p:nvSpPr>
        <p:spPr bwMode="auto">
          <a:xfrm flipH="0" flipV="0">
            <a:off x="1055810" y="1109259"/>
            <a:ext cx="3025953" cy="3550518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действие — в момент t, результат — в момент t+1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Вознаграждение приходит после действия — отсюда индекс t+1</a:t>
            </a:r>
            <a:endParaRPr/>
          </a:p>
        </p:txBody>
      </p:sp>
      <p:sp>
        <p:nvSpPr>
          <p:cNvPr id="1096073030" name="Прямоугольник: скругленные углы 2"/>
          <p:cNvSpPr/>
          <p:nvPr/>
        </p:nvSpPr>
        <p:spPr bwMode="auto">
          <a:xfrm>
            <a:off x="431798" y="5221629"/>
            <a:ext cx="11329333" cy="892554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шаг взаимодействия (timestep) — переход «состояние → действие → вознаграждение → новое состояние</a:t>
            </a:r>
            <a:endParaRPr lang="ru-RU" sz="1600" b="1">
              <a:latin typeface="Arial"/>
            </a:endParaRPr>
          </a:p>
        </p:txBody>
      </p:sp>
      <p:pic>
        <p:nvPicPr>
          <p:cNvPr id="1742486477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433905"/>
            <a:ext cx="468000" cy="468000"/>
          </a:xfrm>
          <a:prstGeom prst="rect">
            <a:avLst/>
          </a:prstGeom>
        </p:spPr>
      </p:pic>
      <p:pic>
        <p:nvPicPr>
          <p:cNvPr id="7197867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525467" y="1845506"/>
            <a:ext cx="7235664" cy="2537522"/>
          </a:xfrm>
          <a:prstGeom prst="rect">
            <a:avLst/>
          </a:prstGeom>
        </p:spPr>
      </p:pic>
      <p:pic>
        <p:nvPicPr>
          <p:cNvPr id="37504194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015659" y="1109259"/>
            <a:ext cx="5805952" cy="9382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863852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8690" cy="731879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От шага к эпизоду: траектория и терминальное состояние</a:t>
            </a:r>
            <a:endParaRPr/>
          </a:p>
        </p:txBody>
      </p:sp>
      <p:sp>
        <p:nvSpPr>
          <p:cNvPr id="766957555" name="Прямоугольник: скругленные углы 2"/>
          <p:cNvSpPr/>
          <p:nvPr/>
        </p:nvSpPr>
        <p:spPr bwMode="auto">
          <a:xfrm>
            <a:off x="431798" y="5221629"/>
            <a:ext cx="11331133" cy="151825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Траектория — последовательность «состояние, действие, вознаграждение» от начала до конца. Эпизод — одно взаимодействие агента со средой от начального состояния до терминального</a:t>
            </a:r>
            <a:endParaRPr lang="ru-RU" sz="18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Терминальное состояние — состояние, в котором взаимодействие прекращается</a:t>
            </a:r>
            <a:endParaRPr lang="ru-RU" sz="1600" b="1">
              <a:latin typeface="Arial"/>
            </a:endParaRPr>
          </a:p>
        </p:txBody>
      </p:sp>
      <p:pic>
        <p:nvPicPr>
          <p:cNvPr id="2097063660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726441"/>
            <a:ext cx="468000" cy="468000"/>
          </a:xfrm>
          <a:prstGeom prst="rect">
            <a:avLst/>
          </a:prstGeom>
        </p:spPr>
      </p:pic>
      <p:pic>
        <p:nvPicPr>
          <p:cNvPr id="138823435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402635" y="1936656"/>
            <a:ext cx="6358495" cy="3121579"/>
          </a:xfrm>
          <a:prstGeom prst="rect">
            <a:avLst/>
          </a:prstGeom>
        </p:spPr>
      </p:pic>
      <p:sp>
        <p:nvSpPr>
          <p:cNvPr id="1334900334" name="Прямоугольник: скругленные углы 5"/>
          <p:cNvSpPr/>
          <p:nvPr/>
        </p:nvSpPr>
        <p:spPr bwMode="auto">
          <a:xfrm flipH="0" flipV="0">
            <a:off x="488622" y="1310994"/>
            <a:ext cx="4629686" cy="36655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Траектория — полная история взаимодействия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Терминальное состояние — момент, когда взаимодействие прекращается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(в примере — S4, выход)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Эпизод — всё от начального состояния до терминального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Примеры: лабиринт, партия в шахматы, смена таксиста</a:t>
            </a:r>
            <a:endParaRPr/>
          </a:p>
        </p:txBody>
      </p:sp>
      <p:pic>
        <p:nvPicPr>
          <p:cNvPr id="878549407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560486" y="1310994"/>
            <a:ext cx="6042794" cy="5448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24621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8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Вознаграждение — сигнал, а не цель</a:t>
            </a:r>
            <a:endParaRPr/>
          </a:p>
        </p:txBody>
      </p:sp>
      <p:sp>
        <p:nvSpPr>
          <p:cNvPr id="1223710911" name="Прямоугольник: скругленные углы 5"/>
          <p:cNvSpPr/>
          <p:nvPr/>
        </p:nvSpPr>
        <p:spPr bwMode="auto">
          <a:xfrm flipH="0" flipV="0">
            <a:off x="432592" y="2343897"/>
            <a:ext cx="4536303" cy="4202205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Вознаграждение — сигнал «здесь и сейчас», оценка за один шаг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 — не максимум следующего вознаграждения, а сумма за всё время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Примеры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шахматист (съесть пешку сейчас или тихий ход к мату через десять ходов);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661900" lvl="1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зарплата (потратить за день или отложить на квартиру)</a:t>
            </a:r>
            <a:endParaRPr lang="ru-RU" sz="16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800" b="1" i="0" u="none" strike="noStrike" cap="none" spc="0">
                <a:solidFill>
                  <a:schemeClr val="bg2"/>
                </a:solidFill>
                <a:latin typeface="Arial"/>
                <a:ea typeface="Arial"/>
                <a:cs typeface="Arial"/>
              </a:rPr>
              <a:t>А как эту сумму посчитать?</a:t>
            </a:r>
            <a:endParaRPr/>
          </a:p>
        </p:txBody>
      </p:sp>
      <p:sp>
        <p:nvSpPr>
          <p:cNvPr id="1868074802" name="Прямоугольник: скругленные углы 2"/>
          <p:cNvSpPr/>
          <p:nvPr/>
        </p:nvSpPr>
        <p:spPr bwMode="auto">
          <a:xfrm>
            <a:off x="431798" y="1376361"/>
            <a:ext cx="11327173" cy="82754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цель агента — максимизация суммарного вознаграждения за всё время взаимодействия, а не немедленного вознаграждения</a:t>
            </a:r>
            <a:endParaRPr lang="ru-RU" sz="1600">
              <a:latin typeface="Arial"/>
            </a:endParaRPr>
          </a:p>
        </p:txBody>
      </p:sp>
      <p:pic>
        <p:nvPicPr>
          <p:cNvPr id="1246989674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554063"/>
            <a:ext cx="468000" cy="468000"/>
          </a:xfrm>
          <a:prstGeom prst="rect">
            <a:avLst/>
          </a:prstGeom>
        </p:spPr>
      </p:pic>
      <p:pic>
        <p:nvPicPr>
          <p:cNvPr id="203974547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136029" y="3172316"/>
            <a:ext cx="6958925" cy="25453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48141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9050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Доход: сумма будущих вознаграждений</a:t>
            </a:r>
            <a:endParaRPr/>
          </a:p>
        </p:txBody>
      </p:sp>
      <p:sp>
        <p:nvSpPr>
          <p:cNvPr id="1514462617" name="Прямоугольник: скругленные углы 5"/>
          <p:cNvSpPr/>
          <p:nvPr/>
        </p:nvSpPr>
        <p:spPr bwMode="auto">
          <a:xfrm flipH="0" flipV="0">
            <a:off x="488621" y="1882494"/>
            <a:ext cx="11272944" cy="154650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G — доход; 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первое вознаграждение после момента t; </a:t>
            </a:r>
            <a:endParaRPr lang="ru-RU" sz="1600" u="none" strike="noStrike" cap="none" spc="0">
              <a:solidFill>
                <a:schemeClr val="tx1"/>
              </a:solidFill>
              <a:latin typeface="Cambria Math"/>
              <a:ea typeface="Cambria Math"/>
              <a:cs typeface="Cambria Math"/>
            </a:endParaRPr>
          </a:p>
          <a:p>
            <a:pPr marL="261849" indent="-261849">
              <a:buFont typeface="Arial"/>
              <a:buChar char="•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(гамма) — вес, который уменьшает дальние вознаграждени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я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доход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— сумма будущих вознаграждений с убывающим весом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188481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27183" y="4065694"/>
            <a:ext cx="10537631" cy="13691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544577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9050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Зачем нужно дисконтирование</a:t>
            </a:r>
            <a:endParaRPr/>
          </a:p>
        </p:txBody>
      </p:sp>
      <p:sp>
        <p:nvSpPr>
          <p:cNvPr id="1545813033" name="Прямоугольник: скругленные углы 2"/>
          <p:cNvSpPr/>
          <p:nvPr/>
        </p:nvSpPr>
        <p:spPr bwMode="auto">
          <a:xfrm>
            <a:off x="431798" y="5221629"/>
            <a:ext cx="11336893" cy="895606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коэффициент дисконтирования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ru-RU" sz="1800" u="none" strike="noStrike" cap="none" spc="0">
                          <a:solidFill>
                            <a:schemeClr val="l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ru-RU" sz="1800" u="none" strike="noStrike" cap="none" spc="0">
                          <a:solidFill>
                            <a:schemeClr val="l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∈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[0,1] — насколько агент учитывает будущее. Эффективный горизонт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ru-RU" sz="1800" u="none" strike="noStrike" cap="none" spc="0">
                          <a:solidFill>
                            <a:schemeClr val="l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≈</m:t>
                      </m:r>
                      <m:r>
                        <m:rPr>
                          <m:sty m:val="b"/>
                        </m:rPr>
                        <a:rPr lang="ru-RU" sz="1800" u="none" strike="noStrike" cap="none" spc="0">
                          <a:solidFill>
                            <a:schemeClr val="l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/(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ru-RU" sz="1800" u="none" strike="noStrike" cap="none" spc="0">
                          <a:solidFill>
                            <a:schemeClr val="lt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1-γ</m:t>
                      </m:r>
                    </m:oMath>
                  </m:oMathPara>
                </a14:m>
              </mc:Choice>
              <mc:Fallback/>
            </mc:AlternateContent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)</a:t>
            </a:r>
            <a:endParaRPr lang="ru-RU" sz="1600" b="1">
              <a:latin typeface="Arial"/>
            </a:endParaRPr>
          </a:p>
        </p:txBody>
      </p:sp>
      <p:pic>
        <p:nvPicPr>
          <p:cNvPr id="1751586105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435431"/>
            <a:ext cx="468000" cy="468000"/>
          </a:xfrm>
          <a:prstGeom prst="rect">
            <a:avLst/>
          </a:prstGeom>
        </p:spPr>
      </p:pic>
      <p:sp>
        <p:nvSpPr>
          <p:cNvPr id="419762360" name="Прямоугольник: скругленные углы 5"/>
          <p:cNvSpPr/>
          <p:nvPr/>
        </p:nvSpPr>
        <p:spPr bwMode="auto">
          <a:xfrm flipH="0" flipV="0">
            <a:off x="488621" y="1310994"/>
            <a:ext cx="4629686" cy="36655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γ — число от нуля до единицы: 0 — смотрим только на следующий шаг, 1 — смотрим в бесконечность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Математическая причина: бесконечная сумма расходится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Смысловая: сегодняшнее вознаграждение ценнее будущего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Инженерная: дальнее будущее хуже предсказуемо</a:t>
            </a:r>
            <a:endParaRPr/>
          </a:p>
        </p:txBody>
      </p:sp>
      <p:pic>
        <p:nvPicPr>
          <p:cNvPr id="210373877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745909" y="2285346"/>
            <a:ext cx="5705474" cy="1876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394021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9770" cy="368027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меняет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b"/>
                        </m:rPr>
                        <a:rPr lang="ru-RU" sz="30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: считаем на числах</a:t>
            </a:r>
            <a:endParaRPr/>
          </a:p>
        </p:txBody>
      </p:sp>
      <p:sp>
        <p:nvSpPr>
          <p:cNvPr id="489442792" name="Прямоугольник: скругленные углы 2"/>
          <p:cNvSpPr/>
          <p:nvPr/>
        </p:nvSpPr>
        <p:spPr bwMode="auto">
          <a:xfrm>
            <a:off x="432618" y="4978834"/>
            <a:ext cx="11340493" cy="1477625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Откуда 1/(1−γ):</a:t>
            </a: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18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обозначим сумму S; тогда S = 1 + γS, потому что всё после первой единицы — та же сумма, умноженная на γ; значит S = 1/(1−γ)</a:t>
            </a:r>
            <a:endParaRPr lang="ru-RU" sz="1800" b="1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>
              <a:defRPr/>
            </a:pPr>
            <a:endParaRPr lang="ru-RU" sz="1800" b="1" i="0" u="none" strike="noStrike" cap="none" spc="0">
              <a:solidFill>
                <a:schemeClr val="lt1"/>
              </a:solidFill>
              <a:latin typeface="Arial"/>
              <a:cs typeface="Arial"/>
            </a:endParaRPr>
          </a:p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γ — это настройка, которую задаём мы</a:t>
            </a:r>
            <a:endParaRPr lang="ru-RU" sz="1600" b="1">
              <a:latin typeface="Arial"/>
            </a:endParaRPr>
          </a:p>
        </p:txBody>
      </p:sp>
      <p:pic>
        <p:nvPicPr>
          <p:cNvPr id="903799989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483647"/>
            <a:ext cx="468000" cy="468000"/>
          </a:xfrm>
          <a:prstGeom prst="rect">
            <a:avLst/>
          </a:prstGeom>
        </p:spPr>
      </p:pic>
      <p:graphicFrame>
        <p:nvGraphicFramePr>
          <p:cNvPr id="884100896" name=""/>
          <p:cNvGraphicFramePr>
            <a:graphicFrameLocks xmlns:a="http://schemas.openxmlformats.org/drawingml/2006/main"/>
          </p:cNvGraphicFramePr>
          <p:nvPr/>
        </p:nvGraphicFramePr>
        <p:xfrm rot="0">
          <a:off x="2031999" y="2103119"/>
          <a:ext cx="8127999" cy="17373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r>
                                  <m:rPr>
                                    <m:sty m:val="b"/>
                                  </m:rPr>
                                  <a:rPr lang="ru-RU" sz="1800" u="none" strike="noStrike" cap="none" spc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γ</m:t>
                                </m:r>
                              </m:oMath>
                            </m:oMathPara>
                          </a14:m>
                        </mc:Choice>
                        <mc:Fallback/>
                      </mc:AlternateContent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Доход G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Смотрит вперёд примерно на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 шагов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0,5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2 шага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0,9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 шагов</a:t>
                      </a:r>
                      <a:endParaRPr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0,99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100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/>
                        <a:t>100 шагов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079765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9410" cy="731879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Где можно γ = 1: эпизодические и непрерывные задачи</a:t>
            </a:r>
            <a:endParaRPr/>
          </a:p>
        </p:txBody>
      </p:sp>
      <p:sp>
        <p:nvSpPr>
          <p:cNvPr id="1062938046" name="Прямоугольник: скругленные углы 2"/>
          <p:cNvSpPr/>
          <p:nvPr/>
        </p:nvSpPr>
        <p:spPr bwMode="auto">
          <a:xfrm>
            <a:off x="431798" y="5221629"/>
            <a:ext cx="11337253" cy="1185090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299"/>
              </a:spcAft>
              <a:defRPr/>
            </a:pPr>
            <a:r>
              <a:rPr lang="ru-RU" sz="1800" b="1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эпизодическая задача — задача с естественным концом (терминальным состоянием). Непрерывная задача — задача без конца. Обесценивание — учёт будущих вознаграждений с убывающим весом</a:t>
            </a:r>
            <a:endParaRPr lang="ru-RU" sz="1600" b="1">
              <a:latin typeface="Arial"/>
            </a:endParaRPr>
          </a:p>
        </p:txBody>
      </p:sp>
      <p:pic>
        <p:nvPicPr>
          <p:cNvPr id="1448417313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5435431"/>
            <a:ext cx="468000" cy="468000"/>
          </a:xfrm>
          <a:prstGeom prst="rect">
            <a:avLst/>
          </a:prstGeom>
        </p:spPr>
      </p:pic>
      <p:sp>
        <p:nvSpPr>
          <p:cNvPr id="830203603" name="Прямоугольник: скругленные углы 5"/>
          <p:cNvSpPr/>
          <p:nvPr/>
        </p:nvSpPr>
        <p:spPr bwMode="auto">
          <a:xfrm flipH="0" flipV="0">
            <a:off x="292518" y="1310993"/>
            <a:ext cx="3070201" cy="3665536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Эпизодические: партия, лабиринт, поездка — есть естественный конец и терминальное состояние; здесь можно γ = 1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Непрерывные: климат в здании, торговый алгоритм, дата-центр — конца нет; γ обязательно меньше единицы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49" indent="-261849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Правило внизу: γ = 1 — только там, где задача заканчивается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</p:txBody>
      </p:sp>
      <p:pic>
        <p:nvPicPr>
          <p:cNvPr id="208739465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483161" y="1892818"/>
            <a:ext cx="8413575" cy="2501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7715844" name="Заголовок 1"/>
          <p:cNvSpPr>
            <a:spLocks noGrp="1"/>
          </p:cNvSpPr>
          <p:nvPr>
            <p:ph type="title"/>
          </p:nvPr>
        </p:nvSpPr>
        <p:spPr bwMode="auto">
          <a:xfrm>
            <a:off x="432618" y="423291"/>
            <a:ext cx="9606888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Стратегия: правило выбора действий</a:t>
            </a:r>
            <a:endParaRPr/>
          </a:p>
        </p:txBody>
      </p:sp>
      <p:sp>
        <p:nvSpPr>
          <p:cNvPr id="109511328" name="Прямоугольник: скругленные углы 5"/>
          <p:cNvSpPr/>
          <p:nvPr/>
        </p:nvSpPr>
        <p:spPr bwMode="auto">
          <a:xfrm flipH="0" flipV="0">
            <a:off x="432592" y="2969558"/>
            <a:ext cx="11326020" cy="3447114"/>
          </a:xfrm>
          <a:prstGeom prst="roundRect">
            <a:avLst>
              <a:gd name="adj" fmla="val 3429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599"/>
              </a:spcAft>
              <a:defRPr/>
            </a:pPr>
            <a:endParaRPr/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Стратегия π — правило выбора действий, отображение состояний в действия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Таблица «состояния × действия», в клетках — вероятности выбора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61850" indent="-261850">
              <a:buFont typeface="Arial"/>
              <a:buChar char="•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Два вида: детерминированная (всегда одно действие) и стохастическая (с вероятностями)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Стратегия — это то, что мы ищем</a:t>
            </a:r>
            <a:endParaRPr lang="ru-RU"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2810642" name="Прямоугольник: скругленные углы 2"/>
          <p:cNvSpPr/>
          <p:nvPr/>
        </p:nvSpPr>
        <p:spPr bwMode="auto">
          <a:xfrm>
            <a:off x="431798" y="1376361"/>
            <a:ext cx="11328253" cy="1250097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Стратегия (policy, π) — правило выбора действий, отображение состояний в действия. 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Детерминированная — всегда одно и то же действие. 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Стохастическая — действия выбираются с вероятностями</a:t>
            </a:r>
            <a:endParaRPr lang="ru-RU" sz="1600">
              <a:latin typeface="Arial"/>
            </a:endParaRPr>
          </a:p>
        </p:txBody>
      </p:sp>
      <p:pic>
        <p:nvPicPr>
          <p:cNvPr id="1030877068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67411"/>
            <a:ext cx="468000" cy="46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85667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432618" y="423291"/>
            <a:ext cx="10522806" cy="366120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ε-жадная стратегия: исследовать или использовать</a:t>
            </a:r>
            <a:endParaRPr/>
          </a:p>
        </p:txBody>
      </p:sp>
      <p:sp>
        <p:nvSpPr>
          <p:cNvPr id="249661187" name="Прямоугольник: скругленные углы 2"/>
          <p:cNvSpPr/>
          <p:nvPr/>
        </p:nvSpPr>
        <p:spPr bwMode="auto">
          <a:xfrm>
            <a:off x="432617" y="1345663"/>
            <a:ext cx="11338332" cy="1590982"/>
          </a:xfrm>
          <a:prstGeom prst="roundRect">
            <a:avLst>
              <a:gd name="adj" fmla="val 10630"/>
            </a:avLst>
          </a:prstGeom>
          <a:solidFill>
            <a:srgbClr val="00AD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0" tIns="144000" rIns="144000" bIns="144000" rtlCol="0" anchor="t">
            <a:spAutoFit/>
          </a:bodyPr>
          <a:lstStyle/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Исследование (exploration) — пробовать новые действия. 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Использование (exploitation) — выбирать то, что уже кажется лучшим. </a:t>
            </a:r>
            <a:endParaRPr lang="ru-RU" sz="1600" b="0" i="0" u="none" strike="noStrike" cap="none" spc="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ε-жа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дная стратегия — с вероят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ностью ε случайное действие, иначе лучшее известное.</a:t>
            </a:r>
            <a:endParaRPr/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599"/>
              </a:spcAft>
              <a:defRPr/>
            </a:pP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ε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 - 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(эпсилон) — вероятность случайного действия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настройка, которую задаём мы</a:t>
            </a:r>
            <a:r>
              <a:rPr lang="ru-RU" sz="1600" b="0" i="0" u="none" strike="noStrike" cap="none" spc="0">
                <a:solidFill>
                  <a:schemeClr val="lt1"/>
                </a:solidFill>
                <a:latin typeface="Arial"/>
                <a:ea typeface="Arial"/>
                <a:cs typeface="Arial"/>
              </a:rPr>
              <a:t>.</a:t>
            </a:r>
            <a:endParaRPr lang="ru-RU" sz="1600">
              <a:latin typeface="Arial"/>
            </a:endParaRPr>
          </a:p>
        </p:txBody>
      </p:sp>
      <p:pic>
        <p:nvPicPr>
          <p:cNvPr id="32266497" name="Рисунок 3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87810" y="1767411"/>
            <a:ext cx="468000" cy="468000"/>
          </a:xfrm>
          <a:prstGeom prst="rect">
            <a:avLst/>
          </a:prstGeom>
        </p:spPr>
      </p:pic>
      <p:pic>
        <p:nvPicPr>
          <p:cNvPr id="208551297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055809" y="3065429"/>
            <a:ext cx="9701015" cy="35893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395363" name="Прямоугольник: скругленные углы 5"/>
          <p:cNvSpPr/>
          <p:nvPr/>
        </p:nvSpPr>
        <p:spPr bwMode="auto">
          <a:xfrm flipH="0" flipV="0">
            <a:off x="433464" y="1509294"/>
            <a:ext cx="11325067" cy="4660008"/>
          </a:xfrm>
          <a:prstGeom prst="roundRect">
            <a:avLst>
              <a:gd name="adj" fmla="val 325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3976" tIns="107982" rIns="143976" bIns="143976" rtlCol="0" anchor="t"/>
          <a:lstStyle/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endParaRPr sz="1600"/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Схема и обозначения: агент, среда, S, A, R, t — на них встанут вероятности переходов</a:t>
            </a:r>
            <a:endParaRPr lang="ru-RU" sz="1600">
              <a:solidFill>
                <a:schemeClr val="tx1"/>
              </a:solidFill>
              <a:latin typeface="Arial"/>
            </a:endParaRPr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Один шаг: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t+1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; из него вырастет p(s', r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|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s, a)</a:t>
            </a:r>
            <a:endParaRPr lang="ru-RU" sz="1600">
              <a:solidFill>
                <a:schemeClr val="tx1"/>
              </a:solidFill>
              <a:latin typeface="Arial"/>
            </a:endParaRPr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Доход G и дисконтирование γ — на них встанут уравнения Беллмана</a:t>
            </a:r>
            <a:endParaRPr lang="ru-RU" sz="1600">
              <a:solidFill>
                <a:schemeClr val="tx1"/>
              </a:solidFill>
              <a:latin typeface="Arial"/>
            </a:endParaRPr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Тип задачи: эпизодическая или непрерывная — от этого зависит, </a:t>
            </a:r>
            <a:b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</a:b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можно ли γ = 1</a:t>
            </a:r>
            <a:endParaRPr sz="1200"/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endParaRPr sz="1200"/>
          </a:p>
          <a:p>
            <a:pPr marL="233285" indent="-233285" defTabSz="914307">
              <a:spcAft>
                <a:spcPts val="598"/>
              </a:spcAft>
              <a:buClr>
                <a:schemeClr val="bg2"/>
              </a:buClr>
              <a:buFont typeface="Arial"/>
              <a:buChar char="+"/>
              <a:defRPr/>
            </a:pPr>
            <a:endParaRPr sz="1200"/>
          </a:p>
          <a:p>
            <a:pPr defTabSz="914307">
              <a:spcAft>
                <a:spcPts val="598"/>
              </a:spcAft>
              <a:defRPr/>
            </a:pPr>
            <a:endParaRPr sz="1200"/>
          </a:p>
        </p:txBody>
      </p:sp>
      <p:sp>
        <p:nvSpPr>
          <p:cNvPr id="1586654196" name="Заголовок 1"/>
          <p:cNvSpPr>
            <a:spLocks noGrp="1"/>
          </p:cNvSpPr>
          <p:nvPr>
            <p:ph type="title"/>
          </p:nvPr>
        </p:nvSpPr>
        <p:spPr bwMode="auto">
          <a:xfrm>
            <a:off x="433490" y="423753"/>
            <a:ext cx="9615125" cy="731878"/>
          </a:xfrm>
        </p:spPr>
        <p:txBody>
          <a:bodyPr/>
          <a:lstStyle/>
          <a:p>
            <a:pPr>
              <a:defRPr/>
            </a:pPr>
            <a:r>
              <a:rPr lang="ru-RU" sz="3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нужно вынести из этой лекции, чтобы понять следующую</a:t>
            </a:r>
            <a:endParaRPr/>
          </a:p>
        </p:txBody>
      </p:sp>
      <p:pic>
        <p:nvPicPr>
          <p:cNvPr id="1163316610" name="Рисунок 4" descr="Изображение выглядит как Графика, символ, Цвет электрик, логотип&#10;&#10;Автоматически созданное описание"/>
          <p:cNvPicPr>
            <a:picLocks noChangeAspect="1"/>
          </p:cNvPicPr>
          <p:nvPr/>
        </p:nvPicPr>
        <p:blipFill rotWithShape="1">
          <a:blip r:embed="rId3"/>
          <a:srcRect l="0" t="0" r="11664" b="22370"/>
          <a:stretch/>
        </p:blipFill>
        <p:spPr bwMode="auto">
          <a:xfrm>
            <a:off x="6117076" y="1211576"/>
            <a:ext cx="5641457" cy="4957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44245" name="Прямоугольник 3"/>
          <p:cNvSpPr/>
          <p:nvPr/>
        </p:nvSpPr>
        <p:spPr bwMode="auto">
          <a:xfrm>
            <a:off x="4760694" y="3588204"/>
            <a:ext cx="184729" cy="2154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endParaRPr lang="ru-RU" sz="800" b="1">
              <a:solidFill>
                <a:srgbClr val="0038FF"/>
              </a:solidFill>
              <a:latin typeface="Arial"/>
            </a:endParaRPr>
          </a:p>
        </p:txBody>
      </p:sp>
      <p:sp>
        <p:nvSpPr>
          <p:cNvPr id="2091251633" name="Скругленный прямоугольник 11"/>
          <p:cNvSpPr/>
          <p:nvPr/>
        </p:nvSpPr>
        <p:spPr bwMode="auto">
          <a:xfrm flipH="0" flipV="0">
            <a:off x="432670" y="116416"/>
            <a:ext cx="8086842" cy="6688666"/>
          </a:xfrm>
          <a:prstGeom prst="roundRect">
            <a:avLst>
              <a:gd name="adj" fmla="val 3193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0" rIns="180000" bIns="180000" rtlCol="0" anchor="t"/>
          <a:lstStyle/>
          <a:p>
            <a:pPr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Процесс из 8 шагов: </a:t>
            </a:r>
            <a:endParaRPr sz="1600" b="0" i="0" u="none" strike="noStrike" cap="none" spc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бэклог → сбор требований → анализ требований → передача архитектору → постановки → разработка → тестирование → вывод в прод</a:t>
            </a:r>
            <a:endParaRPr sz="1600">
              <a:solidFill>
                <a:schemeClr val="tx1"/>
              </a:solidFill>
              <a:latin typeface="Arial"/>
            </a:endParaRPr>
          </a:p>
          <a:p>
            <a:pPr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Дайте определения для этого процесса: 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кто агент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какие действия доступны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какие есть шаги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(что считается одним шагом)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что такое состояние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какие могут быть вознаграждения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>
              <a:spcAft>
                <a:spcPts val="597"/>
              </a:spcAft>
              <a:defRPr/>
            </a:pPr>
            <a:r>
              <a:rPr lang="ru-RU" sz="1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Каждое определение — одна фраза про ваш процесс: не назвать, а определить и провести границу (где агент, а где среда)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Уровень 1 — все пять определений.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Уровень 2 — добавьте тип задачи (эпизодическая или непрерывная) и γ с обоснованием.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Уровень 3 — </a:t>
            </a: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добавьте стратегию: правило выбора действий для вашего агента. Покажите траекторию одной задачи и посчитайте доход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ru-RU" sz="1600" b="0" i="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sz="1600" u="none" strike="noStrike" cap="none" spc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при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ru-RU" sz="1600" u="none" strike="noStrike" cap="none" spc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= 0,9.</a:t>
            </a:r>
            <a:endParaRPr sz="1600">
              <a:solidFill>
                <a:schemeClr val="tx1"/>
              </a:solidFill>
              <a:latin typeface="Arial"/>
            </a:endParaRPr>
          </a:p>
          <a:p>
            <a:pPr marL="285750" indent="-285750">
              <a:spcAft>
                <a:spcPts val="597"/>
              </a:spcAft>
              <a:buClr>
                <a:schemeClr val="bg2"/>
              </a:buClr>
              <a:buFont typeface="Arial"/>
              <a:buChar char="+"/>
              <a:defRPr/>
            </a:pPr>
            <a:r>
              <a:rPr lang="ru-RU" sz="16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Будет плюсом: как в вашем процессе выглядела бы ε-жадная стратегия — что здесь случайное действие, что лучшее известное и какое ε вы бы взяли</a:t>
            </a:r>
            <a:r>
              <a:rPr sz="1600">
                <a:solidFill>
                  <a:schemeClr val="tx1"/>
                </a:solidFill>
                <a:latin typeface="Arial"/>
              </a:rPr>
              <a:t>.</a:t>
            </a:r>
            <a:endParaRPr sz="1600" b="0" i="0" u="none" strike="noStrike" cap="none" spc="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1190013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1768858" y="423753"/>
            <a:ext cx="8351165" cy="366120"/>
          </a:xfrm>
        </p:spPr>
        <p:txBody>
          <a:bodyPr/>
          <a:lstStyle/>
          <a:p>
            <a:pPr>
              <a:defRPr/>
            </a:pPr>
            <a:r>
              <a:rPr/>
              <a:t>ДЗ на следующую лекцию</a:t>
            </a:r>
            <a:endParaRPr/>
          </a:p>
        </p:txBody>
      </p:sp>
      <p:pic>
        <p:nvPicPr>
          <p:cNvPr id="1495640318" name="Рисунок 12" descr="Изображение выглядит как мультфильм, круг&#10;&#10;Автоматически созданное описание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519513" y="2171677"/>
            <a:ext cx="3677959" cy="3918849"/>
          </a:xfrm>
          <a:prstGeom prst="rect">
            <a:avLst/>
          </a:prstGeom>
        </p:spPr>
      </p:pic>
      <p:pic>
        <p:nvPicPr>
          <p:cNvPr id="1721896508" name="Рисунок 10" descr="Изображение выглядит как легкий, ночное небо&#10;&#10;Автоматически созданное описание"/>
          <p:cNvPicPr>
            <a:picLocks noChangeAspect="1"/>
          </p:cNvPicPr>
          <p:nvPr/>
        </p:nvPicPr>
        <p:blipFill rotWithShape="1">
          <a:blip r:embed="rId4"/>
          <a:srcRect l="0" t="14141" r="0" b="9096"/>
          <a:stretch/>
        </p:blipFill>
        <p:spPr bwMode="auto">
          <a:xfrm>
            <a:off x="432670" y="347159"/>
            <a:ext cx="844032" cy="6478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2">
            <a:lumMod val="20000"/>
            <a:lumOff val="80000"/>
            <a:alpha val="70000"/>
          </a:schemeClr>
        </a:solidFill>
        <a:ln>
          <a:noFill/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DocSecurity>0</DocSecurity>
  <PresentationFormat>On-screen Show (4:3)</PresentationFormat>
  <Paragraphs>0</Paragraphs>
  <Slides>20</Slides>
  <Notes>20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subject/>
  <dc:creator>Приходько Антон</dc:creator>
  <cp:keywords/>
  <dc:description/>
  <dc:identifier/>
  <dc:language/>
  <cp:lastModifiedBy/>
  <cp:revision>187</cp:revision>
  <dcterms:created xsi:type="dcterms:W3CDTF">2023-02-20T15:32:58Z</dcterms:created>
  <dcterms:modified xsi:type="dcterms:W3CDTF">2026-09-20T13:04:44Z</dcterms:modified>
  <cp:category/>
  <cp:contentStatus/>
  <cp:version/>
</cp:coreProperties>
</file>