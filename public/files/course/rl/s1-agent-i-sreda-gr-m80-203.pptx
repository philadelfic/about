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slideLayouts/slideLayout18.xml" ContentType="application/vnd.openxmlformats-officedocument.presentationml.slideLayout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s/slide32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29.xml" ContentType="application/vnd.openxmlformats-officedocument.presentationml.slide+xml"/>
  <Override PartName="/ppt/slideLayouts/slideLayout13.xml" ContentType="application/vnd.openxmlformats-officedocument.presentationml.slideLayout+xml"/>
  <Override PartName="/ppt/slides/slide28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s/slide22.xml" ContentType="application/vnd.openxmlformats-officedocument.presentationml.slide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3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>
      <p:cViewPr varScale="1">
        <p:scale>
          <a:sx n="68" d="100"/>
          <a:sy n="68" d="100"/>
        </p:scale>
        <p:origin x="1098" y="54"/>
      </p:cViewPr>
      <p:guideLst>
        <p:guide pos="3840"/>
        <p:guide pos="2160" orient="horz"/>
        <p:guide pos="867" orient="horz"/>
      </p:guideLst>
    </p:cSldViewPr>
  </p:slideViewPr>
  <p:gridSpacing cx="216001" cy="216001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 /><Relationship Id="rId38" Type="http://schemas.openxmlformats.org/officeDocument/2006/relationships/tableStyles" Target="tableStyles.xml" /><Relationship Id="rId3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7716266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92101186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/>
              </a:defRPr>
            </a:lvl1pPr>
          </a:lstStyle>
          <a:p>
            <a:pPr>
              <a:defRPr/>
            </a:pPr>
            <a:fld id="{EB4590AE-419C-7848-9550-F62033609B25}" type="datetimeFigureOut">
              <a:rPr lang="ru-RU"/>
              <a:t/>
            </a:fld>
            <a:endParaRPr lang="ru-RU"/>
          </a:p>
        </p:txBody>
      </p:sp>
      <p:sp>
        <p:nvSpPr>
          <p:cNvPr id="1789872706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1941186190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30358556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0566477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/>
              </a:defRPr>
            </a:lvl1pPr>
          </a:lstStyle>
          <a:p>
            <a:pPr>
              <a:defRPr/>
            </a:pPr>
            <a:fld id="{57F69232-B7F1-2A44-AAD4-5E776A4A1F79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ftr="1" hdr="0" sldNum="1"/>
  <p:notesStyle>
    <a:lvl1pPr marL="0" algn="l" defTabSz="914400">
      <a:defRPr sz="1200">
        <a:solidFill>
          <a:schemeClr val="tx1"/>
        </a:solidFill>
        <a:latin typeface="Arial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Arial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Arial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Arial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Arial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388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35664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9876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6B899D-A44C-FCF3-B833-1BBDAAA8D3D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6201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2499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56232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83DB41-4FE6-8CC4-2A54-F7B94B73A67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9488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02838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66304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63B350-EA2D-BF50-CF06-FEC5AA7CB34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ADA8D6-BB88-3BE4-CF77-C529DB0753F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5E47A8-E7CE-B9FB-FE50-6EE1C160CE7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31A83D-AC57-02DC-83B3-DA685BF46B3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EFF0AB-C258-1D28-AF00-FB8D9787BD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2EEA61-3114-0CFE-EC88-BAAE6BC13E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583471-314D-575F-3B9C-8B9745980D7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076D6C-0602-C248-CFE8-CD1B27A99E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3DDC71-1354-5B9C-F17D-0BA9CAFE3FF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37D3F9-AFA2-7385-3DDC-F904E079FAA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5C7879-E2C1-328C-A08C-D7BABFD671E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38A8D-AD72-5ED4-E86F-AD9F10BCA7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7B7CB95-187F-1F8D-E3CD-368176726B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D28584-4B1F-A271-143D-6823065034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47401F-DD5D-65BB-DF6A-14203D7D43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EFF35E-7E7A-65AE-24C8-8BE092A8C7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11C764-D3D1-FAC3-C068-C38CB623E1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877BE7-750A-302F-EE79-286F1E1892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1C3C94-685B-6A1D-517D-1FEC6B2362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105EC3-BEF8-D94F-43DB-C83865C6C73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7E64477-1211-F933-3A0E-2764F9EFE3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3FCDA8-8786-1809-1986-CA782CAADB9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DA11E7-3062-8C6B-5DD4-34BD402151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BE3A52B-11AA-9582-F4E0-0512C3B878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E08AA1-91BF-6877-040B-4C9C777BCE5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45EB72-9809-8DAE-EEEE-9B6ACAE575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F3277E-683B-9AC8-4F86-EDE70C4CB0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1CF9C9-08D9-7A12-E95A-7558B666916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D0A850-3565-B2CA-0C18-30082D03E0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8873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14978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48536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EC90EB-CFBE-50C3-C55C-4132CAC600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Титульный слайд 1">
    <p:bg>
      <p:bgPr shadeToTitle="0">
        <a:solidFill>
          <a:srgbClr val="F1F8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17099" name="Текст 3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10525143" y="482012"/>
            <a:ext cx="1282403" cy="307777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r">
              <a:spcBef>
                <a:spcPts val="0"/>
              </a:spcBef>
              <a:buNone/>
              <a:defRPr lang="ru-RU" sz="2000">
                <a:solidFill>
                  <a:schemeClr val="tx1"/>
                </a:solidFill>
                <a:latin typeface="Arial"/>
              </a:defRPr>
            </a:lvl1pPr>
          </a:lstStyle>
          <a:p>
            <a:pPr marL="228600" lvl="0" indent="-228600">
              <a:lnSpc>
                <a:spcPct val="100000"/>
              </a:lnSpc>
              <a:defRPr/>
            </a:pPr>
            <a:r>
              <a:rPr lang="en-US"/>
              <a:t>00.00.202</a:t>
            </a:r>
            <a:r>
              <a:rPr lang="ru-RU"/>
              <a:t>6</a:t>
            </a:r>
            <a:endParaRPr/>
          </a:p>
        </p:txBody>
      </p:sp>
      <p:sp>
        <p:nvSpPr>
          <p:cNvPr id="1516546848" name="Text Placeholder 2"/>
          <p:cNvSpPr>
            <a:spLocks noGrp="1"/>
          </p:cNvSpPr>
          <p:nvPr>
            <p:ph type="body" idx="1" hasCustomPrompt="1"/>
          </p:nvPr>
        </p:nvSpPr>
        <p:spPr bwMode="auto">
          <a:xfrm>
            <a:off x="392407" y="2279703"/>
            <a:ext cx="8482112" cy="30777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sz="20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1000"/>
              </a:spcBef>
              <a:buFont typeface="Arial"/>
              <a:buNone/>
              <a:defRPr/>
            </a:pPr>
            <a:r>
              <a:rPr lang="ru-RU"/>
              <a:t>Подзаголовок</a:t>
            </a:r>
            <a:endParaRPr lang="en-US"/>
          </a:p>
        </p:txBody>
      </p:sp>
      <p:sp>
        <p:nvSpPr>
          <p:cNvPr id="426000961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392407" y="394505"/>
            <a:ext cx="8469310" cy="1523357"/>
          </a:xfrm>
          <a:prstGeom prst="rect">
            <a:avLst/>
          </a:prstGeom>
        </p:spPr>
        <p:txBody>
          <a:bodyPr wrap="square" lIns="0" tIns="72000" rIns="0" bIns="0" anchor="t" anchorCtr="0">
            <a:spAutoFit/>
          </a:bodyPr>
          <a:lstStyle>
            <a:lvl1pPr algn="l" defTabSz="914400">
              <a:lnSpc>
                <a:spcPct val="70000"/>
              </a:lnSpc>
              <a:spcBef>
                <a:spcPts val="0"/>
              </a:spcBef>
              <a:buNone/>
              <a:defRPr lang="en-US" sz="6600" b="1" spc="-70">
                <a:solidFill>
                  <a:schemeClr val="tx1"/>
                </a:solidFill>
                <a:latin typeface="Arial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Длинный заголовок </a:t>
            </a:r>
            <a:br>
              <a:rPr lang="ru-RU"/>
            </a:br>
            <a:r>
              <a:rPr lang="ru-RU"/>
              <a:t>в две строки</a:t>
            </a:r>
            <a:endParaRPr lang="en-US"/>
          </a:p>
        </p:txBody>
      </p:sp>
      <p:pic>
        <p:nvPicPr>
          <p:cNvPr id="660742017" name="Т1"/>
          <p:cNvPicPr>
            <a:picLocks noChangeAspect="1"/>
          </p:cNvPicPr>
          <p:nvPr userDrawn="1"/>
        </p:nvPicPr>
        <p:blipFill rotWithShape="1">
          <a:blip r:embed="rId2"/>
          <a:srcRect l="0" t="2251" r="0" b="2251"/>
          <a:stretch/>
        </p:blipFill>
        <p:spPr bwMode="auto">
          <a:xfrm>
            <a:off x="384366" y="5938771"/>
            <a:ext cx="1446895" cy="540000"/>
          </a:xfrm>
          <a:prstGeom prst="rect">
            <a:avLst/>
          </a:prstGeom>
        </p:spPr>
      </p:pic>
      <p:pic>
        <p:nvPicPr>
          <p:cNvPr id="1410470661" name="Рисунок 8"/>
          <p:cNvPicPr>
            <a:picLocks noChangeAspect="1"/>
          </p:cNvPicPr>
          <p:nvPr userDrawn="1"/>
        </p:nvPicPr>
        <p:blipFill rotWithShape="1">
          <a:blip r:embed="rId3"/>
          <a:srcRect l="0" t="-2336" r="0" b="0"/>
          <a:stretch/>
        </p:blipFill>
        <p:spPr bwMode="auto">
          <a:xfrm>
            <a:off x="3078480" y="1183376"/>
            <a:ext cx="9113520" cy="56746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Разделитель голубой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0576480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32619" y="442994"/>
            <a:ext cx="9415914" cy="59330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80000"/>
              </a:lnSpc>
              <a:defRPr sz="4800" b="1">
                <a:solidFill>
                  <a:schemeClr val="bg1"/>
                </a:solidFill>
                <a:latin typeface="Arial"/>
              </a:defRPr>
            </a:lvl1pPr>
          </a:lstStyle>
          <a:p>
            <a:pPr>
              <a:defRPr/>
            </a:pPr>
            <a:r>
              <a:rPr lang="ru-RU"/>
              <a:t>Обложка раздела</a:t>
            </a:r>
            <a:endParaRPr lang="en-US"/>
          </a:p>
        </p:txBody>
      </p:sp>
      <p:sp>
        <p:nvSpPr>
          <p:cNvPr id="523120396" name="Текст 2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432619" y="1434455"/>
            <a:ext cx="941591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ru-RU" sz="2000">
                <a:solidFill>
                  <a:schemeClr val="bg1"/>
                </a:solidFill>
                <a:latin typeface="Arial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>
              <a:lnSpc>
                <a:spcPct val="100000"/>
              </a:lnSpc>
              <a:spcBef>
                <a:spcPts val="1000"/>
              </a:spcBef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700559009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Содержание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9921297" name="TextBox 3"/>
          <p:cNvSpPr txBox="1"/>
          <p:nvPr/>
        </p:nvSpPr>
        <p:spPr bwMode="auto">
          <a:xfrm>
            <a:off x="431799" y="375858"/>
            <a:ext cx="8950682" cy="6647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914400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ru-RU" sz="4800" b="1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Содержание</a:t>
            </a:r>
            <a:endParaRPr/>
          </a:p>
        </p:txBody>
      </p:sp>
      <p:sp>
        <p:nvSpPr>
          <p:cNvPr id="227854190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881075646" name="Текст 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42913" y="1384989"/>
            <a:ext cx="7698197" cy="1329595"/>
          </a:xfrm>
          <a:prstGeom prst="rect">
            <a:avLst/>
          </a:prstGeom>
        </p:spPr>
        <p:txBody>
          <a:bodyPr lIns="0" tIns="0">
            <a:spAutoFit/>
          </a:bodyPr>
          <a:lstStyle>
            <a:lvl1pPr marL="360000" indent="-3600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2000" b="1">
                <a:solidFill>
                  <a:schemeClr val="bg1"/>
                </a:solidFill>
                <a:latin typeface="+mn-lt"/>
              </a:defRPr>
            </a:lvl1pPr>
            <a:lvl2pPr marL="540000" indent="-21600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Arial"/>
              <a:buChar char="+"/>
              <a:defRPr sz="2000" b="0">
                <a:solidFill>
                  <a:schemeClr val="bg1"/>
                </a:solidFill>
                <a:latin typeface="+mn-lt"/>
              </a:defRPr>
            </a:lvl2pPr>
            <a:lvl3pPr marL="1080000" indent="-216000"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800" b="0">
                <a:solidFill>
                  <a:schemeClr val="bg1"/>
                </a:solidFill>
                <a:latin typeface="+mn-lt"/>
              </a:defRPr>
            </a:lvl3pPr>
            <a:lvl4pPr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4pPr>
            <a:lvl5pPr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5pPr>
          </a:lstStyle>
          <a:p>
            <a:pPr lvl="0">
              <a:defRPr/>
            </a:pPr>
            <a:r>
              <a:rPr lang="ru-RU"/>
              <a:t>Пункт </a:t>
            </a:r>
            <a:endParaRPr/>
          </a:p>
          <a:p>
            <a:pPr lvl="1">
              <a:defRPr/>
            </a:pPr>
            <a:r>
              <a:rPr lang="ru-RU"/>
              <a:t>подпункт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2"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2_Разделитель голубой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8542393" name="Полилиния: фигура 3"/>
          <p:cNvSpPr/>
          <p:nvPr userDrawn="1"/>
        </p:nvSpPr>
        <p:spPr bwMode="auto">
          <a:xfrm>
            <a:off x="11196444" y="443503"/>
            <a:ext cx="562937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 sz="2700">
              <a:latin typeface="Arial"/>
            </a:endParaRPr>
          </a:p>
        </p:txBody>
      </p:sp>
      <p:sp>
        <p:nvSpPr>
          <p:cNvPr id="1583015083" name="TextBox 3"/>
          <p:cNvSpPr txBox="1"/>
          <p:nvPr userDrawn="1"/>
        </p:nvSpPr>
        <p:spPr bwMode="auto">
          <a:xfrm>
            <a:off x="431799" y="443503"/>
            <a:ext cx="8950682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914309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ru-RU" sz="3000" b="1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Знакомство</a:t>
            </a:r>
            <a:endParaRPr sz="3000"/>
          </a:p>
        </p:txBody>
      </p:sp>
      <p:sp>
        <p:nvSpPr>
          <p:cNvPr id="1308397552" name="Рисунок 2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1554057" y="1728890"/>
            <a:ext cx="3404023" cy="3403498"/>
          </a:xfrm>
          <a:prstGeom prst="ellipse">
            <a:avLst/>
          </a:prstGeom>
          <a:solidFill>
            <a:schemeClr val="bg1"/>
          </a:solidFill>
        </p:spPr>
        <p:txBody>
          <a:bodyPr/>
          <a:lstStyle>
            <a:lvl1pPr marL="0" indent="0" algn="ctr">
              <a:buNone/>
              <a:defRPr sz="1850"/>
            </a:lvl1pPr>
          </a:lstStyle>
          <a:p>
            <a:pPr>
              <a:defRPr/>
            </a:pPr>
            <a:r>
              <a:rPr lang="ru-RU"/>
              <a:t>Фото эксперта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2_Содержание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93607172" name="Рисунок 5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2349661" y="1321684"/>
            <a:ext cx="9842339" cy="5536316"/>
          </a:xfrm>
          <a:prstGeom prst="rect">
            <a:avLst/>
          </a:prstGeom>
        </p:spPr>
      </p:pic>
      <p:sp>
        <p:nvSpPr>
          <p:cNvPr id="189033437" name="TextBox 3"/>
          <p:cNvSpPr txBox="1"/>
          <p:nvPr/>
        </p:nvSpPr>
        <p:spPr bwMode="auto">
          <a:xfrm>
            <a:off x="431799" y="375858"/>
            <a:ext cx="8950682" cy="6647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914400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ru-RU" sz="4800" b="1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Вопросы</a:t>
            </a:r>
            <a:endParaRPr/>
          </a:p>
        </p:txBody>
      </p:sp>
      <p:sp>
        <p:nvSpPr>
          <p:cNvPr id="1276940632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736986238" name="Текст 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42913" y="1384989"/>
            <a:ext cx="7698197" cy="1329595"/>
          </a:xfrm>
          <a:prstGeom prst="rect">
            <a:avLst/>
          </a:prstGeom>
        </p:spPr>
        <p:txBody>
          <a:bodyPr lIns="0" tIns="0">
            <a:spAutoFit/>
          </a:bodyPr>
          <a:lstStyle>
            <a:lvl1pPr marL="360000" indent="-3600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2000" b="1">
                <a:solidFill>
                  <a:schemeClr val="bg1"/>
                </a:solidFill>
                <a:latin typeface="+mn-lt"/>
              </a:defRPr>
            </a:lvl1pPr>
            <a:lvl2pPr marL="540000" indent="-21600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Arial"/>
              <a:buChar char="+"/>
              <a:defRPr sz="2000" b="0">
                <a:solidFill>
                  <a:schemeClr val="bg1"/>
                </a:solidFill>
                <a:latin typeface="+mn-lt"/>
              </a:defRPr>
            </a:lvl2pPr>
            <a:lvl3pPr marL="1080000" indent="-216000"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800" b="0">
                <a:solidFill>
                  <a:schemeClr val="bg1"/>
                </a:solidFill>
                <a:latin typeface="+mn-lt"/>
              </a:defRPr>
            </a:lvl3pPr>
            <a:lvl4pPr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4pPr>
            <a:lvl5pPr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5pPr>
          </a:lstStyle>
          <a:p>
            <a:pPr lvl="0">
              <a:defRPr/>
            </a:pPr>
            <a:r>
              <a:rPr lang="ru-RU"/>
              <a:t>Пункт </a:t>
            </a:r>
            <a:endParaRPr/>
          </a:p>
          <a:p>
            <a:pPr lvl="1">
              <a:defRPr/>
            </a:pPr>
            <a:r>
              <a:rPr lang="ru-RU"/>
              <a:t>подпункт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2"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Разделитель темный">
    <p:bg>
      <p:bgPr shadeToTitle="0">
        <a:solidFill>
          <a:srgbClr val="15151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1433529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32619" y="442994"/>
            <a:ext cx="9415914" cy="59330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80000"/>
              </a:lnSpc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Обложка раздела</a:t>
            </a:r>
            <a:endParaRPr lang="en-US"/>
          </a:p>
        </p:txBody>
      </p:sp>
      <p:sp>
        <p:nvSpPr>
          <p:cNvPr id="672308513" name="Текст 2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432619" y="1434455"/>
            <a:ext cx="941591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ru-RU" sz="20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>
              <a:lnSpc>
                <a:spcPct val="100000"/>
              </a:lnSpc>
              <a:spcBef>
                <a:spcPts val="1000"/>
              </a:spcBef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54795247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970964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14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450594216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06530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 + под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1513105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2045502890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256138702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04905536" name="Текст 5"/>
          <p:cNvSpPr>
            <a:spLocks noGrp="1"/>
          </p:cNvSpPr>
          <p:nvPr>
            <p:ph type="body" sz="quarter" idx="13"/>
          </p:nvPr>
        </p:nvSpPr>
        <p:spPr bwMode="auto">
          <a:xfrm>
            <a:off x="431799" y="1458390"/>
            <a:ext cx="9617075" cy="15061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 колон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901939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1009789313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4765274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646349234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431799" y="2945077"/>
            <a:ext cx="5567363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21900368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6191250" y="2945077"/>
            <a:ext cx="5567363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 3 колон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379659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76300642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04649637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431799" y="2945077"/>
            <a:ext cx="3648074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51712993" name="Текст 5"/>
          <p:cNvSpPr>
            <a:spLocks noGrp="1"/>
          </p:cNvSpPr>
          <p:nvPr>
            <p:ph type="body" sz="quarter" idx="17"/>
          </p:nvPr>
        </p:nvSpPr>
        <p:spPr bwMode="auto">
          <a:xfrm>
            <a:off x="4271169" y="2945077"/>
            <a:ext cx="3648074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32280991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8110538" y="2945077"/>
            <a:ext cx="3648074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14267088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 4 колон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695157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105548199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12179377" name="Текст 5"/>
          <p:cNvSpPr>
            <a:spLocks noGrp="1"/>
          </p:cNvSpPr>
          <p:nvPr>
            <p:ph type="body" sz="quarter" idx="17"/>
          </p:nvPr>
        </p:nvSpPr>
        <p:spPr bwMode="auto">
          <a:xfrm>
            <a:off x="431799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26707035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6198657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63521295" name="Текст 5"/>
          <p:cNvSpPr>
            <a:spLocks noGrp="1"/>
          </p:cNvSpPr>
          <p:nvPr>
            <p:ph type="body" sz="quarter" idx="19"/>
          </p:nvPr>
        </p:nvSpPr>
        <p:spPr bwMode="auto">
          <a:xfrm>
            <a:off x="9082087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2781711" name="Текст 5"/>
          <p:cNvSpPr>
            <a:spLocks noGrp="1"/>
          </p:cNvSpPr>
          <p:nvPr>
            <p:ph type="body" sz="quarter" idx="20"/>
          </p:nvPr>
        </p:nvSpPr>
        <p:spPr bwMode="auto">
          <a:xfrm>
            <a:off x="3327821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262808336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5 колон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8431689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1203193506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01667011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397712526" name="Текст 5"/>
          <p:cNvSpPr>
            <a:spLocks noGrp="1"/>
          </p:cNvSpPr>
          <p:nvPr>
            <p:ph type="body" sz="quarter" idx="17"/>
          </p:nvPr>
        </p:nvSpPr>
        <p:spPr bwMode="auto">
          <a:xfrm>
            <a:off x="431799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95899064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2741862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62242401" name="Текст 5"/>
          <p:cNvSpPr>
            <a:spLocks noGrp="1"/>
          </p:cNvSpPr>
          <p:nvPr>
            <p:ph type="body" sz="quarter" idx="19"/>
          </p:nvPr>
        </p:nvSpPr>
        <p:spPr bwMode="auto">
          <a:xfrm>
            <a:off x="5051925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141756645" name="Текст 5"/>
          <p:cNvSpPr>
            <a:spLocks noGrp="1"/>
          </p:cNvSpPr>
          <p:nvPr>
            <p:ph type="body" sz="quarter" idx="20"/>
          </p:nvPr>
        </p:nvSpPr>
        <p:spPr bwMode="auto">
          <a:xfrm>
            <a:off x="7352363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910062021" name="Текст 5"/>
          <p:cNvSpPr>
            <a:spLocks noGrp="1"/>
          </p:cNvSpPr>
          <p:nvPr>
            <p:ph type="body" sz="quarter" idx="21"/>
          </p:nvPr>
        </p:nvSpPr>
        <p:spPr bwMode="auto">
          <a:xfrm>
            <a:off x="9652801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 + фото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4086098" name="Рисунок 6"/>
          <p:cNvSpPr>
            <a:spLocks noGrp="1"/>
          </p:cNvSpPr>
          <p:nvPr>
            <p:ph type="pic" sz="quarter" idx="12"/>
          </p:nvPr>
        </p:nvSpPr>
        <p:spPr bwMode="auto">
          <a:xfrm>
            <a:off x="7343774" y="0"/>
            <a:ext cx="4848225" cy="6858000"/>
          </a:xfrm>
          <a:prstGeom prst="rect">
            <a:avLst/>
          </a:prstGeom>
          <a:solidFill>
            <a:srgbClr val="151515"/>
          </a:solidFill>
        </p:spPr>
        <p:txBody>
          <a:bodyPr/>
          <a:lstStyle>
            <a:lvl1pPr>
              <a:defRPr lang="ru-RU">
                <a:solidFill>
                  <a:srgbClr val="151515"/>
                </a:solidFill>
              </a:defRPr>
            </a:lvl1pPr>
          </a:lstStyle>
          <a:p>
            <a:pPr lvl="0">
              <a:defRPr/>
            </a:pPr>
            <a:endParaRPr lang="ru-RU"/>
          </a:p>
        </p:txBody>
      </p:sp>
      <p:sp>
        <p:nvSpPr>
          <p:cNvPr id="1443642133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6266564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85995933" name="Текст 5"/>
          <p:cNvSpPr>
            <a:spLocks noGrp="1"/>
          </p:cNvSpPr>
          <p:nvPr>
            <p:ph type="body" sz="quarter" idx="14"/>
          </p:nvPr>
        </p:nvSpPr>
        <p:spPr bwMode="auto">
          <a:xfrm>
            <a:off x="431799" y="1022549"/>
            <a:ext cx="6266565" cy="44336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 b="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107637396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387740626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Фото на весь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6024076" name="Рисунок 10"/>
          <p:cNvSpPr>
            <a:spLocks noGrp="1"/>
          </p:cNvSpPr>
          <p:nvPr>
            <p:ph type="pic" sz="quarter" idx="12"/>
          </p:nvPr>
        </p:nvSpPr>
        <p:spPr bwMode="auto">
          <a:xfrm>
            <a:off x="0" y="0"/>
            <a:ext cx="12191999" cy="6858000"/>
          </a:xfrm>
          <a:prstGeom prst="rect">
            <a:avLst/>
          </a:prstGeom>
          <a:solidFill>
            <a:schemeClr val="accent4"/>
          </a:solidFill>
        </p:spPr>
        <p:txBody>
          <a:bodyPr wrap="square" lIns="360000">
            <a:noAutofit/>
          </a:bodyPr>
          <a:lstStyle>
            <a:lvl1pPr marL="0" indent="0" algn="l">
              <a:buNone/>
              <a:defRPr lang="ru-RU" sz="1400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endParaRPr lang="ru-RU"/>
          </a:p>
        </p:txBody>
      </p:sp>
      <p:sp>
        <p:nvSpPr>
          <p:cNvPr id="190364844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392311446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Контент + голубой фон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697768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2058182424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39150747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/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/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541868681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Контент + темный фон">
    <p:bg>
      <p:bgPr shadeToTitle="0">
        <a:solidFill>
          <a:srgbClr val="15151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0223639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1352922926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34510960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/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/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687433250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Маленький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106614" name="Заголовок 3"/>
          <p:cNvSpPr>
            <a:spLocks noGrp="1"/>
          </p:cNvSpPr>
          <p:nvPr>
            <p:ph type="title"/>
          </p:nvPr>
        </p:nvSpPr>
        <p:spPr bwMode="auto">
          <a:xfrm>
            <a:off x="432619" y="466293"/>
            <a:ext cx="9519903" cy="2224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18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404131735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8276815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4_Контент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5324422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3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791467073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06530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Arial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723141524" name="Picture Placeholder 7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1140375" y="1973059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529998383" name="Picture Placeholder 7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2831062" y="1986667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089991350" name="Picture Placeholder 7"/>
          <p:cNvSpPr>
            <a:spLocks noGrp="1"/>
          </p:cNvSpPr>
          <p:nvPr>
            <p:ph type="pic" sz="quarter" idx="15" hasCustomPrompt="1"/>
          </p:nvPr>
        </p:nvSpPr>
        <p:spPr bwMode="auto">
          <a:xfrm>
            <a:off x="4563705" y="1987573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957338192" name="Picture Placeholder 7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6292492" y="1985941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864466362" name="Picture Placeholder 7"/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8052349" y="1973059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610428611" name="Picture Placeholder 7"/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9781136" y="1971427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337881900" name="Picture Placeholder 7"/>
          <p:cNvSpPr>
            <a:spLocks noGrp="1"/>
          </p:cNvSpPr>
          <p:nvPr>
            <p:ph type="pic" sz="quarter" idx="19" hasCustomPrompt="1"/>
          </p:nvPr>
        </p:nvSpPr>
        <p:spPr bwMode="auto">
          <a:xfrm>
            <a:off x="442913" y="3728044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055684817" name="Picture Placeholder 7"/>
          <p:cNvSpPr>
            <a:spLocks noGrp="1"/>
          </p:cNvSpPr>
          <p:nvPr>
            <p:ph type="pic" sz="quarter" idx="20" hasCustomPrompt="1"/>
          </p:nvPr>
        </p:nvSpPr>
        <p:spPr bwMode="auto">
          <a:xfrm>
            <a:off x="2096887" y="3716713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727236463" name="Picture Placeholder 7"/>
          <p:cNvSpPr>
            <a:spLocks noGrp="1"/>
          </p:cNvSpPr>
          <p:nvPr>
            <p:ph type="pic" sz="quarter" idx="21" hasCustomPrompt="1"/>
          </p:nvPr>
        </p:nvSpPr>
        <p:spPr bwMode="auto">
          <a:xfrm>
            <a:off x="3786581" y="3717619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957934036" name="Picture Placeholder 7"/>
          <p:cNvSpPr>
            <a:spLocks noGrp="1"/>
          </p:cNvSpPr>
          <p:nvPr>
            <p:ph type="pic" sz="quarter" idx="22" hasCustomPrompt="1"/>
          </p:nvPr>
        </p:nvSpPr>
        <p:spPr bwMode="auto">
          <a:xfrm>
            <a:off x="5522869" y="3724300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080658554" name="Picture Placeholder 7"/>
          <p:cNvSpPr>
            <a:spLocks noGrp="1"/>
          </p:cNvSpPr>
          <p:nvPr>
            <p:ph type="pic" sz="quarter" idx="23" hasCustomPrompt="1"/>
          </p:nvPr>
        </p:nvSpPr>
        <p:spPr bwMode="auto">
          <a:xfrm>
            <a:off x="7249938" y="3728044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954735630" name="Picture Placeholder 7"/>
          <p:cNvSpPr>
            <a:spLocks noGrp="1"/>
          </p:cNvSpPr>
          <p:nvPr>
            <p:ph type="pic" sz="quarter" idx="24" hasCustomPrompt="1"/>
          </p:nvPr>
        </p:nvSpPr>
        <p:spPr bwMode="auto">
          <a:xfrm>
            <a:off x="8973129" y="3726412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690168368" name="Picture Placeholder 7"/>
          <p:cNvSpPr>
            <a:spLocks noGrp="1"/>
          </p:cNvSpPr>
          <p:nvPr>
            <p:ph type="pic" sz="quarter" idx="25" hasCustomPrompt="1"/>
          </p:nvPr>
        </p:nvSpPr>
        <p:spPr bwMode="auto">
          <a:xfrm>
            <a:off x="10606088" y="3718718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Спасибо за внимание">
    <p:bg>
      <p:bgPr shadeToTitle="0">
        <a:solidFill>
          <a:srgbClr val="F1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6977964" name="TextBox 2"/>
          <p:cNvSpPr txBox="1"/>
          <p:nvPr userDrawn="1"/>
        </p:nvSpPr>
        <p:spPr bwMode="auto">
          <a:xfrm>
            <a:off x="387546" y="414000"/>
            <a:ext cx="6133450" cy="1523357"/>
          </a:xfrm>
          <a:prstGeom prst="rect">
            <a:avLst/>
          </a:prstGeom>
        </p:spPr>
        <p:txBody>
          <a:bodyPr wrap="square" lIns="0" tIns="72000" rIns="0" bIns="0" anchor="t" anchorCtr="0">
            <a:spAutoFit/>
          </a:bodyPr>
          <a:lstStyle>
            <a:lvl1pPr>
              <a:lnSpc>
                <a:spcPct val="70000"/>
              </a:lnSpc>
              <a:spcBef>
                <a:spcPts val="0"/>
              </a:spcBef>
              <a:buNone/>
              <a:defRPr sz="6600" spc="-70">
                <a:solidFill>
                  <a:schemeClr val="bg1"/>
                </a:solidFill>
                <a:latin typeface="ALS Hauss Medium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ru-RU" b="1">
                <a:solidFill>
                  <a:schemeClr val="tx1"/>
                </a:solidFill>
                <a:latin typeface="Arial"/>
              </a:rPr>
              <a:t>Спасибо </a:t>
            </a:r>
            <a:br>
              <a:rPr lang="ru-RU" b="1">
                <a:solidFill>
                  <a:schemeClr val="tx1"/>
                </a:solidFill>
                <a:latin typeface="Arial"/>
              </a:rPr>
            </a:br>
            <a:r>
              <a:rPr lang="ru-RU" b="1">
                <a:solidFill>
                  <a:schemeClr val="tx1"/>
                </a:solidFill>
                <a:latin typeface="Arial"/>
              </a:rPr>
              <a:t>за внимание</a:t>
            </a:r>
            <a:endParaRPr/>
          </a:p>
        </p:txBody>
      </p:sp>
      <p:pic>
        <p:nvPicPr>
          <p:cNvPr id="191939162" name="Рисунок 1"/>
          <p:cNvPicPr>
            <a:picLocks noChangeAspect="1"/>
          </p:cNvPicPr>
          <p:nvPr userDrawn="1"/>
        </p:nvPicPr>
        <p:blipFill rotWithShape="1">
          <a:blip r:embed="rId2"/>
          <a:srcRect l="0" t="-2336" r="0" b="0"/>
          <a:stretch/>
        </p:blipFill>
        <p:spPr bwMode="auto">
          <a:xfrm>
            <a:off x="3370728" y="414000"/>
            <a:ext cx="8821271" cy="6444000"/>
          </a:xfrm>
          <a:prstGeom prst="rect">
            <a:avLst/>
          </a:prstGeom>
        </p:spPr>
      </p:pic>
      <p:pic>
        <p:nvPicPr>
          <p:cNvPr id="1333429853" name="Т1"/>
          <p:cNvPicPr>
            <a:picLocks noChangeAspect="1"/>
          </p:cNvPicPr>
          <p:nvPr userDrawn="1"/>
        </p:nvPicPr>
        <p:blipFill rotWithShape="1">
          <a:blip r:embed="rId3"/>
          <a:srcRect l="0" t="2251" r="0" b="2251"/>
          <a:stretch/>
        </p:blipFill>
        <p:spPr bwMode="auto">
          <a:xfrm>
            <a:off x="384366" y="5938771"/>
            <a:ext cx="1446895" cy="540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2232563" name="Нижний колонтитул 1"/>
          <p:cNvSpPr txBox="1"/>
          <p:nvPr userDrawn="1"/>
        </p:nvSpPr>
        <p:spPr bwMode="auto">
          <a:xfrm>
            <a:off x="432619" y="5806118"/>
            <a:ext cx="9266646" cy="123111"/>
          </a:xfrm>
          <a:prstGeom prst="rect">
            <a:avLst/>
          </a:prstGeom>
        </p:spPr>
        <p:txBody>
          <a:bodyPr vert="horz" lIns="0" tIns="0" rIns="0" bIns="0" rtlCol="0" anchor="b">
            <a:spAutoFit/>
          </a:bodyPr>
          <a:lstStyle>
            <a:defPPr>
              <a:defRPr lang="ru-RU"/>
            </a:defPPr>
            <a:lvl1pPr marL="0" algn="l" defTabSz="914400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1404385328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2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dt="0" ftr="1" hdr="0" sldNum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6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1447656" name="Текст 3"/>
          <p:cNvSpPr>
            <a:spLocks noGrp="1"/>
          </p:cNvSpPr>
          <p:nvPr>
            <p:ph type="body" sz="quarter" idx="10" hasCustomPrompt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5528044" name="Text Placeholder 2"/>
          <p:cNvSpPr>
            <a:spLocks noGrp="1"/>
          </p:cNvSpPr>
          <p:nvPr>
            <p:ph type="body" idx="1" hasCustomPrompt="1"/>
          </p:nvPr>
        </p:nvSpPr>
        <p:spPr bwMode="auto">
          <a:xfrm>
            <a:off x="392405" y="2349757"/>
            <a:ext cx="8488590" cy="24419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ru-RU"/>
              <a:t>Семинар 1</a:t>
            </a:r>
            <a:endParaRPr/>
          </a:p>
        </p:txBody>
      </p:sp>
      <p:sp>
        <p:nvSpPr>
          <p:cNvPr id="555866928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392405" y="394503"/>
            <a:ext cx="8471108" cy="148053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ru-RU" sz="4000" b="1" i="0" u="none" strike="noStrike" cap="none" spc="-69">
                <a:solidFill>
                  <a:schemeClr val="tx1"/>
                </a:solidFill>
                <a:latin typeface="Arial"/>
                <a:ea typeface="Arial"/>
                <a:cs typeface="Arial"/>
              </a:rPr>
              <a:t>Где применимо RL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0792769" name=""/>
          <p:cNvPicPr>
            <a:picLocks noChangeAspect="1"/>
          </p:cNvPicPr>
          <p:nvPr>
            <p:ph type="pic" sz="quarter" idx="10" hasCustomPrompt="1"/>
          </p:nvPr>
        </p:nvPicPr>
        <p:blipFill rotWithShape="1">
          <a:blip r:embed="rId3">
            <a:alphaModFix amt="99999"/>
          </a:blip>
          <a:srcRect l="10265" t="48" r="0" b="23120"/>
          <a:stretch/>
        </p:blipFill>
        <p:spPr bwMode="auto">
          <a:xfrm rot="0" flipH="0" flipV="0">
            <a:off x="2157280" y="2121535"/>
            <a:ext cx="2481459" cy="2614928"/>
          </a:xfrm>
          <a:prstGeom prst="ellipse">
            <a:avLst/>
          </a:prstGeom>
        </p:spPr>
      </p:pic>
      <p:sp>
        <p:nvSpPr>
          <p:cNvPr id="1984185336" name="Прямоугольник: скругленные углы 4"/>
          <p:cNvSpPr/>
          <p:nvPr/>
        </p:nvSpPr>
        <p:spPr bwMode="auto">
          <a:xfrm>
            <a:off x="5394706" y="2391777"/>
            <a:ext cx="5172979" cy="2074440"/>
          </a:xfrm>
          <a:prstGeom prst="roundRect">
            <a:avLst>
              <a:gd name="adj" fmla="val 467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44000" rIns="144000" bIns="144000" rtlCol="0" anchor="ctr"/>
          <a:lstStyle/>
          <a:p>
            <a:pPr>
              <a:spcAft>
                <a:spcPts val="1799"/>
              </a:spcAft>
              <a:defRPr/>
            </a:pPr>
            <a:r>
              <a:rPr lang="ru-RU" sz="4000" b="1">
                <a:solidFill>
                  <a:schemeClr val="bg1"/>
                </a:solidFill>
                <a:latin typeface="Arial"/>
              </a:rPr>
              <a:t>Олег Орловский</a:t>
            </a:r>
            <a:endParaRPr/>
          </a:p>
          <a:p>
            <a:pPr>
              <a:defRPr/>
            </a:pPr>
            <a:r>
              <a:rPr lang="ru-RU" sz="2000">
                <a:solidFill>
                  <a:schemeClr val="bg1"/>
                </a:solidFill>
                <a:latin typeface="Arial"/>
              </a:rPr>
              <a:t>ИТ-лидер команды развития кадровых сервисов</a:t>
            </a:r>
            <a:endParaRPr lang="ru-RU" sz="280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8362929" name="Прямоугольник: скругленные углы 5"/>
          <p:cNvSpPr/>
          <p:nvPr/>
        </p:nvSpPr>
        <p:spPr bwMode="auto">
          <a:xfrm>
            <a:off x="7540458" y="1376361"/>
            <a:ext cx="4212000" cy="3888000"/>
          </a:xfrm>
          <a:prstGeom prst="roundRect">
            <a:avLst>
              <a:gd name="adj" fmla="val 227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7955" tIns="0" rIns="143977" bIns="143977" rtlCol="0" anchor="t"/>
          <a:lstStyle/>
          <a:p>
            <a:pPr marL="261823" indent="-261823">
              <a:spcAft>
                <a:spcPts val="598"/>
              </a:spcAft>
              <a:buAutoNum type="arabicPeriod"/>
              <a:defRPr/>
            </a:pPr>
            <a:endParaRPr sz="1850"/>
          </a:p>
        </p:txBody>
      </p:sp>
      <p:sp>
        <p:nvSpPr>
          <p:cNvPr id="1165418520" name="Прямоугольник: скругленные углы 5"/>
          <p:cNvSpPr/>
          <p:nvPr/>
        </p:nvSpPr>
        <p:spPr bwMode="auto">
          <a:xfrm>
            <a:off x="432000" y="1376361"/>
            <a:ext cx="6912000" cy="3888000"/>
          </a:xfrm>
          <a:prstGeom prst="roundRect">
            <a:avLst>
              <a:gd name="adj" fmla="val 2670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pPr marL="261822" indent="-261822">
              <a:spcAft>
                <a:spcPts val="598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Теория: где применимо обучение с подкреплением</a:t>
            </a:r>
            <a:endParaRPr lang="ru-RU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261822" indent="-261822">
              <a:spcAft>
                <a:spcPts val="598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Задачи на понимание</a:t>
            </a:r>
            <a:endParaRPr lang="ru-RU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261822" indent="-261822">
              <a:spcAft>
                <a:spcPts val="598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Рубежный контроль №1</a:t>
            </a:r>
            <a:endParaRPr lang="ru-RU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261822" indent="-261822">
              <a:spcAft>
                <a:spcPts val="598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Итоги и задание</a:t>
            </a:r>
            <a:endParaRPr lang="ru-RU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3395344" name="Заголовок 1"/>
          <p:cNvSpPr>
            <a:spLocks noGrp="1"/>
          </p:cNvSpPr>
          <p:nvPr/>
        </p:nvSpPr>
        <p:spPr bwMode="auto">
          <a:xfrm>
            <a:off x="433491" y="423754"/>
            <a:ext cx="9610085" cy="366063"/>
          </a:xfrm>
        </p:spPr>
        <p:txBody>
          <a:bodyPr/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Блоки занятия</a:t>
            </a:r>
            <a:endParaRPr/>
          </a:p>
        </p:txBody>
      </p:sp>
      <p:pic>
        <p:nvPicPr>
          <p:cNvPr id="1213849947" name="Рисунок 7"/>
          <p:cNvPicPr>
            <a:picLocks noChangeAspect="1"/>
          </p:cNvPicPr>
          <p:nvPr/>
        </p:nvPicPr>
        <p:blipFill rotWithShape="1">
          <a:blip r:embed="rId3"/>
          <a:srcRect l="5655" t="0" r="0" b="24604"/>
          <a:stretch/>
        </p:blipFill>
        <p:spPr bwMode="auto">
          <a:xfrm>
            <a:off x="7535862" y="1537616"/>
            <a:ext cx="3542814" cy="37267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3493289" name="Прямоугольник: скругленные углы 5"/>
          <p:cNvSpPr/>
          <p:nvPr/>
        </p:nvSpPr>
        <p:spPr bwMode="auto">
          <a:xfrm>
            <a:off x="4664174" y="1376361"/>
            <a:ext cx="7092000" cy="4275136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pPr marL="261822" indent="-261822">
              <a:spcAft>
                <a:spcPts val="598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Познакомиться с тремя парадигмами машинного обучения и местом обучения с подкреплением среди них</a:t>
            </a:r>
            <a:endParaRPr lang="ru-RU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261822" indent="-261822">
              <a:spcAft>
                <a:spcPts val="598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Узнать, в каких задачах обучение с подкреплением применимо, а в каких — нет</a:t>
            </a:r>
            <a:endParaRPr lang="ru-RU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261822" indent="-261822">
              <a:spcAft>
                <a:spcPts val="598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Научиться описывать задачу через агента, состояние, действие и вознаграждение</a:t>
            </a:r>
            <a:endParaRPr lang="ru-RU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261822" indent="-261822">
              <a:spcAft>
                <a:spcPts val="598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Научиться считать доход и выбирать действие ε-жадной стратегией</a:t>
            </a:r>
            <a:endParaRPr lang="ru-RU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267199" name="Заголовок 1"/>
          <p:cNvSpPr>
            <a:spLocks noGrp="1"/>
          </p:cNvSpPr>
          <p:nvPr>
            <p:ph type="title"/>
          </p:nvPr>
        </p:nvSpPr>
        <p:spPr bwMode="auto">
          <a:xfrm>
            <a:off x="433491" y="423754"/>
            <a:ext cx="9615125" cy="366120"/>
          </a:xfrm>
        </p:spPr>
        <p:txBody>
          <a:bodyPr/>
          <a:lstStyle/>
          <a:p>
            <a:pPr>
              <a:defRPr/>
            </a:pPr>
            <a:r>
              <a:rPr lang="ru-RU"/>
              <a:t>Цели занятия</a:t>
            </a:r>
            <a:endParaRPr/>
          </a:p>
        </p:txBody>
      </p:sp>
      <p:sp>
        <p:nvSpPr>
          <p:cNvPr id="1663511320" name="Прямоугольник: скругленные углы 1"/>
          <p:cNvSpPr/>
          <p:nvPr/>
        </p:nvSpPr>
        <p:spPr bwMode="auto">
          <a:xfrm>
            <a:off x="437260" y="1376361"/>
            <a:ext cx="4032000" cy="4275136"/>
          </a:xfrm>
          <a:prstGeom prst="roundRect">
            <a:avLst>
              <a:gd name="adj" fmla="val 348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 sz="1200"/>
          </a:p>
        </p:txBody>
      </p:sp>
      <p:pic>
        <p:nvPicPr>
          <p:cNvPr id="1287507614" name="Рисунок 3"/>
          <p:cNvPicPr>
            <a:picLocks noChangeAspect="1"/>
          </p:cNvPicPr>
          <p:nvPr/>
        </p:nvPicPr>
        <p:blipFill rotWithShape="1">
          <a:blip r:embed="rId3"/>
          <a:srcRect l="13623" t="0" r="0" b="17876"/>
          <a:stretch/>
        </p:blipFill>
        <p:spPr bwMode="auto">
          <a:xfrm>
            <a:off x="447534" y="2105613"/>
            <a:ext cx="3729543" cy="35458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25289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Где применимо обучение с подкреплением</a:t>
            </a:r>
            <a:endParaRPr/>
          </a:p>
        </p:txBody>
      </p:sp>
      <p:sp>
        <p:nvSpPr>
          <p:cNvPr id="1021689434" name="Text Placeholder 2"/>
          <p:cNvSpPr>
            <a:spLocks noGrp="1"/>
          </p:cNvSpPr>
          <p:nvPr>
            <p:ph type="body" sz="quarter" idx="10"/>
          </p:nvPr>
        </p:nvSpPr>
        <p:spPr bwMode="auto">
          <a:xfrm>
            <a:off x="432618" y="1803122"/>
            <a:ext cx="9415913" cy="307776"/>
          </a:xfrm>
        </p:spPr>
        <p:txBody>
          <a:bodyPr/>
          <a:lstStyle/>
          <a:p>
            <a:pPr>
              <a:defRPr/>
            </a:pPr>
            <a:r>
              <a:rPr/>
              <a:t>Теория, которую мы ещё не разбирали: лекция 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834128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Что такое обучение с подкреплением</a:t>
            </a:r>
            <a:endParaRPr/>
          </a:p>
        </p:txBody>
      </p:sp>
      <p:sp>
        <p:nvSpPr>
          <p:cNvPr id="1339505486" name="Прямоугольник: скругленные углы 5"/>
          <p:cNvSpPr/>
          <p:nvPr/>
        </p:nvSpPr>
        <p:spPr bwMode="auto">
          <a:xfrm>
            <a:off x="432593" y="2751137"/>
            <a:ext cx="11326020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b="1">
                <a:solidFill>
                  <a:schemeClr val="bg2"/>
                </a:solidFill>
                <a:latin typeface="Arial"/>
              </a:rPr>
              <a:t>Что происходит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lang="ru-RU" sz="1600" b="0">
                <a:solidFill>
                  <a:schemeClr val="tx1"/>
                </a:solidFill>
                <a:latin typeface="Arial"/>
              </a:rPr>
              <a:t>агент действует — среда отвечает: новое состояние и вознаграждение</a:t>
            </a:r>
            <a:endParaRPr sz="1600" b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  <a:defRPr/>
            </a:pPr>
            <a:r>
              <a:rPr lang="ru-RU" sz="1600" b="0">
                <a:solidFill>
                  <a:schemeClr val="tx1"/>
                </a:solidFill>
                <a:latin typeface="Arial"/>
              </a:rPr>
              <a:t>цель задаём вознаграждением, а не правильным ответом</a:t>
            </a:r>
            <a:endParaRPr sz="1600" b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  <a:defRPr/>
            </a:pPr>
            <a:r>
              <a:rPr lang="ru-RU" sz="1600" b="0">
                <a:solidFill>
                  <a:schemeClr val="tx1"/>
                </a:solidFill>
                <a:latin typeface="Arial"/>
              </a:rPr>
              <a:t>агент учится на последствиях: выгодное повторяет, невыгодное бросает</a:t>
            </a:r>
            <a:endParaRPr sz="1600" b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  <a:defRPr/>
            </a:pPr>
            <a:r>
              <a:rPr lang="ru-RU" sz="1600" b="0">
                <a:solidFill>
                  <a:schemeClr val="tx1"/>
                </a:solidFill>
                <a:latin typeface="Arial"/>
              </a:rPr>
              <a:t>примеры: робот учится ходить, система держит температуру в дата-центре</a:t>
            </a:r>
            <a:endParaRPr/>
          </a:p>
        </p:txBody>
      </p:sp>
      <p:sp>
        <p:nvSpPr>
          <p:cNvPr id="1562615727" name="Прямоугольник: скругленные углы 2"/>
          <p:cNvSpPr/>
          <p:nvPr/>
        </p:nvSpPr>
        <p:spPr bwMode="auto">
          <a:xfrm flipH="0" flipV="0">
            <a:off x="431798" y="1376362"/>
            <a:ext cx="11327532" cy="900680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1">
                <a:latin typeface="Arial"/>
              </a:rPr>
              <a:t>Как агент учится на последствиях</a:t>
            </a:r>
            <a:endParaRPr lang="ru-RU" sz="16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1600">
                <a:latin typeface="Arial"/>
              </a:rPr>
              <a:t>Вознаграждение задаёт цель, а не правильный ответ</a:t>
            </a:r>
            <a:endParaRPr lang="ru-RU" sz="1600">
              <a:latin typeface="Arial"/>
            </a:endParaRPr>
          </a:p>
        </p:txBody>
      </p:sp>
      <p:pic>
        <p:nvPicPr>
          <p:cNvPr id="637036957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7811" y="1554064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353536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Три способа учить машину</a:t>
            </a:r>
            <a:endParaRPr/>
          </a:p>
        </p:txBody>
      </p:sp>
      <p:sp>
        <p:nvSpPr>
          <p:cNvPr id="1863688119" name="Прямоугольник: скругленные углы 5"/>
          <p:cNvSpPr/>
          <p:nvPr/>
        </p:nvSpPr>
        <p:spPr bwMode="auto">
          <a:xfrm>
            <a:off x="432593" y="2751137"/>
            <a:ext cx="3647282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bg2"/>
                </a:solidFill>
                <a:latin typeface="Arial"/>
              </a:rPr>
              <a:t>С учителем</a:t>
            </a:r>
            <a:endParaRPr sz="2200"/>
          </a:p>
          <a:p>
            <a:pPr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человек даёт пары «объект — правильный ответ»</a:t>
            </a:r>
            <a:endParaRPr sz="2200"/>
          </a:p>
          <a:p>
            <a:pPr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машина учится предсказывать</a:t>
            </a:r>
            <a:endParaRPr sz="2200"/>
          </a:p>
          <a:p>
            <a:pPr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пример: цена квартиры</a:t>
            </a:r>
            <a:endParaRPr sz="2200"/>
          </a:p>
        </p:txBody>
      </p:sp>
      <p:sp>
        <p:nvSpPr>
          <p:cNvPr id="907054799" name="Прямоугольник: скругленные углы 10"/>
          <p:cNvSpPr/>
          <p:nvPr/>
        </p:nvSpPr>
        <p:spPr bwMode="auto">
          <a:xfrm>
            <a:off x="8110538" y="2751138"/>
            <a:ext cx="3648074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bg2"/>
                </a:solidFill>
                <a:latin typeface="Arial"/>
              </a:rPr>
              <a:t>С подкреплением</a:t>
            </a:r>
            <a:endParaRPr sz="2200"/>
          </a:p>
          <a:p>
            <a:pPr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человек задаёт только вознаграждение</a:t>
            </a:r>
            <a:endParaRPr sz="2200"/>
          </a:p>
          <a:p>
            <a:pPr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данные машина добывает сама</a:t>
            </a:r>
            <a:endParaRPr sz="2200"/>
          </a:p>
          <a:p>
            <a:pPr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учится выбирать действия</a:t>
            </a:r>
            <a:endParaRPr sz="2200"/>
          </a:p>
          <a:p>
            <a:pPr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пример: охлаждение дата-центра</a:t>
            </a:r>
            <a:endParaRPr sz="2200"/>
          </a:p>
        </p:txBody>
      </p:sp>
      <p:sp>
        <p:nvSpPr>
          <p:cNvPr id="1009106489" name="Прямоугольник: скругленные углы 2"/>
          <p:cNvSpPr/>
          <p:nvPr/>
        </p:nvSpPr>
        <p:spPr bwMode="auto">
          <a:xfrm>
            <a:off x="431799" y="1376363"/>
            <a:ext cx="11326813" cy="1181099"/>
          </a:xfrm>
          <a:prstGeom prst="roundRect">
            <a:avLst>
              <a:gd name="adj" fmla="val 1063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/>
          <a:lstStyle/>
          <a:p>
            <a:pPr>
              <a:spcAft>
                <a:spcPts val="300"/>
              </a:spcAft>
              <a:defRPr/>
            </a:pPr>
            <a:r>
              <a:rPr lang="ru-RU" sz="2000" b="1">
                <a:latin typeface="Arial"/>
              </a:rPr>
              <a:t>Готовый ответ есть только в обучении с учителем</a:t>
            </a:r>
            <a:endParaRPr lang="ru-RU" sz="18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1800">
                <a:latin typeface="Arial"/>
              </a:rPr>
              <a:t>В обучении с подкреплением вместо ответа — оценка действия</a:t>
            </a:r>
            <a:endParaRPr lang="ru-RU" sz="1800">
              <a:latin typeface="Arial"/>
            </a:endParaRPr>
          </a:p>
        </p:txBody>
      </p:sp>
      <p:sp>
        <p:nvSpPr>
          <p:cNvPr id="1058680584" name="Прямоугольник: скругленные углы 6"/>
          <p:cNvSpPr/>
          <p:nvPr/>
        </p:nvSpPr>
        <p:spPr bwMode="auto">
          <a:xfrm>
            <a:off x="4272359" y="2751138"/>
            <a:ext cx="3647282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bg2"/>
                </a:solidFill>
                <a:latin typeface="Arial"/>
              </a:rPr>
              <a:t>Без учителя</a:t>
            </a:r>
            <a:endParaRPr sz="2200"/>
          </a:p>
          <a:p>
            <a:pPr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человек даёт только объекты, ответов нет</a:t>
            </a:r>
            <a:endParaRPr sz="2200"/>
          </a:p>
          <a:p>
            <a:pPr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машина ищет структуру</a:t>
            </a:r>
            <a:endParaRPr sz="2200"/>
          </a:p>
          <a:p>
            <a:pPr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пример: похожие группы клиентов</a:t>
            </a:r>
            <a:endParaRPr sz="2200"/>
          </a:p>
        </p:txBody>
      </p:sp>
      <p:pic>
        <p:nvPicPr>
          <p:cNvPr id="1153279326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429" y="1732912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2426269" name="Прямоугольник: скругленные углы 8"/>
          <p:cNvSpPr/>
          <p:nvPr/>
        </p:nvSpPr>
        <p:spPr bwMode="auto">
          <a:xfrm>
            <a:off x="3326208" y="2611064"/>
            <a:ext cx="2675732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bg2"/>
                </a:solidFill>
                <a:latin typeface="Arial"/>
              </a:rPr>
              <a:t>Данные создаёт агент</a:t>
            </a:r>
            <a:endParaRPr sz="2200"/>
          </a:p>
          <a:p>
            <a:pPr>
              <a:spcAft>
                <a:spcPts val="600"/>
              </a:spcAft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его действия меняют то, что он увидит дальше</a:t>
            </a:r>
            <a:endParaRPr sz="2200"/>
          </a:p>
        </p:txBody>
      </p:sp>
      <p:sp>
        <p:nvSpPr>
          <p:cNvPr id="1390170617" name="Прямоугольник: скругленные углы 11"/>
          <p:cNvSpPr/>
          <p:nvPr/>
        </p:nvSpPr>
        <p:spPr bwMode="auto">
          <a:xfrm>
            <a:off x="6198392" y="2611064"/>
            <a:ext cx="2675732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bg2"/>
                </a:solidFill>
                <a:latin typeface="Arial"/>
              </a:rPr>
              <a:t>Награда отложена</a:t>
            </a:r>
            <a:endParaRPr sz="2200"/>
          </a:p>
          <a:p>
            <a:pPr>
              <a:spcAft>
                <a:spcPts val="600"/>
              </a:spcAft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за верный шаг платят через десять шагов</a:t>
            </a:r>
            <a:endParaRPr sz="2400"/>
          </a:p>
        </p:txBody>
      </p:sp>
      <p:sp>
        <p:nvSpPr>
          <p:cNvPr id="1627166868" name="Прямоугольник: скругленные углы 12"/>
          <p:cNvSpPr/>
          <p:nvPr/>
        </p:nvSpPr>
        <p:spPr bwMode="auto">
          <a:xfrm>
            <a:off x="9076732" y="2611064"/>
            <a:ext cx="2681880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bg2"/>
                </a:solidFill>
                <a:latin typeface="Arial"/>
              </a:rPr>
              <a:t>Ошибка стоит денег</a:t>
            </a:r>
            <a:endParaRPr sz="2200"/>
          </a:p>
          <a:p>
            <a:pPr>
              <a:spcAft>
                <a:spcPts val="600"/>
              </a:spcAft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неверный шаг нельзя «отменить»</a:t>
            </a:r>
            <a:endParaRPr sz="2400"/>
          </a:p>
        </p:txBody>
      </p:sp>
      <p:sp>
        <p:nvSpPr>
          <p:cNvPr id="57640945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Чем обучение с подкреплением отличается</a:t>
            </a:r>
            <a:endParaRPr/>
          </a:p>
        </p:txBody>
      </p:sp>
      <p:sp>
        <p:nvSpPr>
          <p:cNvPr id="1670718578" name="Прямоугольник: скругленные углы 5"/>
          <p:cNvSpPr/>
          <p:nvPr/>
        </p:nvSpPr>
        <p:spPr bwMode="auto">
          <a:xfrm>
            <a:off x="432592" y="2611063"/>
            <a:ext cx="2675732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bg2"/>
                </a:solidFill>
                <a:latin typeface="Arial"/>
              </a:rPr>
              <a:t>Нет правильного ответа</a:t>
            </a:r>
            <a:endParaRPr sz="2200"/>
          </a:p>
          <a:p>
            <a:pPr>
              <a:spcAft>
                <a:spcPts val="600"/>
              </a:spcAft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на каждый шаг — только оценка: хорошо или плохо</a:t>
            </a:r>
            <a:endParaRPr sz="2200"/>
          </a:p>
        </p:txBody>
      </p:sp>
      <p:sp>
        <p:nvSpPr>
          <p:cNvPr id="1376477807" name="Прямоугольник: скругленные углы 2"/>
          <p:cNvSpPr/>
          <p:nvPr/>
        </p:nvSpPr>
        <p:spPr bwMode="auto">
          <a:xfrm flipH="0" flipV="0">
            <a:off x="431798" y="1376362"/>
            <a:ext cx="11326812" cy="967533"/>
          </a:xfrm>
          <a:prstGeom prst="roundRect">
            <a:avLst>
              <a:gd name="adj" fmla="val 1063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/>
          <a:lstStyle/>
          <a:p>
            <a:pPr>
              <a:spcAft>
                <a:spcPts val="300"/>
              </a:spcAft>
              <a:defRPr/>
            </a:pPr>
            <a:r>
              <a:rPr lang="ru-RU" sz="2000" b="1">
                <a:latin typeface="Arial"/>
              </a:rPr>
              <a:t>Нет готового ответа</a:t>
            </a:r>
            <a:endParaRPr lang="ru-RU" sz="18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1800">
                <a:latin typeface="Arial"/>
              </a:rPr>
              <a:t>Последствия своих действий агент узнаёт на собственном опыте</a:t>
            </a:r>
            <a:endParaRPr lang="ru-RU" sz="1800">
              <a:latin typeface="Arial"/>
            </a:endParaRPr>
          </a:p>
        </p:txBody>
      </p:sp>
      <p:pic>
        <p:nvPicPr>
          <p:cNvPr id="194313778" name="Рисунок 10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7810" y="1626129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619297" name="Прямоугольник: скругленные углы 8"/>
          <p:cNvSpPr/>
          <p:nvPr/>
        </p:nvSpPr>
        <p:spPr bwMode="auto">
          <a:xfrm>
            <a:off x="3326209" y="2751138"/>
            <a:ext cx="2675732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bg2"/>
                </a:solidFill>
                <a:latin typeface="Arial"/>
              </a:rPr>
              <a:t>Роботы и управление</a:t>
            </a:r>
            <a:endParaRPr sz="2400"/>
          </a:p>
          <a:p>
            <a:pPr>
              <a:spcAft>
                <a:spcPts val="600"/>
              </a:spcAft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ходьба, манипуляторы, охлаждение дата-центра</a:t>
            </a:r>
            <a:endParaRPr sz="2400"/>
          </a:p>
        </p:txBody>
      </p:sp>
      <p:sp>
        <p:nvSpPr>
          <p:cNvPr id="2070082795" name="Прямоугольник: скругленные углы 11"/>
          <p:cNvSpPr/>
          <p:nvPr/>
        </p:nvSpPr>
        <p:spPr bwMode="auto">
          <a:xfrm>
            <a:off x="6198393" y="2751138"/>
            <a:ext cx="2675732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bg2"/>
                </a:solidFill>
                <a:latin typeface="Arial"/>
              </a:rPr>
              <a:t>Рекомендации и контент</a:t>
            </a:r>
            <a:endParaRPr sz="2400"/>
          </a:p>
          <a:p>
            <a:pPr>
              <a:spcAft>
                <a:spcPts val="600"/>
              </a:spcAft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что показать пользователю следующим</a:t>
            </a:r>
            <a:endParaRPr sz="2400"/>
          </a:p>
        </p:txBody>
      </p:sp>
      <p:sp>
        <p:nvSpPr>
          <p:cNvPr id="1932878788" name="Прямоугольник: скругленные углы 12"/>
          <p:cNvSpPr/>
          <p:nvPr/>
        </p:nvSpPr>
        <p:spPr bwMode="auto">
          <a:xfrm>
            <a:off x="9076733" y="2751138"/>
            <a:ext cx="2681880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bg2"/>
                </a:solidFill>
                <a:latin typeface="Arial"/>
              </a:rPr>
              <a:t>Энергетика и логистика</a:t>
            </a:r>
            <a:endParaRPr sz="2400"/>
          </a:p>
          <a:p>
            <a:pPr>
              <a:spcAft>
                <a:spcPts val="600"/>
              </a:spcAft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загрузка, маршруты, склады, настройка систем</a:t>
            </a:r>
            <a:endParaRPr sz="2400"/>
          </a:p>
        </p:txBody>
      </p:sp>
      <p:sp>
        <p:nvSpPr>
          <p:cNvPr id="205552328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Где это применяют</a:t>
            </a:r>
            <a:endParaRPr/>
          </a:p>
        </p:txBody>
      </p:sp>
      <p:sp>
        <p:nvSpPr>
          <p:cNvPr id="2054509552" name="Прямоугольник: скругленные углы 5"/>
          <p:cNvSpPr/>
          <p:nvPr/>
        </p:nvSpPr>
        <p:spPr bwMode="auto">
          <a:xfrm>
            <a:off x="432593" y="2751137"/>
            <a:ext cx="2675732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bg2"/>
                </a:solidFill>
                <a:latin typeface="Arial"/>
              </a:rPr>
              <a:t>Игры и тренажёры</a:t>
            </a:r>
            <a:endParaRPr sz="2400"/>
          </a:p>
          <a:p>
            <a:pPr>
              <a:spcAft>
                <a:spcPts val="600"/>
              </a:spcAft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шахматы, го, симуляторы</a:t>
            </a:r>
            <a:endParaRPr sz="2400"/>
          </a:p>
        </p:txBody>
      </p:sp>
      <p:sp>
        <p:nvSpPr>
          <p:cNvPr id="1587295949" name="Прямоугольник: скругленные углы 2"/>
          <p:cNvSpPr/>
          <p:nvPr/>
        </p:nvSpPr>
        <p:spPr bwMode="auto">
          <a:xfrm flipH="0" flipV="0">
            <a:off x="431798" y="1376362"/>
            <a:ext cx="11326812" cy="1051578"/>
          </a:xfrm>
          <a:prstGeom prst="roundRect">
            <a:avLst>
              <a:gd name="adj" fmla="val 1063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/>
          <a:lstStyle/>
          <a:p>
            <a:pPr>
              <a:spcAft>
                <a:spcPts val="300"/>
              </a:spcAft>
              <a:defRPr/>
            </a:pPr>
            <a:r>
              <a:rPr lang="ru-RU" sz="2000" b="1">
                <a:latin typeface="Arial"/>
              </a:rPr>
              <a:t>Общее у всех примеров одно</a:t>
            </a:r>
            <a:endParaRPr lang="ru-RU" sz="18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1800">
                <a:latin typeface="Arial"/>
              </a:rPr>
              <a:t>есть среда, в которой решения принимаются шаг за шагом</a:t>
            </a:r>
            <a:endParaRPr lang="ru-RU" sz="1800">
              <a:latin typeface="Arial"/>
            </a:endParaRPr>
          </a:p>
        </p:txBody>
      </p:sp>
      <p:pic>
        <p:nvPicPr>
          <p:cNvPr id="441638537" name="Рисунок 10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7810" y="1668151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388333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Задача, которую обучение с подкреплением не решает</a:t>
            </a:r>
            <a:endParaRPr/>
          </a:p>
        </p:txBody>
      </p:sp>
      <p:sp>
        <p:nvSpPr>
          <p:cNvPr id="1838046226" name="Прямоугольник: скругленные углы 5"/>
          <p:cNvSpPr/>
          <p:nvPr/>
        </p:nvSpPr>
        <p:spPr bwMode="auto">
          <a:xfrm>
            <a:off x="432593" y="2751137"/>
            <a:ext cx="5566570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bg2"/>
                </a:solidFill>
                <a:latin typeface="Arial"/>
              </a:rPr>
              <a:t>Транспортная задача — как развезти груз дешевле</a:t>
            </a:r>
            <a:endParaRPr sz="2000"/>
          </a:p>
          <a:p>
            <a:pPr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есть точный метод оптимизации, опыт не нужен</a:t>
            </a:r>
            <a:endParaRPr sz="2000"/>
          </a:p>
        </p:txBody>
      </p:sp>
      <p:sp>
        <p:nvSpPr>
          <p:cNvPr id="1682481978" name="Прямоугольник: скругленные углы 10"/>
          <p:cNvSpPr/>
          <p:nvPr/>
        </p:nvSpPr>
        <p:spPr bwMode="auto">
          <a:xfrm>
            <a:off x="6195861" y="2751138"/>
            <a:ext cx="5562751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bg2"/>
                </a:solidFill>
                <a:latin typeface="Arial"/>
              </a:rPr>
              <a:t>Прогноз оттока клиентов</a:t>
            </a:r>
            <a:endParaRPr sz="2000"/>
          </a:p>
          <a:p>
            <a:pPr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решений по шагам нет, экспериментировать нельзя</a:t>
            </a:r>
            <a:endParaRPr sz="2000"/>
          </a:p>
        </p:txBody>
      </p:sp>
      <p:sp>
        <p:nvSpPr>
          <p:cNvPr id="2056291822" name="Прямоугольник: скругленные углы 2"/>
          <p:cNvSpPr/>
          <p:nvPr/>
        </p:nvSpPr>
        <p:spPr bwMode="auto">
          <a:xfrm>
            <a:off x="431799" y="1376363"/>
            <a:ext cx="11326813" cy="118109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/>
          <a:lstStyle/>
          <a:p>
            <a:pPr>
              <a:spcAft>
                <a:spcPts val="300"/>
              </a:spcAft>
              <a:defRPr/>
            </a:pPr>
            <a:r>
              <a:rPr lang="ru-RU" sz="2000" b="1">
                <a:latin typeface="Arial"/>
              </a:rPr>
              <a:t>Правило</a:t>
            </a:r>
            <a:endParaRPr lang="ru-RU" sz="18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1800">
                <a:latin typeface="Arial"/>
              </a:rPr>
              <a:t>если есть точный метод или нельзя взаимодействовать со средой — обучение с подкреплением не нужно</a:t>
            </a:r>
            <a:endParaRPr lang="ru-RU" sz="1800">
              <a:latin typeface="Arial"/>
            </a:endParaRPr>
          </a:p>
        </p:txBody>
      </p:sp>
      <p:pic>
        <p:nvPicPr>
          <p:cNvPr id="483602148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7810" y="1732912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97107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Пять признаков: стоит пробовать, если…</a:t>
            </a:r>
            <a:endParaRPr/>
          </a:p>
        </p:txBody>
      </p:sp>
      <p:sp>
        <p:nvSpPr>
          <p:cNvPr id="1460320349" name="Прямоугольник: скругленные углы 4"/>
          <p:cNvSpPr/>
          <p:nvPr/>
        </p:nvSpPr>
        <p:spPr bwMode="auto">
          <a:xfrm>
            <a:off x="432673" y="1344599"/>
            <a:ext cx="2676112" cy="2879615"/>
          </a:xfrm>
          <a:prstGeom prst="roundRect">
            <a:avLst>
              <a:gd name="adj" fmla="val 5845"/>
            </a:avLst>
          </a:prstGeom>
          <a:solidFill>
            <a:srgbClr val="EBF2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35994" rIns="143978" bIns="143978" rtlCol="0" anchor="t"/>
          <a:lstStyle/>
          <a:p>
            <a:pPr>
              <a:spcAft>
                <a:spcPts val="300"/>
              </a:spcAft>
              <a:defRPr/>
            </a:pPr>
            <a:r>
              <a:rPr lang="ru-RU" sz="8000" b="1" spc="20">
                <a:solidFill>
                  <a:srgbClr val="00AAE6"/>
                </a:solidFill>
                <a:latin typeface="Arial"/>
              </a:rPr>
              <a:t>1</a:t>
            </a:r>
            <a:endParaRPr sz="1800"/>
          </a:p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tx1"/>
                </a:solidFill>
                <a:latin typeface="Arial"/>
              </a:rPr>
              <a:t>Задача решается шаг за шагом</a:t>
            </a:r>
            <a:endParaRPr lang="ru-RU" sz="4800" b="1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1600">
                <a:solidFill>
                  <a:schemeClr val="tx1"/>
                </a:solidFill>
                <a:latin typeface="Arial"/>
              </a:rPr>
              <a:t>а не одним ответом</a:t>
            </a:r>
            <a:endParaRPr sz="1800"/>
          </a:p>
        </p:txBody>
      </p:sp>
      <p:sp>
        <p:nvSpPr>
          <p:cNvPr id="662448905" name="Прямоугольник: скругленные углы 5"/>
          <p:cNvSpPr/>
          <p:nvPr/>
        </p:nvSpPr>
        <p:spPr bwMode="auto">
          <a:xfrm>
            <a:off x="3324653" y="1344599"/>
            <a:ext cx="2676112" cy="2879615"/>
          </a:xfrm>
          <a:prstGeom prst="roundRect">
            <a:avLst>
              <a:gd name="adj" fmla="val 5845"/>
            </a:avLst>
          </a:prstGeom>
          <a:solidFill>
            <a:srgbClr val="EBF2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35994" rIns="143978" bIns="143978" rtlCol="0" anchor="t"/>
          <a:lstStyle/>
          <a:p>
            <a:pPr>
              <a:spcAft>
                <a:spcPts val="300"/>
              </a:spcAft>
              <a:defRPr/>
            </a:pPr>
            <a:r>
              <a:rPr lang="ru-RU" sz="8000" b="1" spc="20">
                <a:solidFill>
                  <a:srgbClr val="00AAE6"/>
                </a:solidFill>
                <a:latin typeface="Arial"/>
              </a:rPr>
              <a:t>2</a:t>
            </a:r>
            <a:endParaRPr sz="1800"/>
          </a:p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tx1"/>
                </a:solidFill>
                <a:latin typeface="Arial"/>
              </a:rPr>
              <a:t>Действие влияет на будущее</a:t>
            </a:r>
            <a:endParaRPr lang="ru-RU" sz="1600" b="1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1600">
                <a:solidFill>
                  <a:schemeClr val="tx1"/>
                </a:solidFill>
                <a:latin typeface="Arial"/>
              </a:rPr>
              <a:t>наше действие меняет то, что будет дальше</a:t>
            </a:r>
            <a:endParaRPr sz="1800"/>
          </a:p>
        </p:txBody>
      </p:sp>
      <p:sp>
        <p:nvSpPr>
          <p:cNvPr id="111296657" name="Прямоугольник: скругленные углы 7"/>
          <p:cNvSpPr/>
          <p:nvPr/>
        </p:nvSpPr>
        <p:spPr bwMode="auto">
          <a:xfrm>
            <a:off x="6202347" y="1344599"/>
            <a:ext cx="2676112" cy="2879615"/>
          </a:xfrm>
          <a:prstGeom prst="roundRect">
            <a:avLst>
              <a:gd name="adj" fmla="val 5845"/>
            </a:avLst>
          </a:prstGeom>
          <a:solidFill>
            <a:srgbClr val="EBF2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35994" rIns="143978" bIns="143978" rtlCol="0" anchor="t"/>
          <a:lstStyle/>
          <a:p>
            <a:pPr>
              <a:spcAft>
                <a:spcPts val="300"/>
              </a:spcAft>
              <a:defRPr/>
            </a:pPr>
            <a:r>
              <a:rPr lang="ru-RU" sz="8000" b="1" spc="20">
                <a:solidFill>
                  <a:srgbClr val="00AAE6"/>
                </a:solidFill>
                <a:latin typeface="Arial"/>
              </a:rPr>
              <a:t>3</a:t>
            </a:r>
            <a:endParaRPr sz="1800"/>
          </a:p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tx1"/>
                </a:solidFill>
                <a:latin typeface="Arial"/>
              </a:rPr>
              <a:t>Награда приходит не сразу</a:t>
            </a:r>
            <a:endParaRPr lang="ru-RU" sz="1600" b="1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1600">
                <a:solidFill>
                  <a:schemeClr val="tx1"/>
                </a:solidFill>
                <a:latin typeface="Arial"/>
              </a:rPr>
              <a:t>а через несколько шагов</a:t>
            </a:r>
            <a:endParaRPr sz="1800"/>
          </a:p>
        </p:txBody>
      </p:sp>
      <p:sp>
        <p:nvSpPr>
          <p:cNvPr id="854932297" name="Прямоугольник: скругленные углы 8"/>
          <p:cNvSpPr/>
          <p:nvPr/>
        </p:nvSpPr>
        <p:spPr bwMode="auto">
          <a:xfrm>
            <a:off x="9075280" y="1344599"/>
            <a:ext cx="2676112" cy="2879615"/>
          </a:xfrm>
          <a:prstGeom prst="roundRect">
            <a:avLst>
              <a:gd name="adj" fmla="val 5845"/>
            </a:avLst>
          </a:prstGeom>
          <a:solidFill>
            <a:srgbClr val="EBF2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35994" rIns="143978" bIns="143978" rtlCol="0" anchor="t"/>
          <a:lstStyle/>
          <a:p>
            <a:pPr>
              <a:spcAft>
                <a:spcPts val="300"/>
              </a:spcAft>
              <a:defRPr/>
            </a:pPr>
            <a:r>
              <a:rPr lang="ru-RU" sz="8000" b="1" spc="20">
                <a:solidFill>
                  <a:srgbClr val="00AAE6"/>
                </a:solidFill>
                <a:latin typeface="Arial"/>
              </a:rPr>
              <a:t>4</a:t>
            </a:r>
            <a:endParaRPr sz="1800"/>
          </a:p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tx1"/>
                </a:solidFill>
                <a:latin typeface="Arial"/>
              </a:rPr>
              <a:t>Правило неизвестно</a:t>
            </a:r>
            <a:endParaRPr lang="ru-RU" sz="1600" b="1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1600">
                <a:solidFill>
                  <a:schemeClr val="tx1"/>
                </a:solidFill>
                <a:latin typeface="Arial"/>
              </a:rPr>
              <a:t>или слишком сложно, чтобы задать руками</a:t>
            </a:r>
            <a:endParaRPr sz="1800"/>
          </a:p>
        </p:txBody>
      </p:sp>
      <p:sp>
        <p:nvSpPr>
          <p:cNvPr id="1451397142" name="Прямоугольник: скругленные углы 9"/>
          <p:cNvSpPr/>
          <p:nvPr/>
        </p:nvSpPr>
        <p:spPr bwMode="auto">
          <a:xfrm>
            <a:off x="432674" y="4479348"/>
            <a:ext cx="11325066" cy="148884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107983" rIns="143978" bIns="143978" rtlCol="0" anchor="t"/>
          <a:lstStyle/>
          <a:p>
            <a:pPr>
              <a:spcAft>
                <a:spcPts val="300"/>
              </a:spcAft>
              <a:defRPr/>
            </a:pPr>
            <a:r>
              <a:rPr lang="ru-RU" sz="3600" b="1">
                <a:latin typeface="Arial"/>
              </a:rPr>
              <a:t>Пятый признак</a:t>
            </a:r>
            <a:endParaRPr lang="ru-RU" sz="2000" b="1"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2000">
                <a:latin typeface="Arial"/>
              </a:rPr>
              <a:t>со средой можно взаимодействовать: есть симулятор или безопасный способ пробовать</a:t>
            </a:r>
            <a:endParaRPr sz="1600"/>
          </a:p>
        </p:txBody>
      </p:sp>
      <p:pic>
        <p:nvPicPr>
          <p:cNvPr id="1323005312" name="Рисунок 10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170455" y="4692173"/>
            <a:ext cx="431933" cy="4319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85511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Прогноз — не решение</a:t>
            </a:r>
            <a:endParaRPr/>
          </a:p>
        </p:txBody>
      </p:sp>
      <p:sp>
        <p:nvSpPr>
          <p:cNvPr id="2048708289" name="Прямоугольник: скругленные углы 5"/>
          <p:cNvSpPr/>
          <p:nvPr/>
        </p:nvSpPr>
        <p:spPr bwMode="auto">
          <a:xfrm>
            <a:off x="432593" y="2751137"/>
            <a:ext cx="5566570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400" b="1">
                <a:solidFill>
                  <a:schemeClr val="bg2"/>
                </a:solidFill>
                <a:latin typeface="Arial"/>
              </a:rPr>
              <a:t>Прогноз: «что будет?»</a:t>
            </a:r>
            <a:endParaRPr sz="2400"/>
          </a:p>
          <a:p>
            <a:pPr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цену, отток, спрос — проверяется на исторических данных</a:t>
            </a:r>
            <a:endParaRPr sz="2400"/>
          </a:p>
        </p:txBody>
      </p:sp>
      <p:sp>
        <p:nvSpPr>
          <p:cNvPr id="726811611" name="Прямоугольник: скругленные углы 10"/>
          <p:cNvSpPr/>
          <p:nvPr/>
        </p:nvSpPr>
        <p:spPr bwMode="auto">
          <a:xfrm>
            <a:off x="6195861" y="2751138"/>
            <a:ext cx="5562751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400" b="1">
                <a:solidFill>
                  <a:schemeClr val="bg2"/>
                </a:solidFill>
                <a:latin typeface="Arial"/>
              </a:rPr>
              <a:t>Решение: «что делать?»</a:t>
            </a:r>
            <a:endParaRPr sz="2400"/>
          </a:p>
          <a:p>
            <a:pPr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кому доставить заказ, что включить в релиз — проверяется только действием</a:t>
            </a:r>
            <a:endParaRPr sz="2400"/>
          </a:p>
        </p:txBody>
      </p:sp>
      <p:sp>
        <p:nvSpPr>
          <p:cNvPr id="1983825661" name="Прямоугольник: скругленные углы 2"/>
          <p:cNvSpPr/>
          <p:nvPr/>
        </p:nvSpPr>
        <p:spPr bwMode="auto">
          <a:xfrm>
            <a:off x="431799" y="1376363"/>
            <a:ext cx="11326813" cy="118109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/>
          <a:lstStyle/>
          <a:p>
            <a:pPr>
              <a:spcAft>
                <a:spcPts val="300"/>
              </a:spcAft>
              <a:defRPr/>
            </a:pPr>
            <a:r>
              <a:rPr lang="ru-RU" sz="2400" b="1">
                <a:latin typeface="Arial"/>
              </a:rPr>
              <a:t>Обучение с подкреплением — всегда про действия</a:t>
            </a:r>
            <a:endParaRPr lang="ru-RU" sz="22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200">
                <a:latin typeface="Arial"/>
              </a:rPr>
              <a:t>про «что делать», а не про «что будет»</a:t>
            </a:r>
            <a:endParaRPr lang="ru-RU" sz="2200">
              <a:latin typeface="Arial"/>
            </a:endParaRPr>
          </a:p>
        </p:txBody>
      </p:sp>
      <p:pic>
        <p:nvPicPr>
          <p:cNvPr id="835468473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7810" y="1732912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4383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Пять задач на понимание</a:t>
            </a:r>
            <a:endParaRPr/>
          </a:p>
        </p:txBody>
      </p:sp>
      <p:sp>
        <p:nvSpPr>
          <p:cNvPr id="714076944" name="Text Placeholder 2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Разбираем на своих листках, сверяемся по слайду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93638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Задача 1. Какой тип обучения</a:t>
            </a:r>
            <a:endParaRPr/>
          </a:p>
        </p:txBody>
      </p:sp>
      <p:sp>
        <p:nvSpPr>
          <p:cNvPr id="11668667" name="Прямоугольник: скругленные углы 4"/>
          <p:cNvSpPr/>
          <p:nvPr/>
        </p:nvSpPr>
        <p:spPr bwMode="auto">
          <a:xfrm>
            <a:off x="432673" y="1344599"/>
            <a:ext cx="2676112" cy="2879615"/>
          </a:xfrm>
          <a:prstGeom prst="roundRect">
            <a:avLst>
              <a:gd name="adj" fmla="val 5845"/>
            </a:avLst>
          </a:prstGeom>
          <a:solidFill>
            <a:srgbClr val="EBF2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35994" rIns="143978" bIns="143978" rtlCol="0" anchor="t"/>
          <a:lstStyle/>
          <a:p>
            <a:pPr>
              <a:spcAft>
                <a:spcPts val="300"/>
              </a:spcAft>
              <a:defRPr/>
            </a:pPr>
            <a:r>
              <a:rPr lang="ru-RU" sz="8000" b="1" spc="20">
                <a:solidFill>
                  <a:srgbClr val="00AAE6"/>
                </a:solidFill>
                <a:latin typeface="Arial"/>
              </a:rPr>
              <a:t>1</a:t>
            </a:r>
            <a:endParaRPr sz="1800"/>
          </a:p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tx1"/>
                </a:solidFill>
                <a:latin typeface="Arial"/>
              </a:rPr>
              <a:t>Цена квартиры</a:t>
            </a:r>
            <a:endParaRPr lang="ru-RU" sz="4800" b="1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1600">
                <a:solidFill>
                  <a:schemeClr val="tx1"/>
                </a:solidFill>
                <a:latin typeface="Arial"/>
              </a:rPr>
              <a:t>предсказать по площади и району</a:t>
            </a:r>
            <a:endParaRPr sz="1800"/>
          </a:p>
        </p:txBody>
      </p:sp>
      <p:sp>
        <p:nvSpPr>
          <p:cNvPr id="1120002039" name="Прямоугольник: скругленные углы 5"/>
          <p:cNvSpPr/>
          <p:nvPr/>
        </p:nvSpPr>
        <p:spPr bwMode="auto">
          <a:xfrm>
            <a:off x="3324653" y="1344599"/>
            <a:ext cx="2676112" cy="2879615"/>
          </a:xfrm>
          <a:prstGeom prst="roundRect">
            <a:avLst>
              <a:gd name="adj" fmla="val 5845"/>
            </a:avLst>
          </a:prstGeom>
          <a:solidFill>
            <a:srgbClr val="EBF2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35994" rIns="143978" bIns="143978" rtlCol="0" anchor="t"/>
          <a:lstStyle/>
          <a:p>
            <a:pPr>
              <a:spcAft>
                <a:spcPts val="300"/>
              </a:spcAft>
              <a:defRPr/>
            </a:pPr>
            <a:r>
              <a:rPr lang="ru-RU" sz="8000" b="1" spc="20">
                <a:solidFill>
                  <a:srgbClr val="00AAE6"/>
                </a:solidFill>
                <a:latin typeface="Arial"/>
              </a:rPr>
              <a:t>2</a:t>
            </a:r>
            <a:endParaRPr sz="1800"/>
          </a:p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tx1"/>
                </a:solidFill>
                <a:latin typeface="Arial"/>
              </a:rPr>
              <a:t>Похожие клиенты банка</a:t>
            </a:r>
            <a:endParaRPr lang="ru-RU" sz="1600" b="1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1600">
                <a:solidFill>
                  <a:schemeClr val="tx1"/>
                </a:solidFill>
                <a:latin typeface="Arial"/>
              </a:rPr>
              <a:t>найти группы похожих клиентов</a:t>
            </a:r>
            <a:endParaRPr sz="1800"/>
          </a:p>
        </p:txBody>
      </p:sp>
      <p:sp>
        <p:nvSpPr>
          <p:cNvPr id="176732623" name="Прямоугольник: скругленные углы 7"/>
          <p:cNvSpPr/>
          <p:nvPr/>
        </p:nvSpPr>
        <p:spPr bwMode="auto">
          <a:xfrm>
            <a:off x="6202347" y="1344599"/>
            <a:ext cx="2676112" cy="2879615"/>
          </a:xfrm>
          <a:prstGeom prst="roundRect">
            <a:avLst>
              <a:gd name="adj" fmla="val 5845"/>
            </a:avLst>
          </a:prstGeom>
          <a:solidFill>
            <a:srgbClr val="EBF2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35994" rIns="143978" bIns="143978" rtlCol="0" anchor="t"/>
          <a:lstStyle/>
          <a:p>
            <a:pPr>
              <a:spcAft>
                <a:spcPts val="300"/>
              </a:spcAft>
              <a:defRPr/>
            </a:pPr>
            <a:r>
              <a:rPr lang="ru-RU" sz="8000" b="1" spc="20">
                <a:solidFill>
                  <a:srgbClr val="00AAE6"/>
                </a:solidFill>
                <a:latin typeface="Arial"/>
              </a:rPr>
              <a:t>3</a:t>
            </a:r>
            <a:endParaRPr sz="1800"/>
          </a:p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tx1"/>
                </a:solidFill>
                <a:latin typeface="Arial"/>
              </a:rPr>
              <a:t>Робот и зарядная станция</a:t>
            </a:r>
            <a:endParaRPr lang="ru-RU" sz="1600" b="1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1600">
                <a:solidFill>
                  <a:schemeClr val="tx1"/>
                </a:solidFill>
                <a:latin typeface="Arial"/>
              </a:rPr>
              <a:t>научить робота доходить до станции</a:t>
            </a:r>
            <a:endParaRPr sz="1800"/>
          </a:p>
        </p:txBody>
      </p:sp>
      <p:sp>
        <p:nvSpPr>
          <p:cNvPr id="22824326" name="Прямоугольник: скругленные углы 8"/>
          <p:cNvSpPr/>
          <p:nvPr/>
        </p:nvSpPr>
        <p:spPr bwMode="auto">
          <a:xfrm>
            <a:off x="9075280" y="1344599"/>
            <a:ext cx="2676112" cy="2879615"/>
          </a:xfrm>
          <a:prstGeom prst="roundRect">
            <a:avLst>
              <a:gd name="adj" fmla="val 5845"/>
            </a:avLst>
          </a:prstGeom>
          <a:solidFill>
            <a:srgbClr val="EBF2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35994" rIns="143978" bIns="143978" rtlCol="0" anchor="t"/>
          <a:lstStyle/>
          <a:p>
            <a:pPr>
              <a:spcAft>
                <a:spcPts val="300"/>
              </a:spcAft>
              <a:defRPr/>
            </a:pPr>
            <a:r>
              <a:rPr lang="ru-RU" sz="8000" b="1" spc="20">
                <a:solidFill>
                  <a:srgbClr val="00AAE6"/>
                </a:solidFill>
                <a:latin typeface="Arial"/>
              </a:rPr>
              <a:t>4</a:t>
            </a:r>
            <a:endParaRPr sz="1800"/>
          </a:p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tx1"/>
                </a:solidFill>
                <a:latin typeface="Arial"/>
              </a:rPr>
              <a:t>Вопрос</a:t>
            </a:r>
            <a:endParaRPr lang="ru-RU" sz="1600" b="1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1600">
                <a:solidFill>
                  <a:schemeClr val="tx1"/>
                </a:solidFill>
                <a:latin typeface="Arial"/>
              </a:rPr>
              <a:t>какой это тип обучения и почему?</a:t>
            </a:r>
            <a:endParaRPr sz="1800"/>
          </a:p>
        </p:txBody>
      </p:sp>
      <p:sp>
        <p:nvSpPr>
          <p:cNvPr id="260635598" name="Прямоугольник: скругленные углы 9"/>
          <p:cNvSpPr/>
          <p:nvPr/>
        </p:nvSpPr>
        <p:spPr bwMode="auto">
          <a:xfrm>
            <a:off x="432674" y="4479348"/>
            <a:ext cx="11325066" cy="148884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107983" rIns="143978" bIns="143978" rtlCol="0" anchor="t"/>
          <a:lstStyle/>
          <a:p>
            <a:pPr>
              <a:spcAft>
                <a:spcPts val="300"/>
              </a:spcAft>
              <a:defRPr/>
            </a:pPr>
            <a:r>
              <a:rPr lang="ru-RU" sz="3600" b="1">
                <a:latin typeface="Arial"/>
              </a:rPr>
              <a:t>Подсказка</a:t>
            </a:r>
            <a:endParaRPr lang="ru-RU" sz="2000" b="1"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2000">
                <a:latin typeface="Arial"/>
              </a:rPr>
              <a:t>смотрим, что человек даёт машине: правильные ответы, только объекты или оценку</a:t>
            </a:r>
            <a:endParaRPr sz="1600"/>
          </a:p>
        </p:txBody>
      </p:sp>
      <p:pic>
        <p:nvPicPr>
          <p:cNvPr id="2015546630" name="Рисунок 10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170455" y="4692173"/>
            <a:ext cx="431933" cy="4319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894276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Задача 2. Применимо ли обучение с подкреплением</a:t>
            </a:r>
            <a:endParaRPr/>
          </a:p>
        </p:txBody>
      </p:sp>
      <p:sp>
        <p:nvSpPr>
          <p:cNvPr id="760522375" name="Прямоугольник: скругленные углы 4"/>
          <p:cNvSpPr/>
          <p:nvPr/>
        </p:nvSpPr>
        <p:spPr bwMode="auto">
          <a:xfrm>
            <a:off x="432673" y="1344599"/>
            <a:ext cx="2676112" cy="2879615"/>
          </a:xfrm>
          <a:prstGeom prst="roundRect">
            <a:avLst>
              <a:gd name="adj" fmla="val 5845"/>
            </a:avLst>
          </a:prstGeom>
          <a:solidFill>
            <a:srgbClr val="EBF2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35994" rIns="143978" bIns="143978" rtlCol="0" anchor="t"/>
          <a:lstStyle/>
          <a:p>
            <a:pPr>
              <a:spcAft>
                <a:spcPts val="300"/>
              </a:spcAft>
              <a:defRPr/>
            </a:pPr>
            <a:r>
              <a:rPr lang="ru-RU" sz="8000" b="1" spc="20">
                <a:solidFill>
                  <a:srgbClr val="00AAE6"/>
                </a:solidFill>
                <a:latin typeface="Arial"/>
              </a:rPr>
              <a:t>1</a:t>
            </a:r>
            <a:endParaRPr sz="1800"/>
          </a:p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tx1"/>
                </a:solidFill>
                <a:latin typeface="Arial"/>
              </a:rPr>
              <a:t>Расписание занятий</a:t>
            </a:r>
            <a:endParaRPr lang="ru-RU" sz="4800" b="1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1600">
                <a:solidFill>
                  <a:schemeClr val="tx1"/>
                </a:solidFill>
                <a:latin typeface="Arial"/>
              </a:rPr>
              <a:t>составить по известным ограничениям</a:t>
            </a:r>
            <a:endParaRPr sz="1800"/>
          </a:p>
        </p:txBody>
      </p:sp>
      <p:sp>
        <p:nvSpPr>
          <p:cNvPr id="1816334480" name="Прямоугольник: скругленные углы 5"/>
          <p:cNvSpPr/>
          <p:nvPr/>
        </p:nvSpPr>
        <p:spPr bwMode="auto">
          <a:xfrm>
            <a:off x="3324653" y="1344599"/>
            <a:ext cx="2676112" cy="2879615"/>
          </a:xfrm>
          <a:prstGeom prst="roundRect">
            <a:avLst>
              <a:gd name="adj" fmla="val 5845"/>
            </a:avLst>
          </a:prstGeom>
          <a:solidFill>
            <a:srgbClr val="EBF2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35994" rIns="143978" bIns="143978" rtlCol="0" anchor="t"/>
          <a:lstStyle/>
          <a:p>
            <a:pPr>
              <a:spcAft>
                <a:spcPts val="300"/>
              </a:spcAft>
              <a:defRPr/>
            </a:pPr>
            <a:r>
              <a:rPr lang="ru-RU" sz="8000" b="1" spc="20">
                <a:solidFill>
                  <a:srgbClr val="00AAE6"/>
                </a:solidFill>
                <a:latin typeface="Arial"/>
              </a:rPr>
              <a:t>2</a:t>
            </a:r>
            <a:endParaRPr sz="1800"/>
          </a:p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tx1"/>
                </a:solidFill>
                <a:latin typeface="Arial"/>
              </a:rPr>
              <a:t>Игра со счётом</a:t>
            </a:r>
            <a:endParaRPr lang="ru-RU" sz="1600" b="1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1600">
                <a:solidFill>
                  <a:schemeClr val="tx1"/>
                </a:solidFill>
                <a:latin typeface="Arial"/>
              </a:rPr>
              <a:t>научить агента играть</a:t>
            </a:r>
            <a:endParaRPr sz="1800"/>
          </a:p>
        </p:txBody>
      </p:sp>
      <p:sp>
        <p:nvSpPr>
          <p:cNvPr id="1271759552" name="Прямоугольник: скругленные углы 7"/>
          <p:cNvSpPr/>
          <p:nvPr/>
        </p:nvSpPr>
        <p:spPr bwMode="auto">
          <a:xfrm>
            <a:off x="6202347" y="1344599"/>
            <a:ext cx="2676112" cy="2879615"/>
          </a:xfrm>
          <a:prstGeom prst="roundRect">
            <a:avLst>
              <a:gd name="adj" fmla="val 5845"/>
            </a:avLst>
          </a:prstGeom>
          <a:solidFill>
            <a:srgbClr val="EBF2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35994" rIns="143978" bIns="143978" rtlCol="0" anchor="t"/>
          <a:lstStyle/>
          <a:p>
            <a:pPr>
              <a:spcAft>
                <a:spcPts val="300"/>
              </a:spcAft>
              <a:defRPr/>
            </a:pPr>
            <a:r>
              <a:rPr lang="ru-RU" sz="8000" b="1" spc="20">
                <a:solidFill>
                  <a:srgbClr val="00AAE6"/>
                </a:solidFill>
                <a:latin typeface="Arial"/>
              </a:rPr>
              <a:t>3</a:t>
            </a:r>
            <a:endParaRPr sz="1800"/>
          </a:p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tx1"/>
                </a:solidFill>
                <a:latin typeface="Arial"/>
              </a:rPr>
              <a:t>Отток клиентов</a:t>
            </a:r>
            <a:endParaRPr lang="ru-RU" sz="1600" b="1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1600">
                <a:solidFill>
                  <a:schemeClr val="tx1"/>
                </a:solidFill>
                <a:latin typeface="Arial"/>
              </a:rPr>
              <a:t>предсказать, кто уйдёт в следующем месяце</a:t>
            </a:r>
            <a:endParaRPr sz="1800"/>
          </a:p>
        </p:txBody>
      </p:sp>
      <p:sp>
        <p:nvSpPr>
          <p:cNvPr id="1004690925" name="Прямоугольник: скругленные углы 8"/>
          <p:cNvSpPr/>
          <p:nvPr/>
        </p:nvSpPr>
        <p:spPr bwMode="auto">
          <a:xfrm>
            <a:off x="9075280" y="1344599"/>
            <a:ext cx="2676112" cy="2879615"/>
          </a:xfrm>
          <a:prstGeom prst="roundRect">
            <a:avLst>
              <a:gd name="adj" fmla="val 5845"/>
            </a:avLst>
          </a:prstGeom>
          <a:solidFill>
            <a:srgbClr val="EBF2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35994" rIns="143978" bIns="143978" rtlCol="0" anchor="t"/>
          <a:lstStyle/>
          <a:p>
            <a:pPr>
              <a:spcAft>
                <a:spcPts val="300"/>
              </a:spcAft>
              <a:defRPr/>
            </a:pPr>
            <a:r>
              <a:rPr lang="ru-RU" sz="8000" b="1" spc="20">
                <a:solidFill>
                  <a:srgbClr val="00AAE6"/>
                </a:solidFill>
                <a:latin typeface="Arial"/>
              </a:rPr>
              <a:t>4</a:t>
            </a:r>
            <a:endParaRPr sz="1800"/>
          </a:p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tx1"/>
                </a:solidFill>
                <a:latin typeface="Arial"/>
              </a:rPr>
              <a:t>Температура в дата-центре</a:t>
            </a:r>
            <a:endParaRPr lang="ru-RU" sz="1600" b="1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1600">
                <a:solidFill>
                  <a:schemeClr val="tx1"/>
                </a:solidFill>
                <a:latin typeface="Arial"/>
              </a:rPr>
              <a:t>держать в норме, включая и выключая охлаждение</a:t>
            </a:r>
            <a:endParaRPr sz="1800"/>
          </a:p>
        </p:txBody>
      </p:sp>
      <p:sp>
        <p:nvSpPr>
          <p:cNvPr id="790632094" name="Прямоугольник: скругленные углы 9"/>
          <p:cNvSpPr/>
          <p:nvPr/>
        </p:nvSpPr>
        <p:spPr bwMode="auto">
          <a:xfrm>
            <a:off x="432674" y="4479348"/>
            <a:ext cx="11325066" cy="148884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107983" rIns="143978" bIns="143978" rtlCol="0" anchor="t"/>
          <a:lstStyle/>
          <a:p>
            <a:pPr>
              <a:spcAft>
                <a:spcPts val="300"/>
              </a:spcAft>
              <a:defRPr/>
            </a:pPr>
            <a:r>
              <a:rPr lang="ru-RU" sz="2700" b="1">
                <a:latin typeface="Arial"/>
              </a:rPr>
              <a:t>Ответьте «да» или «нет» — и объясните почему</a:t>
            </a:r>
            <a:endParaRPr lang="ru-RU" sz="1600" b="1"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1600">
                <a:latin typeface="Arial"/>
              </a:rPr>
              <a:t>в помощь — пять признаков с прошлого слайда</a:t>
            </a:r>
            <a:endParaRPr sz="1200"/>
          </a:p>
        </p:txBody>
      </p:sp>
      <p:pic>
        <p:nvPicPr>
          <p:cNvPr id="453168997" name="Рисунок 10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170455" y="4692173"/>
            <a:ext cx="431933" cy="4319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6234682" name="Заголовок 1"/>
          <p:cNvSpPr>
            <a:spLocks noGrp="1"/>
          </p:cNvSpPr>
          <p:nvPr>
            <p:ph type="title"/>
          </p:nvPr>
        </p:nvSpPr>
        <p:spPr bwMode="auto">
          <a:xfrm>
            <a:off x="433492" y="423291"/>
            <a:ext cx="9607927" cy="380954"/>
          </a:xfrm>
        </p:spPr>
        <p:txBody>
          <a:bodyPr/>
          <a:lstStyle/>
          <a:p>
            <a:pPr>
              <a:defRPr/>
            </a:pPr>
            <a:r>
              <a:rPr lang="ru-RU"/>
              <a:t>Задача 3. Один шаг: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3000" b="1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b"/>
                            </m:rPr>
                            <a:rPr lang="ru-RU" sz="3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b"/>
                            </m:rPr>
                            <a:rPr lang="ru-RU" sz="3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/>
              <a:t> →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3000" b="1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b"/>
                            </m:rPr>
                            <a:rPr lang="ru-RU" sz="3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b"/>
                            </m:rPr>
                            <a:rPr lang="ru-RU" sz="3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/>
              <a:t> →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3000" b="1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b"/>
                            </m:rPr>
                            <a:rPr lang="ru-RU" sz="3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b"/>
                            </m:rPr>
                            <a:rPr lang="ru-RU" sz="3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t+1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/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3000" b="1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b"/>
                            </m:rPr>
                            <a:rPr lang="ru-RU" sz="3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b"/>
                            </m:rPr>
                            <a:rPr lang="ru-RU" sz="3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t+1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/>
          </a:p>
        </p:txBody>
      </p:sp>
      <p:cxnSp>
        <p:nvCxnSpPr>
          <p:cNvPr id="570364161" name="Прямая соединительная линия 2"/>
          <p:cNvCxnSpPr/>
          <p:nvPr/>
        </p:nvCxnSpPr>
        <p:spPr bwMode="auto">
          <a:xfrm>
            <a:off x="432674" y="3332178"/>
            <a:ext cx="11325066" cy="0"/>
          </a:xfrm>
          <a:prstGeom prst="line">
            <a:avLst/>
          </a:prstGeom>
          <a:ln w="38100" cap="rnd">
            <a:solidFill>
              <a:schemeClr val="bg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8396950" name="TextBox 13"/>
          <p:cNvSpPr txBox="1">
            <a:spLocks noChangeArrowheads="1"/>
          </p:cNvSpPr>
          <p:nvPr/>
        </p:nvSpPr>
        <p:spPr bwMode="auto">
          <a:xfrm flipH="0" flipV="0">
            <a:off x="670644" y="3709508"/>
            <a:ext cx="2295922" cy="88604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ctr" defTabSz="457154">
              <a:spcAft>
                <a:spcPts val="600"/>
              </a:spcAft>
              <a:defRPr/>
            </a:pPr>
            <a:r>
              <a:rPr lang="ru-RU" sz="1800" b="1">
                <a:latin typeface="Arial"/>
                <a:ea typeface="Gotham Pro Medium"/>
                <a:cs typeface="Gotham Pro Medium"/>
              </a:rPr>
              <a:t>Состояние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1800" b="1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b"/>
                            </m:rPr>
                            <a:rPr lang="ru-RU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b"/>
                            </m:rPr>
                            <a:rPr lang="ru-RU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lang="ru-RU" sz="2000">
              <a:latin typeface="Arial"/>
              <a:ea typeface="Gotham Pro Light"/>
              <a:cs typeface="Gotham Pro Light"/>
            </a:endParaRPr>
          </a:p>
          <a:p>
            <a:pPr algn="ctr" defTabSz="914309">
              <a:spcAft>
                <a:spcPts val="600"/>
              </a:spcAft>
              <a:defRPr/>
            </a:pPr>
            <a:r>
              <a:rPr lang="ru-RU" sz="1400">
                <a:latin typeface="Arial"/>
              </a:rPr>
              <a:t>где курьер и какой заказ у него в руках</a:t>
            </a:r>
            <a:endParaRPr lang="en-US" sz="2000" b="1">
              <a:latin typeface="Arial"/>
            </a:endParaRPr>
          </a:p>
        </p:txBody>
      </p:sp>
      <p:sp>
        <p:nvSpPr>
          <p:cNvPr id="1817011861" name="Овал 14"/>
          <p:cNvSpPr/>
          <p:nvPr/>
        </p:nvSpPr>
        <p:spPr bwMode="auto">
          <a:xfrm>
            <a:off x="1770194" y="3273889"/>
            <a:ext cx="96821" cy="96823"/>
          </a:xfrm>
          <a:prstGeom prst="ellipse">
            <a:avLst/>
          </a:prstGeom>
          <a:solidFill>
            <a:srgbClr val="00ADEB"/>
          </a:solidFill>
          <a:ln w="444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154">
              <a:defRPr/>
            </a:pPr>
            <a:endParaRPr lang="ru-RU" sz="22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4517116" name="Овал 16"/>
          <p:cNvSpPr/>
          <p:nvPr/>
        </p:nvSpPr>
        <p:spPr bwMode="auto">
          <a:xfrm>
            <a:off x="4490749" y="3273889"/>
            <a:ext cx="96821" cy="96823"/>
          </a:xfrm>
          <a:prstGeom prst="ellipse">
            <a:avLst/>
          </a:prstGeom>
          <a:solidFill>
            <a:srgbClr val="00ADEB"/>
          </a:solidFill>
          <a:ln w="444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154">
              <a:defRPr/>
            </a:pPr>
            <a:endParaRPr lang="ru-RU" sz="22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208784" name="Овал 20"/>
          <p:cNvSpPr/>
          <p:nvPr/>
        </p:nvSpPr>
        <p:spPr bwMode="auto">
          <a:xfrm>
            <a:off x="10046142" y="3273889"/>
            <a:ext cx="96823" cy="96823"/>
          </a:xfrm>
          <a:prstGeom prst="ellipse">
            <a:avLst/>
          </a:prstGeom>
          <a:solidFill>
            <a:srgbClr val="00ADEB"/>
          </a:solidFill>
          <a:ln w="444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154">
              <a:defRPr/>
            </a:pPr>
            <a:endParaRPr lang="ru-RU" sz="22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428" name="Овал 22"/>
          <p:cNvSpPr/>
          <p:nvPr/>
        </p:nvSpPr>
        <p:spPr bwMode="auto">
          <a:xfrm>
            <a:off x="7243048" y="3273889"/>
            <a:ext cx="96823" cy="96823"/>
          </a:xfrm>
          <a:prstGeom prst="ellipse">
            <a:avLst/>
          </a:prstGeom>
          <a:solidFill>
            <a:srgbClr val="00ADEB"/>
          </a:solidFill>
          <a:ln w="444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154">
              <a:defRPr/>
            </a:pPr>
            <a:endParaRPr lang="ru-RU" sz="22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644183" name="TextBox 54"/>
          <p:cNvSpPr txBox="1">
            <a:spLocks noChangeArrowheads="1"/>
          </p:cNvSpPr>
          <p:nvPr/>
        </p:nvSpPr>
        <p:spPr bwMode="auto">
          <a:xfrm flipH="0" flipV="0">
            <a:off x="6143139" y="3709508"/>
            <a:ext cx="2296642" cy="116036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ctr" defTabSz="457154">
              <a:spcAft>
                <a:spcPts val="600"/>
              </a:spcAft>
              <a:defRPr/>
            </a:pPr>
            <a:r>
              <a:rPr lang="ru-RU" sz="1800" b="1">
                <a:latin typeface="Arial"/>
                <a:ea typeface="Gotham Pro Medium"/>
                <a:cs typeface="Gotham Pro Medium"/>
              </a:rPr>
              <a:t>Вознаграждение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1800" b="1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b"/>
                            </m:rPr>
                            <a:rPr lang="ru-RU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b"/>
                            </m:rPr>
                            <a:rPr lang="ru-RU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t+1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lang="ru-RU" sz="2000">
              <a:latin typeface="Arial"/>
              <a:ea typeface="Gotham Pro Light"/>
              <a:cs typeface="Gotham Pro Light"/>
            </a:endParaRPr>
          </a:p>
          <a:p>
            <a:pPr algn="ctr" defTabSz="914309">
              <a:spcAft>
                <a:spcPts val="600"/>
              </a:spcAft>
              <a:defRPr/>
            </a:pPr>
            <a:r>
              <a:rPr lang="ru-RU" sz="1400">
                <a:latin typeface="Arial"/>
              </a:rPr>
              <a:t>доставил в срок +10, опоздал −10</a:t>
            </a:r>
            <a:endParaRPr lang="en-US" sz="2000" b="1">
              <a:latin typeface="Arial"/>
            </a:endParaRPr>
          </a:p>
        </p:txBody>
      </p:sp>
      <p:sp>
        <p:nvSpPr>
          <p:cNvPr id="366927772" name="TextBox 55"/>
          <p:cNvSpPr txBox="1">
            <a:spLocks noChangeArrowheads="1"/>
          </p:cNvSpPr>
          <p:nvPr/>
        </p:nvSpPr>
        <p:spPr bwMode="auto">
          <a:xfrm flipH="0" flipV="0">
            <a:off x="3390478" y="3709508"/>
            <a:ext cx="2297362" cy="88604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ctr" defTabSz="457154">
              <a:spcAft>
                <a:spcPts val="600"/>
              </a:spcAft>
              <a:defRPr/>
            </a:pPr>
            <a:r>
              <a:rPr lang="ru-RU" sz="1800" b="1">
                <a:latin typeface="Arial"/>
                <a:ea typeface="Gotham Pro Medium"/>
                <a:cs typeface="Gotham Pro Medium"/>
              </a:rPr>
              <a:t>Действие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1800" b="1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b"/>
                            </m:rPr>
                            <a:rPr lang="ru-RU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b"/>
                            </m:rPr>
                            <a:rPr lang="ru-RU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lang="ru-RU" sz="2000">
              <a:latin typeface="Arial"/>
              <a:ea typeface="Gotham Pro Light"/>
              <a:cs typeface="Gotham Pro Light"/>
            </a:endParaRPr>
          </a:p>
          <a:p>
            <a:pPr algn="ctr" defTabSz="914309">
              <a:spcAft>
                <a:spcPts val="600"/>
              </a:spcAft>
              <a:defRPr/>
            </a:pPr>
            <a:r>
              <a:rPr lang="ru-RU" sz="1400">
                <a:latin typeface="Arial"/>
              </a:rPr>
              <a:t>поехать по маршруту А или по маршруту Б</a:t>
            </a:r>
            <a:endParaRPr lang="en-US" sz="2000" b="1">
              <a:latin typeface="Arial"/>
            </a:endParaRPr>
          </a:p>
        </p:txBody>
      </p:sp>
      <p:sp>
        <p:nvSpPr>
          <p:cNvPr id="885626127" name="TextBox 56"/>
          <p:cNvSpPr txBox="1">
            <a:spLocks noChangeArrowheads="1"/>
          </p:cNvSpPr>
          <p:nvPr/>
        </p:nvSpPr>
        <p:spPr bwMode="auto">
          <a:xfrm flipH="0" flipV="0">
            <a:off x="8955222" y="3709508"/>
            <a:ext cx="2298082" cy="116036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ctr" defTabSz="457154">
              <a:spcAft>
                <a:spcPts val="600"/>
              </a:spcAft>
              <a:defRPr/>
            </a:pPr>
            <a:r>
              <a:rPr lang="ru-RU" sz="1800" b="1">
                <a:latin typeface="Arial"/>
                <a:ea typeface="Gotham Pro Medium"/>
                <a:cs typeface="Gotham Pro Medium"/>
              </a:rPr>
              <a:t>Новое состояние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1800" b="1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b"/>
                            </m:rPr>
                            <a:rPr lang="ru-RU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b"/>
                            </m:rPr>
                            <a:rPr lang="ru-RU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t+1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lang="ru-RU" sz="2000">
              <a:latin typeface="Arial"/>
              <a:ea typeface="Gotham Pro Light"/>
              <a:cs typeface="Gotham Pro Light"/>
            </a:endParaRPr>
          </a:p>
          <a:p>
            <a:pPr algn="ctr" defTabSz="914309">
              <a:spcAft>
                <a:spcPts val="600"/>
              </a:spcAft>
              <a:defRPr/>
            </a:pPr>
            <a:r>
              <a:rPr lang="ru-RU" sz="1400">
                <a:latin typeface="Arial"/>
              </a:rPr>
              <a:t>курьер в новом месте, заказ отдан</a:t>
            </a:r>
            <a:endParaRPr lang="en-US" sz="2000" b="1">
              <a:latin typeface="Arial"/>
            </a:endParaRPr>
          </a:p>
        </p:txBody>
      </p:sp>
      <p:pic>
        <p:nvPicPr>
          <p:cNvPr id="800890473" name="Рисунок 57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371604" y="2609505"/>
            <a:ext cx="431933" cy="431933"/>
          </a:xfrm>
          <a:prstGeom prst="rect">
            <a:avLst/>
          </a:prstGeom>
        </p:spPr>
      </p:pic>
      <p:pic>
        <p:nvPicPr>
          <p:cNvPr id="248604568" name="Рисунок 58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9878586" y="2603834"/>
            <a:ext cx="431933" cy="431933"/>
          </a:xfrm>
          <a:prstGeom prst="rect">
            <a:avLst/>
          </a:prstGeom>
        </p:spPr>
      </p:pic>
      <p:pic>
        <p:nvPicPr>
          <p:cNvPr id="438675058" name="Рисунок 59" descr="image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7075494" y="2609505"/>
            <a:ext cx="431933" cy="431933"/>
          </a:xfrm>
          <a:prstGeom prst="rect">
            <a:avLst/>
          </a:prstGeom>
        </p:spPr>
      </p:pic>
      <p:pic>
        <p:nvPicPr>
          <p:cNvPr id="2105451117" name="Рисунок 60" descr="image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602639" y="2603834"/>
            <a:ext cx="431933" cy="4319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70997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Задача 4. Найди ошибку</a:t>
            </a:r>
            <a:endParaRPr/>
          </a:p>
        </p:txBody>
      </p:sp>
      <p:sp>
        <p:nvSpPr>
          <p:cNvPr id="867163610" name="Прямоугольник: скругленные углы 4"/>
          <p:cNvSpPr/>
          <p:nvPr/>
        </p:nvSpPr>
        <p:spPr bwMode="auto">
          <a:xfrm>
            <a:off x="432673" y="1344599"/>
            <a:ext cx="2676112" cy="2879615"/>
          </a:xfrm>
          <a:prstGeom prst="roundRect">
            <a:avLst>
              <a:gd name="adj" fmla="val 5845"/>
            </a:avLst>
          </a:prstGeom>
          <a:solidFill>
            <a:srgbClr val="EBF2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35994" rIns="143978" bIns="143978" rtlCol="0" anchor="t"/>
          <a:lstStyle/>
          <a:p>
            <a:pPr>
              <a:spcAft>
                <a:spcPts val="300"/>
              </a:spcAft>
              <a:defRPr/>
            </a:pPr>
            <a:r>
              <a:rPr lang="ru-RU" sz="8000" b="1" spc="20">
                <a:solidFill>
                  <a:srgbClr val="00AAE6"/>
                </a:solidFill>
                <a:latin typeface="Arial"/>
              </a:rPr>
              <a:t>1</a:t>
            </a:r>
            <a:endParaRPr sz="1800"/>
          </a:p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tx1"/>
                </a:solidFill>
                <a:latin typeface="Arial"/>
              </a:rPr>
              <a:t>«Агент — это вся команда разработки»</a:t>
            </a:r>
            <a:endParaRPr lang="ru-RU" sz="4800" b="1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1600">
                <a:solidFill>
                  <a:schemeClr val="tx1"/>
                </a:solidFill>
                <a:latin typeface="Arial"/>
              </a:rPr>
              <a:t>так ли это?</a:t>
            </a:r>
            <a:endParaRPr sz="1800"/>
          </a:p>
        </p:txBody>
      </p:sp>
      <p:sp>
        <p:nvSpPr>
          <p:cNvPr id="943206141" name="Прямоугольник: скругленные углы 5"/>
          <p:cNvSpPr/>
          <p:nvPr/>
        </p:nvSpPr>
        <p:spPr bwMode="auto">
          <a:xfrm>
            <a:off x="3324653" y="1344599"/>
            <a:ext cx="2676112" cy="2879615"/>
          </a:xfrm>
          <a:prstGeom prst="roundRect">
            <a:avLst>
              <a:gd name="adj" fmla="val 5845"/>
            </a:avLst>
          </a:prstGeom>
          <a:solidFill>
            <a:srgbClr val="EBF2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35994" rIns="143978" bIns="143978" rtlCol="0" anchor="t"/>
          <a:lstStyle/>
          <a:p>
            <a:pPr>
              <a:spcAft>
                <a:spcPts val="300"/>
              </a:spcAft>
              <a:defRPr/>
            </a:pPr>
            <a:r>
              <a:rPr lang="ru-RU" sz="8000" b="1" spc="20">
                <a:solidFill>
                  <a:srgbClr val="00AAE6"/>
                </a:solidFill>
                <a:latin typeface="Arial"/>
              </a:rPr>
              <a:t>2</a:t>
            </a:r>
            <a:endParaRPr sz="1800"/>
          </a:p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tx1"/>
                </a:solidFill>
                <a:latin typeface="Arial"/>
              </a:rPr>
              <a:t>«Состояние — это весь проект целиком»</a:t>
            </a:r>
            <a:endParaRPr lang="ru-RU" sz="1600" b="1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1600">
                <a:solidFill>
                  <a:schemeClr val="tx1"/>
                </a:solidFill>
                <a:latin typeface="Arial"/>
              </a:rPr>
              <a:t>так ли это?</a:t>
            </a:r>
            <a:endParaRPr sz="1800"/>
          </a:p>
        </p:txBody>
      </p:sp>
      <p:sp>
        <p:nvSpPr>
          <p:cNvPr id="242474059" name="Прямоугольник: скругленные углы 7"/>
          <p:cNvSpPr/>
          <p:nvPr/>
        </p:nvSpPr>
        <p:spPr bwMode="auto">
          <a:xfrm>
            <a:off x="6202347" y="1344599"/>
            <a:ext cx="2676112" cy="2879615"/>
          </a:xfrm>
          <a:prstGeom prst="roundRect">
            <a:avLst>
              <a:gd name="adj" fmla="val 5845"/>
            </a:avLst>
          </a:prstGeom>
          <a:solidFill>
            <a:srgbClr val="EBF2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35994" rIns="143978" bIns="143978" rtlCol="0" anchor="t"/>
          <a:lstStyle/>
          <a:p>
            <a:pPr>
              <a:spcAft>
                <a:spcPts val="300"/>
              </a:spcAft>
              <a:defRPr/>
            </a:pPr>
            <a:r>
              <a:rPr lang="ru-RU" sz="8000" b="1" spc="20">
                <a:solidFill>
                  <a:srgbClr val="00AAE6"/>
                </a:solidFill>
                <a:latin typeface="Arial"/>
              </a:rPr>
              <a:t>3</a:t>
            </a:r>
            <a:endParaRPr sz="1800"/>
          </a:p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tx1"/>
                </a:solidFill>
                <a:latin typeface="Arial"/>
              </a:rPr>
              <a:t>«Действие — это этап процесса разработки»</a:t>
            </a:r>
            <a:endParaRPr lang="ru-RU" sz="1600" b="1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1600">
                <a:solidFill>
                  <a:schemeClr val="tx1"/>
                </a:solidFill>
                <a:latin typeface="Arial"/>
              </a:rPr>
              <a:t>так ли это?</a:t>
            </a:r>
            <a:endParaRPr sz="1800"/>
          </a:p>
        </p:txBody>
      </p:sp>
      <p:sp>
        <p:nvSpPr>
          <p:cNvPr id="1653115930" name="Прямоугольник: скругленные углы 8"/>
          <p:cNvSpPr/>
          <p:nvPr/>
        </p:nvSpPr>
        <p:spPr bwMode="auto">
          <a:xfrm>
            <a:off x="9075280" y="1344599"/>
            <a:ext cx="2676112" cy="2879615"/>
          </a:xfrm>
          <a:prstGeom prst="roundRect">
            <a:avLst>
              <a:gd name="adj" fmla="val 5845"/>
            </a:avLst>
          </a:prstGeom>
          <a:solidFill>
            <a:srgbClr val="EBF2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35994" rIns="143978" bIns="143978" rtlCol="0" anchor="t"/>
          <a:lstStyle/>
          <a:p>
            <a:pPr>
              <a:spcAft>
                <a:spcPts val="300"/>
              </a:spcAft>
              <a:defRPr/>
            </a:pPr>
            <a:r>
              <a:rPr lang="ru-RU" sz="8000" b="1" spc="20">
                <a:solidFill>
                  <a:srgbClr val="00AAE6"/>
                </a:solidFill>
                <a:latin typeface="Arial"/>
              </a:rPr>
              <a:t>4</a:t>
            </a:r>
            <a:endParaRPr sz="1800"/>
          </a:p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tx1"/>
                </a:solidFill>
                <a:latin typeface="Arial"/>
              </a:rPr>
              <a:t>Вопрос</a:t>
            </a:r>
            <a:endParaRPr lang="ru-RU" sz="1600" b="1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1600">
                <a:solidFill>
                  <a:schemeClr val="tx1"/>
                </a:solidFill>
                <a:latin typeface="Arial"/>
              </a:rPr>
              <a:t>что не так в каждой фразе и как правильно?</a:t>
            </a:r>
            <a:endParaRPr sz="1800"/>
          </a:p>
        </p:txBody>
      </p:sp>
      <p:sp>
        <p:nvSpPr>
          <p:cNvPr id="186908578" name="Прямоугольник: скругленные углы 9"/>
          <p:cNvSpPr/>
          <p:nvPr/>
        </p:nvSpPr>
        <p:spPr bwMode="auto">
          <a:xfrm>
            <a:off x="432674" y="4479348"/>
            <a:ext cx="11325066" cy="148884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107983" rIns="143978" bIns="143978" rtlCol="0" anchor="t"/>
          <a:lstStyle/>
          <a:p>
            <a:pPr>
              <a:spcAft>
                <a:spcPts val="300"/>
              </a:spcAft>
              <a:defRPr/>
            </a:pPr>
            <a:r>
              <a:rPr lang="ru-RU" sz="2700" b="1">
                <a:latin typeface="Arial"/>
              </a:rPr>
              <a:t>Подсказка</a:t>
            </a:r>
            <a:endParaRPr lang="ru-RU" sz="1600" b="1"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1600">
                <a:latin typeface="Arial"/>
              </a:rPr>
              <a:t>агент один и он принимает решения; состояние — только то, что нужно для решения сейчас</a:t>
            </a:r>
            <a:endParaRPr sz="1200"/>
          </a:p>
        </p:txBody>
      </p:sp>
      <p:pic>
        <p:nvPicPr>
          <p:cNvPr id="1588624996" name="Рисунок 10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170455" y="4692173"/>
            <a:ext cx="431933" cy="4319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929576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Задача 5. Посчитай и выбери</a:t>
            </a:r>
            <a:endParaRPr/>
          </a:p>
        </p:txBody>
      </p:sp>
      <p:sp>
        <p:nvSpPr>
          <p:cNvPr id="1170405911" name="Прямоугольник: скругленные углы 5"/>
          <p:cNvSpPr/>
          <p:nvPr/>
        </p:nvSpPr>
        <p:spPr bwMode="auto">
          <a:xfrm>
            <a:off x="432593" y="2751137"/>
            <a:ext cx="5566570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200" b="1">
                <a:solidFill>
                  <a:schemeClr val="bg2"/>
                </a:solidFill>
                <a:latin typeface="Arial"/>
              </a:rPr>
              <a:t>Доход</a:t>
            </a:r>
            <a:endParaRPr sz="22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ru-RU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γ</m:t>
                      </m:r>
                    </m:oMath>
                  </m:oMathPara>
                </a14:m>
              </mc:Choice>
              <mc:Fallback/>
            </mc:AlternateContent>
            <a:r>
              <a:rPr lang="ru-RU" sz="2000">
                <a:solidFill>
                  <a:schemeClr val="tx1"/>
                </a:solidFill>
                <a:latin typeface="Arial"/>
              </a:rPr>
              <a:t> = 0,9; вознаграждения за три шага: +10, −10, +10</a:t>
            </a:r>
            <a:endParaRPr sz="2200"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чему равен доход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2000" b="0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u-RU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ru-RU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 sz="2000">
                <a:solidFill>
                  <a:schemeClr val="tx1"/>
                </a:solidFill>
                <a:latin typeface="Arial"/>
              </a:rPr>
              <a:t>?</a:t>
            </a:r>
            <a:endParaRPr sz="2200"/>
          </a:p>
        </p:txBody>
      </p:sp>
      <p:sp>
        <p:nvSpPr>
          <p:cNvPr id="566782293" name="Прямоугольник: скругленные углы 10"/>
          <p:cNvSpPr/>
          <p:nvPr/>
        </p:nvSpPr>
        <p:spPr bwMode="auto">
          <a:xfrm>
            <a:off x="6195861" y="2751138"/>
            <a:ext cx="5562751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200" b="1">
                <a:solidFill>
                  <a:schemeClr val="bg2"/>
                </a:solidFill>
                <a:latin typeface="Arial"/>
              </a:rPr>
              <a:t>Выбор действия</a:t>
            </a:r>
            <a:endParaRPr sz="2200"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средние выигрыши: «маршрут А» — 6, «маршрут Б» — 8, «отложить заказ» — 4; ε = 0,1</a:t>
            </a:r>
            <a:endParaRPr sz="2200"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какое действие выберет ε-жадная стратегия и с какой вероятностью?</a:t>
            </a:r>
            <a:endParaRPr sz="2200"/>
          </a:p>
        </p:txBody>
      </p:sp>
      <p:sp>
        <p:nvSpPr>
          <p:cNvPr id="1780608519" name="Прямоугольник: скругленные углы 2"/>
          <p:cNvSpPr/>
          <p:nvPr/>
        </p:nvSpPr>
        <p:spPr bwMode="auto">
          <a:xfrm>
            <a:off x="431799" y="1376363"/>
            <a:ext cx="11326813" cy="118109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/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Данные задачи — ниже</a:t>
            </a:r>
            <a:endParaRPr lang="ru-RU" sz="20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считаем на листке, потом сверяемся по слайду с ответом</a:t>
            </a:r>
            <a:endParaRPr lang="ru-RU" sz="2000">
              <a:latin typeface="Arial"/>
            </a:endParaRPr>
          </a:p>
        </p:txBody>
      </p:sp>
      <p:pic>
        <p:nvPicPr>
          <p:cNvPr id="1532798374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7810" y="1732912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04435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Проверь себя: задачи 1 и 2</a:t>
            </a:r>
            <a:endParaRPr/>
          </a:p>
        </p:txBody>
      </p:sp>
      <p:sp>
        <p:nvSpPr>
          <p:cNvPr id="50125396" name="Прямоугольник: скругленные углы 5"/>
          <p:cNvSpPr/>
          <p:nvPr/>
        </p:nvSpPr>
        <p:spPr bwMode="auto">
          <a:xfrm>
            <a:off x="432593" y="2751137"/>
            <a:ext cx="5566570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200" b="1">
                <a:solidFill>
                  <a:schemeClr val="bg2"/>
                </a:solidFill>
                <a:latin typeface="Arial"/>
              </a:rPr>
              <a:t>Задача 1: какой тип обучения</a:t>
            </a:r>
            <a:endParaRPr sz="2200"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цена квартиры — с учителем: есть готовые ответы</a:t>
            </a:r>
            <a:endParaRPr sz="2200"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похожие клиенты — без учителя: ответов нет, ищем структуру</a:t>
            </a:r>
            <a:endParaRPr sz="2200"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робот до станции — с подкреплением: оценка действий и свой опыт</a:t>
            </a:r>
            <a:endParaRPr sz="2200"/>
          </a:p>
        </p:txBody>
      </p:sp>
      <p:sp>
        <p:nvSpPr>
          <p:cNvPr id="1861748172" name="Прямоугольник: скругленные углы 10"/>
          <p:cNvSpPr/>
          <p:nvPr/>
        </p:nvSpPr>
        <p:spPr bwMode="auto">
          <a:xfrm>
            <a:off x="6195861" y="2751138"/>
            <a:ext cx="5562751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200" b="1">
                <a:solidFill>
                  <a:schemeClr val="bg2"/>
                </a:solidFill>
                <a:latin typeface="Arial"/>
              </a:rPr>
              <a:t>Задача 2: применимо ли RL</a:t>
            </a:r>
            <a:endParaRPr sz="2200"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расписание занятий — нет: есть точные методы</a:t>
            </a:r>
            <a:endParaRPr sz="2200"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игра со счётом — да: решения по шагам, награда отложена</a:t>
            </a:r>
            <a:endParaRPr sz="2200"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отток клиентов — нет: это прогноз по историческим данным</a:t>
            </a:r>
            <a:endParaRPr sz="2200"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температура в дата-центре — да: непрерывное управление и безопасные пробы</a:t>
            </a:r>
            <a:endParaRPr sz="2200"/>
          </a:p>
        </p:txBody>
      </p:sp>
      <p:sp>
        <p:nvSpPr>
          <p:cNvPr id="158778200" name="Прямоугольник: скругленные углы 2"/>
          <p:cNvSpPr/>
          <p:nvPr/>
        </p:nvSpPr>
        <p:spPr bwMode="auto">
          <a:xfrm>
            <a:off x="431799" y="1376363"/>
            <a:ext cx="11326813" cy="118109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/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Сверяемся</a:t>
            </a:r>
            <a:endParaRPr lang="ru-RU" sz="20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сначала сами, потом разбор</a:t>
            </a:r>
            <a:endParaRPr lang="ru-RU" sz="2000">
              <a:latin typeface="Arial"/>
            </a:endParaRPr>
          </a:p>
        </p:txBody>
      </p:sp>
      <p:pic>
        <p:nvPicPr>
          <p:cNvPr id="100240111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7810" y="1732912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0348433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Проверь себя: задачи 3 и 4</a:t>
            </a:r>
            <a:endParaRPr/>
          </a:p>
        </p:txBody>
      </p:sp>
      <p:sp>
        <p:nvSpPr>
          <p:cNvPr id="1848442432" name="Прямоугольник: скругленные углы 5"/>
          <p:cNvSpPr/>
          <p:nvPr/>
        </p:nvSpPr>
        <p:spPr bwMode="auto">
          <a:xfrm>
            <a:off x="432593" y="2751137"/>
            <a:ext cx="5566570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200" b="1">
                <a:solidFill>
                  <a:schemeClr val="bg2"/>
                </a:solidFill>
                <a:latin typeface="Arial"/>
              </a:rPr>
              <a:t>Задача 3: один шаг</a:t>
            </a:r>
            <a:endParaRPr sz="2200"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агент — курьер, среда — дороги, клиенты, погода</a:t>
            </a:r>
            <a:endParaRPr sz="2200"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шаг: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2000" b="1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b"/>
                            </m:rPr>
                            <a:rPr lang="ru-RU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b"/>
                            </m:rPr>
                            <a:rPr lang="ru-RU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 sz="20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→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2000" b="1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b"/>
                            </m:rPr>
                            <a:rPr lang="ru-RU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b"/>
                            </m:rPr>
                            <a:rPr lang="ru-RU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 sz="20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→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2000" b="1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b"/>
                            </m:rPr>
                            <a:rPr lang="ru-RU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b"/>
                            </m:rPr>
                            <a:rPr lang="ru-RU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t+1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 sz="20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2000" b="1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b"/>
                            </m:rPr>
                            <a:rPr lang="ru-RU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b"/>
                            </m:rPr>
                            <a:rPr lang="ru-RU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t+1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sz="2200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индекс t + 1 — награда приходит уже после действия</a:t>
            </a:r>
            <a:endParaRPr sz="2200"/>
          </a:p>
        </p:txBody>
      </p:sp>
      <p:sp>
        <p:nvSpPr>
          <p:cNvPr id="723290250" name="Прямоугольник: скругленные углы 10"/>
          <p:cNvSpPr/>
          <p:nvPr/>
        </p:nvSpPr>
        <p:spPr bwMode="auto">
          <a:xfrm>
            <a:off x="6195861" y="2751138"/>
            <a:ext cx="5562751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200" b="1">
                <a:solidFill>
                  <a:schemeClr val="bg2"/>
                </a:solidFill>
                <a:latin typeface="Arial"/>
              </a:rPr>
              <a:t>Задача 4: что не так</a:t>
            </a:r>
            <a:endParaRPr sz="2200"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агент один, остальные роли — среда</a:t>
            </a:r>
            <a:endParaRPr sz="2200"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состояние — только то, что нужно для решения сейчас</a:t>
            </a:r>
            <a:endParaRPr sz="2200"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этап процесса — это шаг времени, а не действие агента</a:t>
            </a:r>
            <a:endParaRPr sz="2200"/>
          </a:p>
        </p:txBody>
      </p:sp>
      <p:sp>
        <p:nvSpPr>
          <p:cNvPr id="1835590756" name="Прямоугольник: скругленные углы 2"/>
          <p:cNvSpPr/>
          <p:nvPr/>
        </p:nvSpPr>
        <p:spPr bwMode="auto">
          <a:xfrm>
            <a:off x="431799" y="1376363"/>
            <a:ext cx="11326813" cy="118109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/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Сверяемся</a:t>
            </a:r>
            <a:endParaRPr lang="ru-RU" sz="20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сначала сами, потом разбор</a:t>
            </a:r>
            <a:endParaRPr lang="ru-RU" sz="2000">
              <a:latin typeface="Arial"/>
            </a:endParaRPr>
          </a:p>
        </p:txBody>
      </p:sp>
      <p:pic>
        <p:nvPicPr>
          <p:cNvPr id="74223506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7810" y="1732912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649667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Ответ: задача 5</a:t>
            </a:r>
            <a:endParaRPr/>
          </a:p>
        </p:txBody>
      </p:sp>
      <p:sp>
        <p:nvSpPr>
          <p:cNvPr id="1390678550" name="Прямоугольник: скругленные углы 5"/>
          <p:cNvSpPr/>
          <p:nvPr/>
        </p:nvSpPr>
        <p:spPr bwMode="auto">
          <a:xfrm>
            <a:off x="432593" y="2751137"/>
            <a:ext cx="11326020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bg2"/>
                </a:solidFill>
                <a:latin typeface="Arial"/>
              </a:rPr>
              <a:t>Расчёт</a:t>
            </a:r>
            <a:endParaRPr sz="2000"/>
          </a:p>
          <a:p>
            <a:pPr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10 + 0,9 · (−10) + 0,9² · 10 = 10 − 9 + 8,1 = 9,1</a:t>
            </a:r>
            <a:endParaRPr sz="2000"/>
          </a:p>
          <a:p>
            <a:pPr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минус на втором шаге съел часть дохода — поэт</a:t>
            </a:r>
            <a:r>
              <a:rPr lang="ru-RU" sz="1800">
                <a:solidFill>
                  <a:schemeClr val="tx1"/>
                </a:solidFill>
                <a:latin typeface="Arial"/>
              </a:rPr>
              <a:t>ому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1800" b="0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u-RU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ru-RU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 sz="1800">
                <a:solidFill>
                  <a:schemeClr val="tx1"/>
                </a:solidFill>
                <a:latin typeface="Arial"/>
              </a:rPr>
              <a:t> меньше </a:t>
            </a:r>
            <a:r>
              <a:rPr lang="ru-RU" sz="1800">
                <a:solidFill>
                  <a:schemeClr val="tx1"/>
                </a:solidFill>
                <a:latin typeface="Arial"/>
              </a:rPr>
              <a:t>10</a:t>
            </a:r>
            <a:endParaRPr sz="2000"/>
          </a:p>
          <a:p>
            <a:pPr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выбор: 90% — «маршрут Б» (лучшее известное), 10% — случайное действие из трёх</a:t>
            </a:r>
            <a:endParaRPr sz="2000"/>
          </a:p>
          <a:p>
            <a:pPr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10% — исследование, 90% — использование</a:t>
            </a:r>
            <a:endParaRPr sz="2000"/>
          </a:p>
        </p:txBody>
      </p:sp>
      <p:sp>
        <p:nvSpPr>
          <p:cNvPr id="1474496920" name="Прямоугольник: скругленные углы 2"/>
          <p:cNvSpPr/>
          <p:nvPr/>
        </p:nvSpPr>
        <p:spPr bwMode="auto">
          <a:xfrm>
            <a:off x="431798" y="1376362"/>
            <a:ext cx="11328252" cy="983827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000" b="1">
                <a:latin typeface="Arial"/>
              </a:rPr>
              <a:t>Проверяем расчёт</a:t>
            </a:r>
            <a:endParaRPr lang="ru-RU" sz="18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1800" b="0" i="0" u="none" strike="noStrike" cap="none" spc="0">
                              <a:solidFill>
                                <a:schemeClr val="lt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u-RU" sz="1800" u="none" strike="noStrike" cap="none" spc="0">
                              <a:solidFill>
                                <a:schemeClr val="lt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ru-RU" sz="1800" u="none" strike="noStrike" cap="none" spc="0">
                              <a:solidFill>
                                <a:schemeClr val="lt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 sz="1800">
                <a:latin typeface="Arial"/>
              </a:rPr>
              <a:t>= 10 − 9 + 8,1 = 9,1</a:t>
            </a:r>
            <a:endParaRPr lang="ru-RU" sz="1800">
              <a:latin typeface="Arial"/>
            </a:endParaRPr>
          </a:p>
        </p:txBody>
      </p:sp>
      <p:pic>
        <p:nvPicPr>
          <p:cNvPr id="720524154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7810" y="1634276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099993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Рубежный контроль №1</a:t>
            </a:r>
            <a:endParaRPr/>
          </a:p>
        </p:txBody>
      </p:sp>
      <p:sp>
        <p:nvSpPr>
          <p:cNvPr id="731184019" name="Text Placeholder 2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12 минут · 12 вопросов · 12 баллов · вариант А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4918813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Рубежный контроль №1 — вариант А</a:t>
            </a:r>
            <a:endParaRPr/>
          </a:p>
        </p:txBody>
      </p:sp>
      <p:sp>
        <p:nvSpPr>
          <p:cNvPr id="1899150736" name="Прямоугольник: скругленные углы 5"/>
          <p:cNvSpPr/>
          <p:nvPr/>
        </p:nvSpPr>
        <p:spPr bwMode="auto">
          <a:xfrm>
            <a:off x="432593" y="2751137"/>
            <a:ext cx="11326020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b="1">
                <a:solidFill>
                  <a:schemeClr val="bg2"/>
                </a:solidFill>
                <a:latin typeface="Arial"/>
              </a:rPr>
              <a:t>Как устроено</a:t>
            </a:r>
            <a:endParaRPr/>
          </a:p>
          <a:p>
            <a:pPr>
              <a:defRPr/>
            </a:pPr>
            <a:r>
              <a:rPr lang="ru-RU" sz="1600">
                <a:solidFill>
                  <a:schemeClr val="tx1"/>
                </a:solidFill>
                <a:latin typeface="Arial"/>
              </a:rPr>
              <a:t>десять вопросов с выбором ответа и два — своими словами</a:t>
            </a:r>
            <a:endParaRPr/>
          </a:p>
          <a:p>
            <a:pPr>
              <a:defRPr/>
            </a:pPr>
            <a:r>
              <a:rPr lang="ru-RU" sz="1600">
                <a:solidFill>
                  <a:schemeClr val="tx1"/>
                </a:solidFill>
                <a:latin typeface="Arial"/>
              </a:rPr>
              <a:t>темы: лекция 2 (язык агента и среды) и сегодняшняя теория</a:t>
            </a:r>
            <a:endParaRPr/>
          </a:p>
          <a:p>
            <a:pPr>
              <a:defRPr/>
            </a:pPr>
            <a:r>
              <a:rPr lang="ru-RU" sz="1600">
                <a:solidFill>
                  <a:schemeClr val="tx1"/>
                </a:solidFill>
                <a:latin typeface="Arial"/>
              </a:rPr>
              <a:t>спрашиваем только то, что давали — ни одного вопроса из непройденного</a:t>
            </a:r>
            <a:endParaRPr/>
          </a:p>
          <a:p>
            <a:pPr>
              <a:defRPr/>
            </a:pPr>
            <a:r>
              <a:rPr lang="ru-RU" sz="1600">
                <a:solidFill>
                  <a:schemeClr val="tx1"/>
                </a:solidFill>
                <a:latin typeface="Arial"/>
              </a:rPr>
              <a:t>вопросы показываем со слайда, в группе у всех один вариант</a:t>
            </a:r>
            <a:endParaRPr/>
          </a:p>
        </p:txBody>
      </p:sp>
      <p:sp>
        <p:nvSpPr>
          <p:cNvPr id="1536858361" name="Прямоугольник: скругленные углы 2"/>
          <p:cNvSpPr/>
          <p:nvPr/>
        </p:nvSpPr>
        <p:spPr bwMode="auto">
          <a:xfrm>
            <a:off x="431799" y="1376363"/>
            <a:ext cx="11326813" cy="1195045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1">
                <a:latin typeface="Arial"/>
              </a:rPr>
              <a:t>На листке · 12 минут · 12 вопросов · 12 баллов</a:t>
            </a:r>
            <a:endParaRPr lang="ru-RU" sz="16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1600">
                <a:latin typeface="Arial"/>
              </a:rPr>
              <a:t>пишем на своём листке, фамилию сверху</a:t>
            </a:r>
            <a:endParaRPr lang="ru-RU" sz="1600">
              <a:latin typeface="Arial"/>
            </a:endParaRPr>
          </a:p>
        </p:txBody>
      </p:sp>
      <p:pic>
        <p:nvPicPr>
          <p:cNvPr id="651539019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7811" y="1554064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5818931" name="Заголовок 1"/>
          <p:cNvSpPr>
            <a:spLocks noGrp="1"/>
          </p:cNvSpPr>
          <p:nvPr>
            <p:ph type="title"/>
          </p:nvPr>
        </p:nvSpPr>
        <p:spPr bwMode="auto">
          <a:xfrm>
            <a:off x="433492" y="423755"/>
            <a:ext cx="9616925" cy="369332"/>
          </a:xfrm>
        </p:spPr>
        <p:txBody>
          <a:bodyPr/>
          <a:lstStyle/>
          <a:p>
            <a:pPr>
              <a:defRPr/>
            </a:pPr>
            <a:r>
              <a:rPr lang="ru-RU"/>
              <a:t>РК №1 (вариант А). Вопросы 1–2</a:t>
            </a:r>
            <a:endParaRPr/>
          </a:p>
        </p:txBody>
      </p:sp>
      <p:sp>
        <p:nvSpPr>
          <p:cNvPr id="1075198471" name="Прямоугольник 3"/>
          <p:cNvSpPr/>
          <p:nvPr/>
        </p:nvSpPr>
        <p:spPr bwMode="auto">
          <a:xfrm>
            <a:off x="4760694" y="3588206"/>
            <a:ext cx="18473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endParaRPr lang="ru-RU" sz="800" b="1">
              <a:solidFill>
                <a:srgbClr val="0038FF"/>
              </a:solidFill>
              <a:latin typeface="Arial"/>
            </a:endParaRPr>
          </a:p>
        </p:txBody>
      </p:sp>
      <p:sp>
        <p:nvSpPr>
          <p:cNvPr id="23479944" name="Скругленный прямоугольник 11"/>
          <p:cNvSpPr/>
          <p:nvPr/>
        </p:nvSpPr>
        <p:spPr bwMode="auto">
          <a:xfrm flipH="0" flipV="0">
            <a:off x="432671" y="1376362"/>
            <a:ext cx="7103190" cy="5253783"/>
          </a:xfrm>
          <a:prstGeom prst="roundRect">
            <a:avLst>
              <a:gd name="adj" fmla="val 2876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080000" rIns="180000" bIns="180000" rtlCol="0" anchor="t"/>
          <a:lstStyle/>
          <a:p>
            <a:pPr marL="283879" indent="-283879">
              <a:spcAft>
                <a:spcPts val="599"/>
              </a:spcAft>
              <a:buAutoNum type="arabicPeriod"/>
              <a:defRPr/>
            </a:pPr>
            <a:r>
              <a:rPr lang="ru-RU" b="1">
                <a:solidFill>
                  <a:schemeClr val="tx1"/>
                </a:solidFill>
                <a:latin typeface="Arial"/>
              </a:rPr>
              <a:t>Что такое один шаг взаимодействия?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а) от начала эпизода до терминального состояния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б) состояние → действие → вознаграждение на следующем шаге → новое состояние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в) одно действие агента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г) момент получения вознаграждения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en-US" b="1">
                <a:solidFill>
                  <a:schemeClr val="tx1"/>
                </a:solidFill>
                <a:latin typeface="Arial"/>
              </a:rPr>
              <a:t>2. </a:t>
            </a:r>
            <a:r>
              <a:rPr lang="ru-RU" b="1">
                <a:solidFill>
                  <a:schemeClr val="tx1"/>
                </a:solidFill>
                <a:latin typeface="Arial"/>
              </a:rPr>
              <a:t>Почему вознаграждение после действия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1800" b="1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b"/>
                            </m:rPr>
                            <a:rPr lang="ru-RU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b"/>
                            </m:rPr>
                            <a:rPr lang="ru-RU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 b="1">
                <a:solidFill>
                  <a:schemeClr val="tx1"/>
                </a:solidFill>
                <a:latin typeface="Arial"/>
              </a:rPr>
              <a:t> обозначается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1800" b="1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b"/>
                            </m:rPr>
                            <a:rPr lang="ru-RU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b"/>
                            </m:rPr>
                            <a:rPr lang="ru-RU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t+1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 b="1">
                <a:solidFill>
                  <a:schemeClr val="tx1"/>
                </a:solidFill>
                <a:latin typeface="Arial"/>
              </a:rPr>
              <a:t>?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а) результат действия наступает уже на следующем шаге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б) чтобы отличать вознаграждение от дохода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в) потому что состояние имеет индекс t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г) отдельного смысла нет, так принято</a:t>
            </a:r>
            <a:endParaRPr>
              <a:solidFill>
                <a:schemeClr val="tx1"/>
              </a:solidFill>
              <a:latin typeface="Arial"/>
            </a:endParaRPr>
          </a:p>
        </p:txBody>
      </p:sp>
      <p:pic>
        <p:nvPicPr>
          <p:cNvPr id="1021531254" name="Рисунок 12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519513" y="2171679"/>
            <a:ext cx="3677961" cy="3918851"/>
          </a:xfrm>
          <a:prstGeom prst="rect">
            <a:avLst/>
          </a:prstGeom>
        </p:spPr>
      </p:pic>
      <p:pic>
        <p:nvPicPr>
          <p:cNvPr id="422188081" name="Рисунок 10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46616" y="1541559"/>
            <a:ext cx="844034" cy="647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4441685" name="Заголовок 1"/>
          <p:cNvSpPr>
            <a:spLocks noGrp="1"/>
          </p:cNvSpPr>
          <p:nvPr>
            <p:ph type="title"/>
          </p:nvPr>
        </p:nvSpPr>
        <p:spPr bwMode="auto">
          <a:xfrm>
            <a:off x="433492" y="423755"/>
            <a:ext cx="9616925" cy="369332"/>
          </a:xfrm>
        </p:spPr>
        <p:txBody>
          <a:bodyPr/>
          <a:lstStyle/>
          <a:p>
            <a:pPr>
              <a:defRPr/>
            </a:pPr>
            <a:r>
              <a:rPr lang="ru-RU"/>
              <a:t>РК №1 (вариант А). Вопросы 3–4</a:t>
            </a:r>
            <a:endParaRPr/>
          </a:p>
        </p:txBody>
      </p:sp>
      <p:sp>
        <p:nvSpPr>
          <p:cNvPr id="205611452" name="Прямоугольник 3"/>
          <p:cNvSpPr/>
          <p:nvPr/>
        </p:nvSpPr>
        <p:spPr bwMode="auto">
          <a:xfrm>
            <a:off x="4760694" y="3588206"/>
            <a:ext cx="18473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endParaRPr lang="ru-RU" sz="800" b="1">
              <a:solidFill>
                <a:srgbClr val="0038FF"/>
              </a:solidFill>
              <a:latin typeface="Arial"/>
            </a:endParaRPr>
          </a:p>
        </p:txBody>
      </p:sp>
      <p:sp>
        <p:nvSpPr>
          <p:cNvPr id="2041853969" name="Скругленный прямоугольник 11"/>
          <p:cNvSpPr/>
          <p:nvPr/>
        </p:nvSpPr>
        <p:spPr bwMode="auto">
          <a:xfrm flipH="0" flipV="0">
            <a:off x="432671" y="1376362"/>
            <a:ext cx="7103190" cy="5104371"/>
          </a:xfrm>
          <a:prstGeom prst="roundRect">
            <a:avLst>
              <a:gd name="adj" fmla="val 2876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080000" rIns="180000" bIns="180000" rtlCol="0" anchor="t"/>
          <a:lstStyle/>
          <a:p>
            <a:pPr>
              <a:spcAft>
                <a:spcPts val="599"/>
              </a:spcAft>
              <a:defRPr/>
            </a:pPr>
            <a:r>
              <a:rPr lang="ru-RU" b="1">
                <a:solidFill>
                  <a:schemeClr val="tx1"/>
                </a:solidFill>
                <a:latin typeface="Arial"/>
              </a:rPr>
              <a:t>3. Эпизодическая задача — это задача…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а) в которой обязательно γ &lt; 1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б) с естественным концом и терминальным состоянием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в) в которой агент действует один раз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г) в которой вознаграждение приходит только в самом конце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 b="1">
                <a:solidFill>
                  <a:schemeClr val="tx1"/>
                </a:solidFill>
                <a:latin typeface="Arial"/>
              </a:rPr>
              <a:t>4. Что агент максимизирует?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а) вознаграждение текущего шага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б) число шагов эпизода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в) доход — сумму будущих вознаграждений с дисконтированием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г) среднее вознаграждение первых двух шагов</a:t>
            </a:r>
            <a:endParaRPr>
              <a:solidFill>
                <a:schemeClr val="tx1"/>
              </a:solidFill>
              <a:latin typeface="Arial"/>
            </a:endParaRPr>
          </a:p>
        </p:txBody>
      </p:sp>
      <p:pic>
        <p:nvPicPr>
          <p:cNvPr id="835871308" name="Рисунок 12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519513" y="2171679"/>
            <a:ext cx="3677961" cy="3918851"/>
          </a:xfrm>
          <a:prstGeom prst="rect">
            <a:avLst/>
          </a:prstGeom>
        </p:spPr>
      </p:pic>
      <p:pic>
        <p:nvPicPr>
          <p:cNvPr id="1917872819" name="Рисунок 10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46616" y="1541559"/>
            <a:ext cx="844034" cy="647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0879482" name="Заголовок 1"/>
          <p:cNvSpPr>
            <a:spLocks noGrp="1"/>
          </p:cNvSpPr>
          <p:nvPr>
            <p:ph type="title"/>
          </p:nvPr>
        </p:nvSpPr>
        <p:spPr bwMode="auto">
          <a:xfrm>
            <a:off x="433492" y="423755"/>
            <a:ext cx="9616925" cy="369332"/>
          </a:xfrm>
        </p:spPr>
        <p:txBody>
          <a:bodyPr/>
          <a:lstStyle/>
          <a:p>
            <a:pPr>
              <a:defRPr/>
            </a:pPr>
            <a:r>
              <a:rPr lang="ru-RU"/>
              <a:t>РК №1 (вариант А). Вопросы 5–6</a:t>
            </a:r>
            <a:endParaRPr/>
          </a:p>
        </p:txBody>
      </p:sp>
      <p:sp>
        <p:nvSpPr>
          <p:cNvPr id="573484724" name="Прямоугольник 3"/>
          <p:cNvSpPr/>
          <p:nvPr/>
        </p:nvSpPr>
        <p:spPr bwMode="auto">
          <a:xfrm>
            <a:off x="4760694" y="3588206"/>
            <a:ext cx="18473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endParaRPr lang="ru-RU" sz="800" b="1">
              <a:solidFill>
                <a:srgbClr val="0038FF"/>
              </a:solidFill>
              <a:latin typeface="Arial"/>
            </a:endParaRPr>
          </a:p>
        </p:txBody>
      </p:sp>
      <p:sp>
        <p:nvSpPr>
          <p:cNvPr id="1549695152" name="Скругленный прямоугольник 11"/>
          <p:cNvSpPr/>
          <p:nvPr/>
        </p:nvSpPr>
        <p:spPr bwMode="auto">
          <a:xfrm flipH="0" flipV="0">
            <a:off x="432671" y="1376362"/>
            <a:ext cx="7103190" cy="5039004"/>
          </a:xfrm>
          <a:prstGeom prst="roundRect">
            <a:avLst>
              <a:gd name="adj" fmla="val 2876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080000" rIns="180000" bIns="180000" rtlCol="0" anchor="t"/>
          <a:lstStyle/>
          <a:p>
            <a:pPr>
              <a:spcAft>
                <a:spcPts val="599"/>
              </a:spcAft>
              <a:defRPr/>
            </a:pPr>
            <a:r>
              <a:rPr lang="ru-RU" b="1">
                <a:solidFill>
                  <a:schemeClr val="tx1"/>
                </a:solidFill>
                <a:latin typeface="Arial"/>
              </a:rPr>
              <a:t>5. При γ = 0,9 эффективный горизонт — примерно 10 шагов. Что это значит?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а) агент учитывает примерно 10 шагов вперёд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б) эпизод длится не больше 10 шагов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в) после 10 шагов доход обнуляется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г) агент делает 10 шагов до первого вознаграждения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 b="1">
                <a:solidFill>
                  <a:schemeClr val="tx1"/>
                </a:solidFill>
                <a:latin typeface="Arial"/>
              </a:rPr>
              <a:t>6. Где допустимо γ = 1?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а) в непрерывной задаче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б) в эпизодической задаче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в) в любой задаче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г) нигде</a:t>
            </a:r>
            <a:endParaRPr>
              <a:solidFill>
                <a:schemeClr val="tx1"/>
              </a:solidFill>
              <a:latin typeface="Arial"/>
            </a:endParaRPr>
          </a:p>
        </p:txBody>
      </p:sp>
      <p:pic>
        <p:nvPicPr>
          <p:cNvPr id="969708143" name="Рисунок 12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519513" y="2171679"/>
            <a:ext cx="3677961" cy="3918851"/>
          </a:xfrm>
          <a:prstGeom prst="rect">
            <a:avLst/>
          </a:prstGeom>
        </p:spPr>
      </p:pic>
      <p:pic>
        <p:nvPicPr>
          <p:cNvPr id="1951502549" name="Рисунок 10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46616" y="1541559"/>
            <a:ext cx="844034" cy="647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7610664" name="Заголовок 1"/>
          <p:cNvSpPr>
            <a:spLocks noGrp="1"/>
          </p:cNvSpPr>
          <p:nvPr>
            <p:ph type="title"/>
          </p:nvPr>
        </p:nvSpPr>
        <p:spPr bwMode="auto">
          <a:xfrm>
            <a:off x="433492" y="423755"/>
            <a:ext cx="9616925" cy="369332"/>
          </a:xfrm>
        </p:spPr>
        <p:txBody>
          <a:bodyPr/>
          <a:lstStyle/>
          <a:p>
            <a:pPr>
              <a:defRPr/>
            </a:pPr>
            <a:r>
              <a:rPr lang="ru-RU"/>
              <a:t>РК №1 (вариант А). Вопросы 7–8</a:t>
            </a:r>
            <a:endParaRPr/>
          </a:p>
        </p:txBody>
      </p:sp>
      <p:sp>
        <p:nvSpPr>
          <p:cNvPr id="1532583620" name="Прямоугольник 3"/>
          <p:cNvSpPr/>
          <p:nvPr/>
        </p:nvSpPr>
        <p:spPr bwMode="auto">
          <a:xfrm>
            <a:off x="4760694" y="3588206"/>
            <a:ext cx="18473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endParaRPr lang="ru-RU" sz="800" b="1">
              <a:solidFill>
                <a:srgbClr val="0038FF"/>
              </a:solidFill>
              <a:latin typeface="Arial"/>
            </a:endParaRPr>
          </a:p>
        </p:txBody>
      </p:sp>
      <p:sp>
        <p:nvSpPr>
          <p:cNvPr id="360888266" name="Скругленный прямоугольник 11"/>
          <p:cNvSpPr/>
          <p:nvPr/>
        </p:nvSpPr>
        <p:spPr bwMode="auto">
          <a:xfrm>
            <a:off x="432672" y="1376363"/>
            <a:ext cx="7103191" cy="4468812"/>
          </a:xfrm>
          <a:prstGeom prst="roundRect">
            <a:avLst>
              <a:gd name="adj" fmla="val 2876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080000" rIns="180000" bIns="180000" rtlCol="0" anchor="t"/>
          <a:lstStyle/>
          <a:p>
            <a:pPr>
              <a:spcAft>
                <a:spcPts val="599"/>
              </a:spcAft>
              <a:defRPr/>
            </a:pPr>
            <a:r>
              <a:rPr lang="ru-RU" b="1">
                <a:solidFill>
                  <a:schemeClr val="tx1"/>
                </a:solidFill>
                <a:latin typeface="Arial"/>
              </a:rPr>
              <a:t>7. Агент получил вознаграждения 1, 1, 1, γ = 0,9. Чему равен доход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1800" b="1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b"/>
                            </m:rPr>
                            <a:rPr lang="ru-RU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b"/>
                            </m:rPr>
                            <a:rPr lang="ru-RU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 b="1">
                <a:solidFill>
                  <a:schemeClr val="tx1"/>
                </a:solidFill>
                <a:latin typeface="Arial"/>
              </a:rPr>
              <a:t>?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а) 1,9     б) 2,71     в) 2,9     г) 3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 b="1">
                <a:solidFill>
                  <a:schemeClr val="tx1"/>
                </a:solidFill>
                <a:latin typeface="Arial"/>
              </a:rPr>
              <a:t>8. Чем обучение с подкреплением отличается от обучения с учителем?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а) ничем, это одно и то же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б) в RL нет готовых правильных ответов — только оценка действий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в) в RL всегда больше данных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г) в RL машина не учится вообще</a:t>
            </a:r>
            <a:endParaRPr>
              <a:solidFill>
                <a:schemeClr val="tx1"/>
              </a:solidFill>
              <a:latin typeface="Arial"/>
            </a:endParaRPr>
          </a:p>
        </p:txBody>
      </p:sp>
      <p:pic>
        <p:nvPicPr>
          <p:cNvPr id="840181551" name="Рисунок 12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519513" y="2171679"/>
            <a:ext cx="3677961" cy="3918851"/>
          </a:xfrm>
          <a:prstGeom prst="rect">
            <a:avLst/>
          </a:prstGeom>
        </p:spPr>
      </p:pic>
      <p:pic>
        <p:nvPicPr>
          <p:cNvPr id="551858373" name="Рисунок 10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46616" y="1541559"/>
            <a:ext cx="844034" cy="647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3587011" name="Заголовок 1"/>
          <p:cNvSpPr>
            <a:spLocks noGrp="1"/>
          </p:cNvSpPr>
          <p:nvPr>
            <p:ph type="title"/>
          </p:nvPr>
        </p:nvSpPr>
        <p:spPr bwMode="auto">
          <a:xfrm>
            <a:off x="433492" y="423755"/>
            <a:ext cx="9616925" cy="369332"/>
          </a:xfrm>
        </p:spPr>
        <p:txBody>
          <a:bodyPr/>
          <a:lstStyle/>
          <a:p>
            <a:pPr>
              <a:defRPr/>
            </a:pPr>
            <a:r>
              <a:rPr lang="ru-RU"/>
              <a:t>РК №1 (вариант А). Вопросы 9–10</a:t>
            </a:r>
            <a:endParaRPr/>
          </a:p>
        </p:txBody>
      </p:sp>
      <p:sp>
        <p:nvSpPr>
          <p:cNvPr id="2061209024" name="Прямоугольник 3"/>
          <p:cNvSpPr/>
          <p:nvPr/>
        </p:nvSpPr>
        <p:spPr bwMode="auto">
          <a:xfrm>
            <a:off x="4760694" y="3588206"/>
            <a:ext cx="18473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endParaRPr lang="ru-RU" sz="800" b="1">
              <a:solidFill>
                <a:srgbClr val="0038FF"/>
              </a:solidFill>
              <a:latin typeface="Arial"/>
            </a:endParaRPr>
          </a:p>
        </p:txBody>
      </p:sp>
      <p:sp>
        <p:nvSpPr>
          <p:cNvPr id="256009239" name="Скругленный прямоугольник 11"/>
          <p:cNvSpPr/>
          <p:nvPr/>
        </p:nvSpPr>
        <p:spPr bwMode="auto">
          <a:xfrm flipH="0" flipV="0">
            <a:off x="432671" y="1376362"/>
            <a:ext cx="7103190" cy="5029666"/>
          </a:xfrm>
          <a:prstGeom prst="roundRect">
            <a:avLst>
              <a:gd name="adj" fmla="val 2876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080000" rIns="180000" bIns="180000" rtlCol="0" anchor="t"/>
          <a:lstStyle/>
          <a:p>
            <a:pPr>
              <a:spcAft>
                <a:spcPts val="599"/>
              </a:spcAft>
              <a:defRPr/>
            </a:pPr>
            <a:r>
              <a:rPr lang="ru-RU" b="1">
                <a:solidFill>
                  <a:schemeClr val="tx1"/>
                </a:solidFill>
                <a:latin typeface="Arial"/>
              </a:rPr>
              <a:t>9. Какая задача НЕ решается методами обучения с подкреплением?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а) научить робота ходить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б) управлять охлаждением дата-центра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в) предсказать отток клиентов по историческим данным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 b="0">
                <a:solidFill>
                  <a:schemeClr val="tx1"/>
                </a:solidFill>
                <a:latin typeface="Arial"/>
              </a:rPr>
              <a:t>г) научить агента играть в игру со счётом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 b="1">
                <a:solidFill>
                  <a:schemeClr val="tx1"/>
                </a:solidFill>
                <a:latin typeface="Arial"/>
              </a:rPr>
              <a:t>10. Стратегия π — это…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а) список действий, выполненных за эпизод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б) правило выбора действий: состояние → действие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в) последовательность посещённых состояний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г) вознаграждение в терминальном состоянии</a:t>
            </a:r>
            <a:endParaRPr>
              <a:solidFill>
                <a:schemeClr val="tx1"/>
              </a:solidFill>
              <a:latin typeface="Arial"/>
            </a:endParaRPr>
          </a:p>
        </p:txBody>
      </p:sp>
      <p:pic>
        <p:nvPicPr>
          <p:cNvPr id="1481435961" name="Рисунок 12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519513" y="2171679"/>
            <a:ext cx="3677961" cy="3918851"/>
          </a:xfrm>
          <a:prstGeom prst="rect">
            <a:avLst/>
          </a:prstGeom>
        </p:spPr>
      </p:pic>
      <p:pic>
        <p:nvPicPr>
          <p:cNvPr id="589641524" name="Рисунок 10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46616" y="1541559"/>
            <a:ext cx="844034" cy="647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7628276" name="Заголовок 1"/>
          <p:cNvSpPr>
            <a:spLocks noGrp="1"/>
          </p:cNvSpPr>
          <p:nvPr>
            <p:ph type="title"/>
          </p:nvPr>
        </p:nvSpPr>
        <p:spPr bwMode="auto">
          <a:xfrm>
            <a:off x="433492" y="423755"/>
            <a:ext cx="9616925" cy="369332"/>
          </a:xfrm>
        </p:spPr>
        <p:txBody>
          <a:bodyPr/>
          <a:lstStyle/>
          <a:p>
            <a:pPr>
              <a:defRPr/>
            </a:pPr>
            <a:r>
              <a:rPr lang="ru-RU"/>
              <a:t>РК №1 (вариант А). Вопросы 11–12</a:t>
            </a:r>
            <a:endParaRPr/>
          </a:p>
        </p:txBody>
      </p:sp>
      <p:sp>
        <p:nvSpPr>
          <p:cNvPr id="1974844438" name="Прямоугольник 3"/>
          <p:cNvSpPr/>
          <p:nvPr/>
        </p:nvSpPr>
        <p:spPr bwMode="auto">
          <a:xfrm>
            <a:off x="4760694" y="3588206"/>
            <a:ext cx="18473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endParaRPr lang="ru-RU" sz="800" b="1">
              <a:solidFill>
                <a:srgbClr val="0038FF"/>
              </a:solidFill>
              <a:latin typeface="Arial"/>
            </a:endParaRPr>
          </a:p>
        </p:txBody>
      </p:sp>
      <p:sp>
        <p:nvSpPr>
          <p:cNvPr id="345013647" name="Скругленный прямоугольник 11"/>
          <p:cNvSpPr/>
          <p:nvPr/>
        </p:nvSpPr>
        <p:spPr bwMode="auto">
          <a:xfrm>
            <a:off x="432672" y="1376363"/>
            <a:ext cx="7103191" cy="4468812"/>
          </a:xfrm>
          <a:prstGeom prst="roundRect">
            <a:avLst>
              <a:gd name="adj" fmla="val 2876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080000" rIns="180000" bIns="180000" rtlCol="0" anchor="t"/>
          <a:lstStyle/>
          <a:p>
            <a:pPr>
              <a:spcAft>
                <a:spcPts val="599"/>
              </a:spcAft>
              <a:defRPr/>
            </a:pPr>
            <a:r>
              <a:rPr lang="ru-RU" b="1">
                <a:solidFill>
                  <a:schemeClr val="tx1"/>
                </a:solidFill>
                <a:latin typeface="Arial"/>
              </a:rPr>
              <a:t>11. Свой пример: назовите агента, состояние, действие и вознаграждение для любой задачи (работа, учёба, жизнь) и скажите, эпизодическая она или непрерывная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 b="1">
                <a:solidFill>
                  <a:schemeClr val="tx1"/>
                </a:solidFill>
                <a:latin typeface="Arial"/>
              </a:rPr>
              <a:t>12. Назовите три признака, по которым видно, что задача — для обучения с подкреплением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Если по одному из вопросов ответа нет — оставьте пустым и идите дальше, времени на всё 12 минут</a:t>
            </a:r>
            <a:endParaRPr>
              <a:solidFill>
                <a:schemeClr val="tx1"/>
              </a:solidFill>
              <a:latin typeface="Arial"/>
            </a:endParaRPr>
          </a:p>
        </p:txBody>
      </p:sp>
      <p:pic>
        <p:nvPicPr>
          <p:cNvPr id="1510609548" name="Рисунок 12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519513" y="2171679"/>
            <a:ext cx="3677961" cy="3918851"/>
          </a:xfrm>
          <a:prstGeom prst="rect">
            <a:avLst/>
          </a:prstGeom>
        </p:spPr>
      </p:pic>
      <p:pic>
        <p:nvPicPr>
          <p:cNvPr id="1581657479" name="Рисунок 10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46616" y="1541559"/>
            <a:ext cx="844034" cy="647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9089684" name="Прямоугольник: скругленные углы 5"/>
          <p:cNvSpPr/>
          <p:nvPr/>
        </p:nvSpPr>
        <p:spPr bwMode="auto">
          <a:xfrm>
            <a:off x="433466" y="1509297"/>
            <a:ext cx="11325858" cy="4660009"/>
          </a:xfrm>
          <a:prstGeom prst="roundRect">
            <a:avLst>
              <a:gd name="adj" fmla="val 3253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107983" rIns="143978" bIns="143978" rtlCol="0" anchor="t"/>
          <a:lstStyle/>
          <a:p>
            <a:pPr>
              <a:spcAft>
                <a:spcPts val="599"/>
              </a:spcAft>
              <a:defRPr/>
            </a:pPr>
            <a:r>
              <a:rPr sz="2400" b="1">
                <a:solidFill>
                  <a:schemeClr val="bg2"/>
                </a:solidFill>
                <a:latin typeface="Arial"/>
              </a:rPr>
              <a:t>Сегодня мы:</a:t>
            </a:r>
            <a:endParaRPr sz="2400" b="1">
              <a:solidFill>
                <a:schemeClr val="bg2"/>
              </a:solidFill>
              <a:latin typeface="Arial"/>
            </a:endParaRPr>
          </a:p>
          <a:p>
            <a:pPr marL="233287" indent="-233287" defTabSz="914309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узнали, где применимо обучение </a:t>
            </a:r>
            <a:br>
              <a:rPr lang="ru-RU" sz="2200">
                <a:solidFill>
                  <a:schemeClr val="tx1"/>
                </a:solidFill>
                <a:latin typeface="Arial"/>
              </a:rPr>
            </a:br>
            <a:r>
              <a:rPr lang="ru-RU" sz="2200">
                <a:solidFill>
                  <a:schemeClr val="tx1"/>
                </a:solidFill>
                <a:latin typeface="Arial"/>
              </a:rPr>
              <a:t>с подкреплением</a:t>
            </a:r>
            <a:endParaRPr sz="2200"/>
          </a:p>
          <a:p>
            <a:pPr marL="233287" indent="-233287" defTabSz="914309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разобрали лекцию 2 и закрыли дырку </a:t>
            </a:r>
            <a:br>
              <a:rPr lang="ru-RU" sz="2200">
                <a:solidFill>
                  <a:schemeClr val="tx1"/>
                </a:solidFill>
                <a:latin typeface="Arial"/>
              </a:rPr>
            </a:br>
            <a:r>
              <a:rPr lang="ru-RU" sz="2200">
                <a:solidFill>
                  <a:schemeClr val="tx1"/>
                </a:solidFill>
                <a:latin typeface="Arial"/>
              </a:rPr>
              <a:t>по лекции 1</a:t>
            </a:r>
            <a:endParaRPr sz="2200"/>
          </a:p>
          <a:p>
            <a:pPr marL="233287" indent="-233287" defTabSz="914309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научились считать доход и выбирать </a:t>
            </a:r>
            <a:br>
              <a:rPr lang="ru-RU" sz="2200">
                <a:solidFill>
                  <a:schemeClr val="tx1"/>
                </a:solidFill>
                <a:latin typeface="Arial"/>
              </a:rPr>
            </a:br>
            <a:r>
              <a:rPr lang="ru-RU" sz="2200">
                <a:solidFill>
                  <a:schemeClr val="tx1"/>
                </a:solidFill>
                <a:latin typeface="Arial"/>
              </a:rPr>
              <a:t>действие</a:t>
            </a:r>
            <a:endParaRPr sz="2200"/>
          </a:p>
          <a:p>
            <a:pPr marL="233287" indent="-233287" defTabSz="914309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листки с домашним заданием принести </a:t>
            </a:r>
            <a:br>
              <a:rPr lang="ru-RU" sz="2200">
                <a:solidFill>
                  <a:schemeClr val="tx1"/>
                </a:solidFill>
                <a:latin typeface="Arial"/>
              </a:rPr>
            </a:br>
            <a:r>
              <a:rPr lang="ru-RU" sz="2200">
                <a:solidFill>
                  <a:schemeClr val="tx1"/>
                </a:solidFill>
                <a:latin typeface="Arial"/>
              </a:rPr>
              <a:t>на лекцию 25.09</a:t>
            </a:r>
            <a:endParaRPr sz="2200"/>
          </a:p>
        </p:txBody>
      </p:sp>
      <p:sp>
        <p:nvSpPr>
          <p:cNvPr id="107078988" name="Заголовок 1"/>
          <p:cNvSpPr>
            <a:spLocks noGrp="1"/>
          </p:cNvSpPr>
          <p:nvPr>
            <p:ph type="title"/>
          </p:nvPr>
        </p:nvSpPr>
        <p:spPr bwMode="auto">
          <a:xfrm>
            <a:off x="433492" y="423755"/>
            <a:ext cx="9614766" cy="366064"/>
          </a:xfrm>
        </p:spPr>
        <p:txBody>
          <a:bodyPr/>
          <a:lstStyle/>
          <a:p>
            <a:pPr>
              <a:defRPr/>
            </a:pPr>
            <a:r>
              <a:rPr lang="ru-RU"/>
              <a:t>Итоги занятия</a:t>
            </a:r>
            <a:endParaRPr/>
          </a:p>
        </p:txBody>
      </p:sp>
      <p:pic>
        <p:nvPicPr>
          <p:cNvPr id="1431116510" name="Рисунок 4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117076" y="1211578"/>
            <a:ext cx="5641457" cy="49577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4408612" name="Заголовок 1"/>
          <p:cNvSpPr>
            <a:spLocks noGrp="1"/>
          </p:cNvSpPr>
          <p:nvPr>
            <p:ph type="title"/>
          </p:nvPr>
        </p:nvSpPr>
        <p:spPr bwMode="auto">
          <a:xfrm>
            <a:off x="433492" y="423755"/>
            <a:ext cx="9616925" cy="366064"/>
          </a:xfrm>
        </p:spPr>
        <p:txBody>
          <a:bodyPr/>
          <a:lstStyle/>
          <a:p>
            <a:pPr>
              <a:defRPr/>
            </a:pPr>
            <a:r>
              <a:rPr lang="ru-RU"/>
              <a:t>Рефлексия</a:t>
            </a:r>
            <a:endParaRPr/>
          </a:p>
        </p:txBody>
      </p:sp>
      <p:sp>
        <p:nvSpPr>
          <p:cNvPr id="893547189" name="Прямоугольник 3"/>
          <p:cNvSpPr/>
          <p:nvPr/>
        </p:nvSpPr>
        <p:spPr bwMode="auto">
          <a:xfrm>
            <a:off x="4760694" y="3588205"/>
            <a:ext cx="183636" cy="2441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endParaRPr lang="ru-RU" sz="1000" b="1">
              <a:solidFill>
                <a:srgbClr val="0038FF"/>
              </a:solidFill>
              <a:latin typeface="Arial"/>
            </a:endParaRPr>
          </a:p>
        </p:txBody>
      </p:sp>
      <p:sp>
        <p:nvSpPr>
          <p:cNvPr id="1607289593" name="Скругленный прямоугольник 11"/>
          <p:cNvSpPr/>
          <p:nvPr/>
        </p:nvSpPr>
        <p:spPr bwMode="auto">
          <a:xfrm>
            <a:off x="432672" y="1388962"/>
            <a:ext cx="7198889" cy="3719779"/>
          </a:xfrm>
          <a:prstGeom prst="roundRect">
            <a:avLst>
              <a:gd name="adj" fmla="val 3193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080000" rIns="180000" bIns="180000" rtlCol="0" anchor="t"/>
          <a:lstStyle/>
          <a:p>
            <a:pPr marL="285750" indent="-285750"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en-US" sz="2200">
                <a:solidFill>
                  <a:schemeClr val="tx1"/>
                </a:solidFill>
                <a:latin typeface="Arial"/>
              </a:rPr>
              <a:t>Что узнали нового?</a:t>
            </a:r>
            <a:endParaRPr sz="2200">
              <a:solidFill>
                <a:schemeClr val="tx1"/>
              </a:solidFill>
              <a:latin typeface="Arial"/>
            </a:endParaRPr>
          </a:p>
          <a:p>
            <a:pPr marL="285750" indent="-285750"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en-US" sz="2200">
                <a:solidFill>
                  <a:schemeClr val="tx1"/>
                </a:solidFill>
                <a:latin typeface="Arial"/>
              </a:rPr>
              <a:t>Что изменилось? Раньше я думал(а), что… А теперь…</a:t>
            </a:r>
            <a:endParaRPr sz="2200">
              <a:solidFill>
                <a:schemeClr val="tx1"/>
              </a:solidFill>
              <a:latin typeface="Arial"/>
            </a:endParaRPr>
          </a:p>
          <a:p>
            <a:pPr marL="285750" indent="-285750"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en-US" sz="2200">
                <a:solidFill>
                  <a:schemeClr val="tx1"/>
                </a:solidFill>
                <a:latin typeface="Arial"/>
              </a:rPr>
              <a:t>Какие вопросы остались?</a:t>
            </a:r>
            <a:endParaRPr sz="2200">
              <a:solidFill>
                <a:schemeClr val="tx1"/>
              </a:solidFill>
              <a:latin typeface="Arial"/>
            </a:endParaRPr>
          </a:p>
        </p:txBody>
      </p:sp>
      <p:pic>
        <p:nvPicPr>
          <p:cNvPr id="2030813953" name="Рисунок 12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519513" y="2171679"/>
            <a:ext cx="3677961" cy="3918851"/>
          </a:xfrm>
          <a:prstGeom prst="rect">
            <a:avLst/>
          </a:prstGeom>
        </p:spPr>
      </p:pic>
      <p:pic>
        <p:nvPicPr>
          <p:cNvPr id="1762925816" name="Рисунок 10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32672" y="1523779"/>
            <a:ext cx="844034" cy="647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Основной шаблон Т1">
  <a:themeElements>
    <a:clrScheme name="Т1 Гайдлайн">
      <a:dk1>
        <a:srgbClr val="03182B"/>
      </a:dk1>
      <a:lt1>
        <a:srgbClr val="FFFFFF"/>
      </a:lt1>
      <a:dk2>
        <a:srgbClr val="00ADEB"/>
      </a:dk2>
      <a:lt2>
        <a:srgbClr val="00ADEB"/>
      </a:lt2>
      <a:accent1>
        <a:srgbClr val="017FAD"/>
      </a:accent1>
      <a:accent2>
        <a:srgbClr val="0059AA"/>
      </a:accent2>
      <a:accent3>
        <a:srgbClr val="C3C3C3"/>
      </a:accent3>
      <a:accent4>
        <a:srgbClr val="151515"/>
      </a:accent4>
      <a:accent5>
        <a:srgbClr val="ECF2F9"/>
      </a:accent5>
      <a:accent6>
        <a:srgbClr val="C7F1FF"/>
      </a:accent6>
      <a:hlink>
        <a:srgbClr val="00ADEB"/>
      </a:hlink>
      <a:folHlink>
        <a:srgbClr val="005AAA"/>
      </a:folHlink>
    </a:clrScheme>
    <a:fontScheme name="Другая 4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2">
            <a:lumMod val="20000"/>
            <a:lumOff val="80000"/>
            <a:alpha val="70000"/>
          </a:schemeClr>
        </a:solidFill>
        <a:ln>
          <a:noFill/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prstGeom prst="rect">
          <a:avLst/>
        </a:prstGeom>
        <a:ln w="15875">
          <a:solidFill>
            <a:schemeClr val="bg2"/>
          </a:solidFill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prstGeom prst="rect">
          <a:avLst/>
        </a:prstGeom>
        <a:noFill/>
      </a:spPr>
      <a:bodyPr/>
      <a:lstStyle/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DocSecurity>0</DocSecurity>
  <PresentationFormat>On-screen Show (4:3)</PresentationFormat>
  <Paragraphs>0</Paragraphs>
  <Slides>32</Slides>
  <Notes>32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Таблица</dc:title>
  <dc:subject/>
  <dc:creator>Приходько Антон</dc:creator>
  <cp:keywords/>
  <dc:description/>
  <dc:identifier/>
  <dc:language/>
  <cp:lastModifiedBy/>
  <cp:revision>188</cp:revision>
  <dcterms:created xsi:type="dcterms:W3CDTF">2023-02-20T15:32:58Z</dcterms:created>
  <dcterms:modified xsi:type="dcterms:W3CDTF">2026-09-20T21:18:51Z</dcterms:modified>
  <cp:category/>
  <cp:contentStatus/>
  <cp:version/>
</cp:coreProperties>
</file>