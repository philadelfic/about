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910140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7692123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41909712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05318098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7329116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2171546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189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683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794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C5230E-183E-F6C3-0200-C22D878FC4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059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363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414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22C0CA-0B1D-2238-9AA0-D0A73FCB55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513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56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53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EAD385-F3E1-342B-8C50-B87A7144DB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504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2316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417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BAB206-6011-739E-77C7-D825B7565B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167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8813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475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CA9F6-777A-2C85-96A8-21879A0984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228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980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341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E59FFC-7AE7-1DD1-1400-349804BEDA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215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324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854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129621-2BAF-CC66-14FE-37EB45DA3E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00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889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160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12AAC6-8B1E-0F33-4B71-66A6916567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006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91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90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A0C663-0AD2-B2E5-3DAD-EF7F97B60C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72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641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131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4DACA9-CE55-E6AA-9B87-D04F582CB4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2417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873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483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CF5A23-82D7-8BEC-6AF5-CE59530FBC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105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3361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50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22D0-757F-A519-A4EE-8E6531A63B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081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24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42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D01846-5A0F-99B7-AAB6-E5810A0E22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731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5119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375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08F71-1313-3949-4493-1EBB8F4348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673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9911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592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4D432F-044E-6E7D-2ACD-2354850282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34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458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468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5E3BC-85BE-B226-A4C8-44886030EB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287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362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219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37A48B-8EAD-5D1F-D5E7-01A8E4A47C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291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9448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7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46B351-4E6F-C2E4-5E4D-F3C1E3B570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742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6464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995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B30EE-2B87-8683-4E18-1FADB08369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2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404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613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367FA9-5530-5DEB-B04B-C846EEBDBD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5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9730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173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CF2BD7-A5D0-C7F7-13B9-9C40EEC5F7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058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518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96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B8011E-9F73-DBB3-AE6F-E6580DD80D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558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22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923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005BB1-F0D4-89F3-F144-E84339D6DF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612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5410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984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68605B-F8E4-505A-E064-D66B136B54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078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5572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19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0687D3-D281-C3CC-ABB7-C50C32EA15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67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674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79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420A0E-36AC-3733-FF1D-8D066DA57C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32080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1998547094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161512133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1622228262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244186432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09742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431593518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15865575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454805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85900370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4402181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92661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155367890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1937268669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7394908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959701285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60273014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61054986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35976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511519437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8112149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51117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644805944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24339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78417125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418746881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61883231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272932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710914141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2782086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874259394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20596907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309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745078225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03620572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77595475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73417412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9062721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99211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3013741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5667089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8611696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17236251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0310543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9970784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061360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68127377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6721712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446598332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04582571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12114901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6271423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9757059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176244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14986566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13754106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1443641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992847865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135491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86207637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4047317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956703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13025661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1338187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018770011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50236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94341547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813781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3438876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603407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7191881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00642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933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81506489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51484088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95454316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2073668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19118107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46981363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557238622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3127580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093341663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52035681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081480748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66358742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28735225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645125058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544832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1379466999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229864288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240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40961656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31799" y="6356351"/>
            <a:ext cx="2743200" cy="365124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72D850-F836-2C18-A1F0-80B65E54C6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665917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25483542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6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8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9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674591" name="Текст 2"/>
          <p:cNvSpPr>
            <a:spLocks noGrp="1"/>
          </p:cNvSpPr>
          <p:nvPr>
            <p:ph type="body" sz="quarter" idx="10"/>
          </p:nvPr>
        </p:nvSpPr>
        <p:spPr bwMode="auto">
          <a:xfrm>
            <a:off x="10525143" y="482012"/>
            <a:ext cx="1282403" cy="30777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82797848" name="TextBox 7"/>
          <p:cNvSpPr txBox="1"/>
          <p:nvPr/>
        </p:nvSpPr>
        <p:spPr bwMode="auto">
          <a:xfrm>
            <a:off x="393192" y="2350008"/>
            <a:ext cx="8485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>
                <a:solidFill>
                  <a:schemeClr val="bg2"/>
                </a:solidFill>
              </a:rPr>
              <a:t>Лекция 3</a:t>
            </a:r>
            <a:endParaRPr lang="ru-RU" sz="3600">
              <a:solidFill>
                <a:schemeClr val="bg2"/>
              </a:solidFill>
            </a:endParaRPr>
          </a:p>
        </p:txBody>
      </p:sp>
      <p:sp>
        <p:nvSpPr>
          <p:cNvPr id="35575475" name="Заголовок 10"/>
          <p:cNvSpPr>
            <a:spLocks noGrp="1"/>
          </p:cNvSpPr>
          <p:nvPr>
            <p:ph type="title"/>
          </p:nvPr>
        </p:nvSpPr>
        <p:spPr bwMode="auto">
          <a:xfrm>
            <a:off x="393192" y="393192"/>
            <a:ext cx="8869680" cy="1682496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ru-RU" sz="3000"/>
              <a:t>Марковский процесс принятия решений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42665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Материалы курса</a:t>
            </a:r>
            <a:endParaRPr/>
          </a:p>
        </p:txBody>
      </p:sp>
      <p:sp>
        <p:nvSpPr>
          <p:cNvPr id="1060875286" name="Прямоугольник: скругленные углы 2"/>
          <p:cNvSpPr/>
          <p:nvPr/>
        </p:nvSpPr>
        <p:spPr bwMode="auto">
          <a:xfrm>
            <a:off x="429768" y="5103609"/>
            <a:ext cx="11362895" cy="1323231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0">
                <a:latin typeface="Arial"/>
              </a:rPr>
              <a:t>Материалы курса, задания и </a:t>
            </a:r>
            <a:r>
              <a:rPr lang="ru-RU" sz="2400" b="0">
                <a:latin typeface="Arial"/>
              </a:rPr>
              <a:t>полезная информация — по QR-коду</a:t>
            </a:r>
            <a:endParaRPr lang="ru-RU" sz="2600" b="1">
              <a:latin typeface="Arial"/>
            </a:endParaRPr>
          </a:p>
          <a:p>
            <a:pPr>
              <a:spcAft>
                <a:spcPts val="299"/>
              </a:spcAft>
              <a:defRPr/>
            </a:pPr>
            <a:r>
              <a:rPr lang="ru-RU" sz="2400" b="1">
                <a:latin typeface="Arial"/>
              </a:rPr>
              <a:t>код:</a:t>
            </a:r>
            <a:r>
              <a:rPr lang="ru-RU" sz="24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4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>
                <a:latin typeface="Arial"/>
              </a:rPr>
              <a:t>i_l0ve_rl</a:t>
            </a:r>
            <a:r>
              <a:rPr lang="ru-RU" sz="2400" b="1">
                <a:latin typeface="Arial"/>
              </a:rPr>
              <a:t>    </a:t>
            </a:r>
            <a:r>
              <a:rPr lang="en-US" sz="2400" b="1">
                <a:latin typeface="Arial"/>
              </a:rPr>
              <a:t> (l0ve </a:t>
            </a:r>
            <a:r>
              <a:rPr lang="ru-RU" sz="2400" b="1">
                <a:latin typeface="Arial"/>
              </a:rPr>
              <a:t>через ноль</a:t>
            </a:r>
            <a:r>
              <a:rPr lang="en-US" sz="2400" b="1">
                <a:latin typeface="Arial"/>
              </a:rPr>
              <a:t>)</a:t>
            </a:r>
            <a:endParaRPr lang="ru-RU" sz="1400" b="1">
              <a:latin typeface="Arial"/>
            </a:endParaRPr>
          </a:p>
        </p:txBody>
      </p:sp>
      <p:pic>
        <p:nvPicPr>
          <p:cNvPr id="97349535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1906" y="5243682"/>
            <a:ext cx="468000" cy="468000"/>
          </a:xfrm>
          <a:prstGeom prst="rect">
            <a:avLst/>
          </a:prstGeom>
        </p:spPr>
      </p:pic>
      <p:pic>
        <p:nvPicPr>
          <p:cNvPr id="650188781" name="Picture 2081775820" descr="qr_porta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116866" y="972968"/>
            <a:ext cx="3988337" cy="3988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36649" name="Прямоугольник: скругленные углы 5"/>
          <p:cNvSpPr/>
          <p:nvPr/>
        </p:nvSpPr>
        <p:spPr bwMode="auto">
          <a:xfrm>
            <a:off x="7549650" y="1849196"/>
            <a:ext cx="4212000" cy="3888000"/>
          </a:xfrm>
          <a:prstGeom prst="roundRect">
            <a:avLst>
              <a:gd name="adj" fmla="val 22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56" tIns="0" rIns="143978" bIns="143978" rtlCol="0" anchor="t"/>
          <a:lstStyle/>
          <a:p>
            <a:pPr marL="261824" indent="-261824">
              <a:spcAft>
                <a:spcPts val="599"/>
              </a:spcAft>
              <a:buAutoNum type="arabicPeriod"/>
              <a:defRPr/>
            </a:pPr>
            <a:endParaRPr sz="1850"/>
          </a:p>
        </p:txBody>
      </p:sp>
      <p:sp>
        <p:nvSpPr>
          <p:cNvPr id="512829626" name="Прямоугольник: скругленные углы 5"/>
          <p:cNvSpPr/>
          <p:nvPr/>
        </p:nvSpPr>
        <p:spPr bwMode="auto">
          <a:xfrm>
            <a:off x="441191" y="1849196"/>
            <a:ext cx="6912000" cy="3888000"/>
          </a:xfrm>
          <a:prstGeom prst="roundRect">
            <a:avLst>
              <a:gd name="adj" fmla="val 2670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3" indent="-261823">
              <a:lnSpc>
                <a:spcPct val="100000"/>
              </a:lnSpc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Ценность состояния и действия — сколько стоит «здесь» и «этот шаг»</a:t>
            </a:r>
            <a:endParaRPr sz="2400">
              <a:solidFill>
                <a:schemeClr val="tx1"/>
              </a:solidFill>
              <a:latin typeface="Arial"/>
            </a:endParaRPr>
          </a:p>
          <a:p>
            <a:pPr marL="261823" indent="-261823">
              <a:lnSpc>
                <a:spcPct val="100000"/>
              </a:lnSpc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Модель мира — как описать, что будет после действия</a:t>
            </a:r>
            <a:endParaRPr sz="2400">
              <a:solidFill>
                <a:schemeClr val="tx1"/>
              </a:solidFill>
              <a:latin typeface="Arial"/>
            </a:endParaRPr>
          </a:p>
          <a:p>
            <a:pPr marL="261823" indent="-261823">
              <a:lnSpc>
                <a:spcPct val="100000"/>
              </a:lnSpc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Ценность во времени — типы задач, обесценивание и уравнения Беллмана</a:t>
            </a:r>
            <a:endParaRPr sz="2400">
              <a:solidFill>
                <a:schemeClr val="tx1"/>
              </a:solidFill>
              <a:latin typeface="Arial"/>
            </a:endParaRPr>
          </a:p>
          <a:p>
            <a:pPr marL="261823" indent="-261823">
              <a:lnSpc>
                <a:spcPct val="100000"/>
              </a:lnSpc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Итоги — разбор и главное</a:t>
            </a:r>
            <a:endParaRPr sz="2400">
              <a:solidFill>
                <a:schemeClr val="tx1"/>
              </a:solidFill>
              <a:latin typeface="Arial"/>
            </a:endParaRPr>
          </a:p>
        </p:txBody>
      </p:sp>
      <p:sp>
        <p:nvSpPr>
          <p:cNvPr id="160301432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1064" cy="585575"/>
          </a:xfrm>
        </p:spPr>
        <p:txBody>
          <a:bodyPr/>
          <a:lstStyle/>
          <a:p>
            <a:pPr>
              <a:defRPr/>
            </a:pPr>
            <a:r>
              <a:rPr lang="ru-RU" sz="4800"/>
              <a:t>Блоки лекции</a:t>
            </a:r>
            <a:endParaRPr sz="4800"/>
          </a:p>
        </p:txBody>
      </p:sp>
      <p:pic>
        <p:nvPicPr>
          <p:cNvPr id="1709161871" name="Рисунок 7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45054" y="2010451"/>
            <a:ext cx="3542815" cy="372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603435" name="Прямоугольник: скругленные углы 5"/>
          <p:cNvSpPr/>
          <p:nvPr/>
        </p:nvSpPr>
        <p:spPr bwMode="auto">
          <a:xfrm>
            <a:off x="4664175" y="1376361"/>
            <a:ext cx="7092000" cy="42751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Узнать, чего не хватает, чтобы посчитать ценность: вероятности того, что будет после действия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Изучить, почему достаточно знать только текущее состояние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Научиться связывать ценность сейчас с ценностью на следующем шаге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Познакомиться с тем, как выглядит лучшая стратегия</a:t>
            </a:r>
            <a:endParaRPr sz="2600">
              <a:solidFill>
                <a:schemeClr val="tx1"/>
              </a:solidFill>
              <a:latin typeface="Arial"/>
            </a:endParaRPr>
          </a:p>
        </p:txBody>
      </p:sp>
      <p:sp>
        <p:nvSpPr>
          <p:cNvPr id="38173975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1064" cy="585575"/>
          </a:xfrm>
        </p:spPr>
        <p:txBody>
          <a:bodyPr/>
          <a:lstStyle/>
          <a:p>
            <a:pPr>
              <a:defRPr/>
            </a:pPr>
            <a:r>
              <a:rPr lang="ru-RU" sz="4800"/>
              <a:t>Цели лекции</a:t>
            </a:r>
            <a:endParaRPr sz="4800"/>
          </a:p>
        </p:txBody>
      </p:sp>
      <p:sp>
        <p:nvSpPr>
          <p:cNvPr id="164544317" name="Прямоугольник: скругленные углы 1"/>
          <p:cNvSpPr/>
          <p:nvPr/>
        </p:nvSpPr>
        <p:spPr bwMode="auto">
          <a:xfrm>
            <a:off x="437261" y="1376361"/>
            <a:ext cx="4032000" cy="4275137"/>
          </a:xfrm>
          <a:prstGeom prst="roundRect">
            <a:avLst>
              <a:gd name="adj" fmla="val 34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pic>
        <p:nvPicPr>
          <p:cNvPr id="118071910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7535" y="2105613"/>
            <a:ext cx="3729544" cy="3545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1208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2503" cy="439271"/>
          </a:xfrm>
        </p:spPr>
        <p:txBody>
          <a:bodyPr/>
          <a:lstStyle/>
          <a:p>
            <a:pPr>
              <a:defRPr/>
            </a:pPr>
            <a:r>
              <a:rPr lang="ru-RU" sz="3600"/>
              <a:t>Вспомним прошлую лекцию</a:t>
            </a:r>
            <a:endParaRPr sz="2800"/>
          </a:p>
        </p:txBody>
      </p:sp>
      <p:sp>
        <p:nvSpPr>
          <p:cNvPr id="907662797" name="Прямоугольник: скругленные углы 5"/>
          <p:cNvSpPr/>
          <p:nvPr/>
        </p:nvSpPr>
        <p:spPr bwMode="auto">
          <a:xfrm flipH="0" flipV="0">
            <a:off x="434447" y="1662444"/>
            <a:ext cx="11329416" cy="254909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Font typeface="Arial"/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Агент действует, среда отвечает: новое состояние и вознаграждение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Font typeface="Arial"/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Один шаг: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— результат приходит после действия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Font typeface="Arial"/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Цель агента — доход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а не вознаграждение за один шаг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Font typeface="Arial"/>
              <a:buAutoNum type="arabicPeriod" startAt="1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— насколько агент смотрит в будущее; горизонт ≈ </a:t>
            </a:r>
            <a:r>
              <a:rPr lang="ru-RU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1/(1 −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ru-RU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Font typeface="Arial"/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Стратегия </a:t>
            </a:r>
            <a:r>
              <a:rPr lang="ru-RU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π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— правило выбора действий для всех состояний, а не одно действие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Font typeface="Arial"/>
              <a:buAutoNum type="arabicPeriod" startAt="1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оход на чи</a:t>
            </a:r>
            <a:r>
              <a:rPr lang="ru-RU" sz="1800" b="0">
                <a:solidFill>
                  <a:schemeClr val="tx1"/>
                </a:solidFill>
                <a:latin typeface="Arial"/>
              </a:rPr>
              <a:t>слах: при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i"/>
                        </m:rPr>
                        <a:rPr lang="ru-RU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0" i="1">
                <a:solidFill>
                  <a:schemeClr val="tx1"/>
                </a:solidFill>
                <a:latin typeface="Arial"/>
              </a:rPr>
              <a:t> = 0,9 — 10</a:t>
            </a:r>
            <a:r>
              <a:rPr lang="ru-RU" sz="1800" b="0">
                <a:solidFill>
                  <a:schemeClr val="tx1"/>
                </a:solidFill>
                <a:latin typeface="Arial"/>
              </a:rPr>
              <a:t>, при </a:t>
            </a:r>
            <a:r>
              <a:rPr lang="ru-RU" sz="1800" b="0" i="1">
                <a:solidFill>
                  <a:schemeClr val="tx1"/>
                </a:solidFill>
                <a:latin typeface="Arial"/>
              </a:rPr>
              <a:t>0,5 — 2</a:t>
            </a:r>
            <a:endParaRPr sz="1800" b="0">
              <a:solidFill>
                <a:schemeClr val="tx1"/>
              </a:solidFill>
            </a:endParaRPr>
          </a:p>
        </p:txBody>
      </p:sp>
      <p:sp>
        <p:nvSpPr>
          <p:cNvPr id="526950587" name="Прямоугольник: скругленные углы 2"/>
          <p:cNvSpPr/>
          <p:nvPr/>
        </p:nvSpPr>
        <p:spPr bwMode="auto">
          <a:xfrm>
            <a:off x="434447" y="4987224"/>
            <a:ext cx="11337695" cy="107667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Доход (</a:t>
            </a:r>
            <a:r>
              <a:rPr lang="en-US" sz="2200" b="1">
                <a:latin typeface="Arial"/>
              </a:rPr>
              <a:t>r</a:t>
            </a:r>
            <a:r>
              <a:rPr lang="ru-RU" sz="2200" b="1">
                <a:latin typeface="Arial"/>
              </a:rPr>
              <a:t>eturn,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200" b="1" i="1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200" b="1">
                <a:latin typeface="Arial"/>
              </a:rPr>
              <a:t>) </a:t>
            </a:r>
            <a:r>
              <a:rPr lang="ru-RU" sz="2200" b="0">
                <a:latin typeface="Arial"/>
              </a:rPr>
              <a:t>— сумма вознаграждений с убывающим весом;</a:t>
            </a:r>
            <a:r>
              <a:rPr lang="ru-RU" sz="2200" b="1">
                <a:latin typeface="Arial"/>
              </a:rPr>
              <a:t> </a:t>
            </a:r>
            <a:endParaRPr lang="ru-RU" sz="2200" b="1">
              <a:latin typeface="Arial"/>
            </a:endParaRPr>
          </a:p>
          <a:p>
            <a:pPr>
              <a:spcAft>
                <a:spcPts val="299"/>
              </a:spcAft>
              <a:defRPr/>
            </a:pPr>
            <a:r>
              <a:rPr lang="ru-RU" sz="2200" b="1">
                <a:latin typeface="Arial"/>
              </a:rPr>
              <a:t>Стратегия (policy, </a:t>
            </a:r>
            <a:r>
              <a:rPr lang="ru-RU" sz="2200" b="1" i="1">
                <a:latin typeface="Arial"/>
              </a:rPr>
              <a:t>π</a:t>
            </a:r>
            <a:r>
              <a:rPr lang="ru-RU" sz="2200" b="1">
                <a:latin typeface="Arial"/>
              </a:rPr>
              <a:t>) </a:t>
            </a:r>
            <a:r>
              <a:rPr lang="ru-RU" sz="2200" b="0">
                <a:latin typeface="Arial"/>
              </a:rPr>
              <a:t>— правило выбора действий</a:t>
            </a:r>
            <a:r>
              <a:rPr lang="ru-RU" sz="2000" b="0">
                <a:latin typeface="Arial"/>
              </a:rPr>
              <a:t>.</a:t>
            </a:r>
            <a:endParaRPr lang="ru-RU" sz="2000" b="1">
              <a:latin typeface="Arial"/>
            </a:endParaRPr>
          </a:p>
        </p:txBody>
      </p:sp>
      <p:pic>
        <p:nvPicPr>
          <p:cNvPr id="4289992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9895" y="519753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386901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Ценность состояния: насколько хорошо «здесь»</a:t>
            </a:r>
            <a:endParaRPr/>
          </a:p>
        </p:txBody>
      </p:sp>
      <p:sp>
        <p:nvSpPr>
          <p:cNvPr id="425108394" name="Прямоугольник: скругленные углы 5"/>
          <p:cNvSpPr/>
          <p:nvPr/>
        </p:nvSpPr>
        <p:spPr bwMode="auto">
          <a:xfrm>
            <a:off x="457200" y="1325880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Вознаграждение отвечает: сколько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я получил сейчас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Ценность отвечает: сколько я получу дальше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, действуя по стратегии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𝔼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среднее: среда может отвечать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по-разному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Ценность — не свойство клетки,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свойство клетки вместе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со стратегие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й</a:t>
            </a:r>
            <a:endParaRPr sz="4800" b="0">
              <a:solidFill>
                <a:schemeClr val="tx1"/>
              </a:solidFill>
            </a:endParaRPr>
          </a:p>
        </p:txBody>
      </p:sp>
      <p:sp>
        <p:nvSpPr>
          <p:cNvPr id="815209058" name="Прямоугольник: скругленные углы 2"/>
          <p:cNvSpPr/>
          <p:nvPr/>
        </p:nvSpPr>
        <p:spPr bwMode="auto">
          <a:xfrm>
            <a:off x="429768" y="5221224"/>
            <a:ext cx="11333735" cy="91069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Термин:</a:t>
            </a:r>
            <a:r>
              <a:rPr lang="ru-RU" b="1">
                <a:latin typeface="Arial"/>
              </a:rPr>
              <a:t> ценность состояния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1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 i="1">
                <a:latin typeface="Arial"/>
              </a:rPr>
              <a:t>(s)</a:t>
            </a:r>
            <a:r>
              <a:rPr lang="ru-RU" b="1">
                <a:latin typeface="Arial"/>
              </a:rPr>
              <a:t> — ожидаемый доход при старте из состояния </a:t>
            </a:r>
            <a:r>
              <a:rPr lang="ru-RU" b="1" i="1">
                <a:latin typeface="Arial"/>
              </a:rPr>
              <a:t>s</a:t>
            </a:r>
            <a:r>
              <a:rPr lang="ru-RU" b="1">
                <a:latin typeface="Arial"/>
              </a:rPr>
              <a:t> </a:t>
            </a:r>
            <a:br>
              <a:rPr lang="ru-RU" b="1">
                <a:latin typeface="Arial"/>
              </a:rPr>
            </a:br>
            <a:r>
              <a:rPr lang="ru-RU" b="1">
                <a:latin typeface="Arial"/>
              </a:rPr>
              <a:t>и дальнейших действиях по стратегии </a:t>
            </a:r>
            <a:r>
              <a:rPr lang="ru-RU" b="1" i="1">
                <a:latin typeface="Arial"/>
              </a:rPr>
              <a:t>π</a:t>
            </a:r>
            <a:endParaRPr lang="ru-RU" sz="1600" b="1">
              <a:latin typeface="Arial"/>
            </a:endParaRPr>
          </a:p>
        </p:txBody>
      </p:sp>
      <p:pic>
        <p:nvPicPr>
          <p:cNvPr id="32111055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165271425" name="Picture 2081775820" descr="s05_v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89320" y="2711645"/>
            <a:ext cx="5806440" cy="840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47962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Ценность действия: насколько хорош этот шаг</a:t>
            </a:r>
            <a:endParaRPr/>
          </a:p>
        </p:txBody>
      </p:sp>
      <p:sp>
        <p:nvSpPr>
          <p:cNvPr id="1022876604" name="Прямоугольник: скругленные углы 5"/>
          <p:cNvSpPr/>
          <p:nvPr/>
        </p:nvSpPr>
        <p:spPr bwMode="auto">
          <a:xfrm>
            <a:off x="457200" y="1325880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условии появилось ещё и действие: сколько получу, если сделаю вот это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Ценности действий можно сравнивать между собой: четыре действия — четыре числа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Больше число — лучше шаг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Буква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в названии метода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Q-обучение — отсюда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840866242" name="Прямоугольник: скругленные углы 2"/>
          <p:cNvSpPr/>
          <p:nvPr/>
        </p:nvSpPr>
        <p:spPr bwMode="auto">
          <a:xfrm>
            <a:off x="429768" y="5221224"/>
            <a:ext cx="11336255" cy="91069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Термин:</a:t>
            </a:r>
            <a:r>
              <a:rPr lang="ru-RU" b="1">
                <a:latin typeface="Arial"/>
              </a:rPr>
              <a:t> ценность действия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1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 i="1">
                <a:latin typeface="Arial"/>
              </a:rPr>
              <a:t>(s, a)</a:t>
            </a:r>
            <a:r>
              <a:rPr lang="ru-RU" b="1">
                <a:latin typeface="Arial"/>
              </a:rPr>
              <a:t> — ожидаемый доход при выполнении действия </a:t>
            </a:r>
            <a:r>
              <a:rPr lang="ru-RU" b="1" i="1">
                <a:latin typeface="Arial"/>
              </a:rPr>
              <a:t>a</a:t>
            </a:r>
            <a:r>
              <a:rPr lang="ru-RU" b="1">
                <a:latin typeface="Arial"/>
              </a:rPr>
              <a:t> </a:t>
            </a:r>
            <a:br>
              <a:rPr lang="ru-RU" b="1">
                <a:latin typeface="Arial"/>
              </a:rPr>
            </a:br>
            <a:r>
              <a:rPr lang="ru-RU" b="1">
                <a:latin typeface="Arial"/>
              </a:rPr>
              <a:t>в состоянии </a:t>
            </a:r>
            <a:r>
              <a:rPr lang="ru-RU" b="1" i="1">
                <a:latin typeface="Arial"/>
              </a:rPr>
              <a:t>s</a:t>
            </a:r>
            <a:r>
              <a:rPr lang="ru-RU" b="1">
                <a:latin typeface="Arial"/>
              </a:rPr>
              <a:t> и дальнейших действиях по стратегии </a:t>
            </a:r>
            <a:r>
              <a:rPr lang="ru-RU" b="1" i="1">
                <a:latin typeface="Arial"/>
              </a:rPr>
              <a:t>π</a:t>
            </a:r>
            <a:endParaRPr lang="ru-RU" sz="1600" b="1">
              <a:latin typeface="Arial"/>
            </a:endParaRPr>
          </a:p>
        </p:txBody>
      </p:sp>
      <p:pic>
        <p:nvPicPr>
          <p:cNvPr id="59625915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1362037804" name="Picture 2081775820" descr="s06_q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89320" y="2839884"/>
            <a:ext cx="5806440" cy="583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2784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Как связаны ценность состояния и ценность действия</a:t>
            </a:r>
            <a:endParaRPr/>
          </a:p>
        </p:txBody>
      </p:sp>
      <p:sp>
        <p:nvSpPr>
          <p:cNvPr id="223144637" name="Прямоугольник: скругленные углы 5"/>
          <p:cNvSpPr/>
          <p:nvPr/>
        </p:nvSpPr>
        <p:spPr bwMode="auto">
          <a:xfrm>
            <a:off x="457200" y="1606026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Ценность состояния — средневзвешенная ценность действий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Веса — вероятности, с которыми стратегия выбирает действия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Пример: ценности действий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10 и 2 → всегда первое даёт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= 10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, пополам —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= 6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Следствие: зная ценности действий, стратегию можно улучшить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711477707" name="Прямоугольник: скругленные углы 2"/>
          <p:cNvSpPr/>
          <p:nvPr/>
        </p:nvSpPr>
        <p:spPr bwMode="auto">
          <a:xfrm>
            <a:off x="429768" y="5641444"/>
            <a:ext cx="11331575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Термин:</a:t>
            </a:r>
            <a:r>
              <a:rPr lang="ru-RU" b="1">
                <a:latin typeface="Arial"/>
              </a:rPr>
              <a:t> </a:t>
            </a:r>
            <a:r>
              <a:rPr lang="ru-RU" b="1" i="1">
                <a:latin typeface="Arial"/>
              </a:rPr>
              <a:t>π(a|s)</a:t>
            </a:r>
            <a:r>
              <a:rPr lang="ru-RU" b="1">
                <a:latin typeface="Arial"/>
              </a:rPr>
              <a:t> — вероятность выбрать действие </a:t>
            </a:r>
            <a:r>
              <a:rPr lang="ru-RU" b="1" i="1">
                <a:latin typeface="Arial"/>
              </a:rPr>
              <a:t>a</a:t>
            </a:r>
            <a:r>
              <a:rPr lang="ru-RU" b="1">
                <a:latin typeface="Arial"/>
              </a:rPr>
              <a:t> в состоянии </a:t>
            </a:r>
            <a:r>
              <a:rPr lang="ru-RU" b="1" i="1">
                <a:latin typeface="Arial"/>
              </a:rPr>
              <a:t>s</a:t>
            </a:r>
            <a:endParaRPr lang="ru-RU" sz="1600" b="1">
              <a:latin typeface="Arial"/>
            </a:endParaRPr>
          </a:p>
        </p:txBody>
      </p:sp>
      <p:pic>
        <p:nvPicPr>
          <p:cNvPr id="16542203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707454"/>
            <a:ext cx="468000" cy="468000"/>
          </a:xfrm>
          <a:prstGeom prst="rect">
            <a:avLst/>
          </a:prstGeom>
        </p:spPr>
      </p:pic>
      <p:pic>
        <p:nvPicPr>
          <p:cNvPr id="711353223" name="Picture 2081775820" descr="s07_vq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89320" y="2794430"/>
            <a:ext cx="5806440" cy="1235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06949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Чего не хватает, чтобы посчитать ценность</a:t>
            </a:r>
            <a:endParaRPr/>
          </a:p>
        </p:txBody>
      </p:sp>
      <p:sp>
        <p:nvSpPr>
          <p:cNvPr id="552418068" name="Прямоугольник: скругленные углы 5"/>
          <p:cNvSpPr/>
          <p:nvPr/>
        </p:nvSpPr>
        <p:spPr bwMode="auto">
          <a:xfrm>
            <a:off x="457200" y="1652717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Доход считаем — но не знаем,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что будет после действия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Нужен ответ: сделав действие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a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состоянии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куда попадём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сколько получим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Ответов несколько: значит нужны вероятности, а не один исход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668597748" name="Прямоугольник: скругленные углы 2"/>
          <p:cNvSpPr/>
          <p:nvPr/>
        </p:nvSpPr>
        <p:spPr bwMode="auto">
          <a:xfrm>
            <a:off x="429768" y="5828209"/>
            <a:ext cx="1132977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Вопрос:</a:t>
            </a:r>
            <a:r>
              <a:rPr lang="ru-RU" b="1">
                <a:latin typeface="Arial"/>
              </a:rPr>
              <a:t> что произойдёт после действия?</a:t>
            </a:r>
            <a:endParaRPr lang="ru-RU" sz="1600" b="1">
              <a:latin typeface="Arial"/>
            </a:endParaRPr>
          </a:p>
        </p:txBody>
      </p:sp>
      <p:pic>
        <p:nvPicPr>
          <p:cNvPr id="213488362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94218"/>
            <a:ext cx="468000" cy="468000"/>
          </a:xfrm>
          <a:prstGeom prst="rect">
            <a:avLst/>
          </a:prstGeom>
        </p:spPr>
      </p:pic>
      <p:pic>
        <p:nvPicPr>
          <p:cNvPr id="1608642275" name="Picture 2081775820" descr="s08_unknow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331863" y="1561277"/>
            <a:ext cx="5121351" cy="3794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230288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1423" cy="366120"/>
          </a:xfrm>
        </p:spPr>
        <p:txBody>
          <a:bodyPr/>
          <a:lstStyle/>
          <a:p>
            <a:pPr>
              <a:defRPr/>
            </a:pPr>
            <a:r>
              <a:rPr lang="ru-RU"/>
              <a:t>Вероятность перехода: </a:t>
            </a:r>
            <a:r>
              <a:rPr lang="ru-RU" i="1"/>
              <a:t>p(s′, r | s, a)</a:t>
            </a:r>
            <a:endParaRPr/>
          </a:p>
        </p:txBody>
      </p:sp>
      <p:sp>
        <p:nvSpPr>
          <p:cNvPr id="711683792" name="Прямоугольник: скругленные углы 5"/>
          <p:cNvSpPr/>
          <p:nvPr/>
        </p:nvSpPr>
        <p:spPr bwMode="auto">
          <a:xfrm>
            <a:off x="457200" y="1325880"/>
            <a:ext cx="11329416" cy="169164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Читается: </a:t>
            </a:r>
            <a:r>
              <a:rPr lang="ru-RU" sz="2000" b="1">
                <a:solidFill>
                  <a:schemeClr val="tx1"/>
                </a:solidFill>
                <a:latin typeface="Arial"/>
              </a:rPr>
              <a:t>вероятность, что из состояния </a:t>
            </a:r>
            <a:r>
              <a:rPr lang="ru-RU" sz="2000" b="1" i="1">
                <a:solidFill>
                  <a:schemeClr val="tx1"/>
                </a:solidFill>
                <a:latin typeface="Arial"/>
              </a:rPr>
              <a:t>s</a:t>
            </a:r>
            <a:r>
              <a:rPr lang="ru-RU" sz="2000" b="1">
                <a:solidFill>
                  <a:schemeClr val="tx1"/>
                </a:solidFill>
                <a:latin typeface="Arial"/>
              </a:rPr>
              <a:t> после действия </a:t>
            </a:r>
            <a:r>
              <a:rPr lang="ru-RU" sz="2000" b="1" i="1">
                <a:solidFill>
                  <a:schemeClr val="tx1"/>
                </a:solidFill>
                <a:latin typeface="Arial"/>
              </a:rPr>
              <a:t>a</a:t>
            </a:r>
            <a:r>
              <a:rPr lang="ru-RU" sz="2000" b="1">
                <a:solidFill>
                  <a:schemeClr val="tx1"/>
                </a:solidFill>
                <a:latin typeface="Arial"/>
              </a:rPr>
              <a:t> получим </a:t>
            </a:r>
            <a:br>
              <a:rPr lang="ru-RU" sz="2000" b="1">
                <a:solidFill>
                  <a:schemeClr val="tx1"/>
                </a:solidFill>
                <a:latin typeface="Arial"/>
              </a:rPr>
            </a:br>
            <a:r>
              <a:rPr lang="ru-RU" sz="2000" b="1">
                <a:solidFill>
                  <a:schemeClr val="tx1"/>
                </a:solidFill>
                <a:latin typeface="Arial"/>
              </a:rPr>
              <a:t>вознаграждение </a:t>
            </a:r>
            <a:r>
              <a:rPr lang="ru-RU" sz="2000" b="1" i="1">
                <a:solidFill>
                  <a:schemeClr val="tx1"/>
                </a:solidFill>
                <a:latin typeface="Arial"/>
              </a:rPr>
              <a:t>r</a:t>
            </a:r>
            <a:r>
              <a:rPr lang="ru-RU" sz="2000" b="1">
                <a:solidFill>
                  <a:schemeClr val="tx1"/>
                </a:solidFill>
                <a:latin typeface="Arial"/>
              </a:rPr>
              <a:t> и окажемся в состоянии </a:t>
            </a:r>
            <a:r>
              <a:rPr lang="ru-RU" sz="2000" b="1" i="1">
                <a:solidFill>
                  <a:schemeClr val="tx1"/>
                </a:solidFill>
                <a:latin typeface="Arial"/>
              </a:rPr>
              <a:t>s′</a:t>
            </a:r>
            <a:endParaRPr sz="2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Слева — </a:t>
            </a:r>
            <a:r>
              <a:rPr lang="ru-RU" sz="2000" b="0" u="sng">
                <a:solidFill>
                  <a:schemeClr val="tx1"/>
                </a:solidFill>
                <a:latin typeface="Arial"/>
              </a:rPr>
              <a:t>что мы знаем</a:t>
            </a:r>
            <a:r>
              <a:rPr lang="ru-RU" sz="2000" b="0">
                <a:solidFill>
                  <a:schemeClr val="tx1"/>
                </a:solidFill>
                <a:latin typeface="Arial"/>
              </a:rPr>
              <a:t>: </a:t>
            </a:r>
            <a:r>
              <a:rPr lang="ru-RU" sz="2000" b="0" i="1">
                <a:solidFill>
                  <a:schemeClr val="tx1"/>
                </a:solidFill>
                <a:latin typeface="Arial"/>
              </a:rPr>
              <a:t>s</a:t>
            </a:r>
            <a:r>
              <a:rPr lang="ru-RU" sz="2000" b="0">
                <a:solidFill>
                  <a:schemeClr val="tx1"/>
                </a:solidFill>
                <a:latin typeface="Arial"/>
              </a:rPr>
              <a:t> и </a:t>
            </a:r>
            <a:r>
              <a:rPr lang="ru-RU" sz="2000" b="0" i="1">
                <a:solidFill>
                  <a:schemeClr val="tx1"/>
                </a:solidFill>
                <a:latin typeface="Arial"/>
              </a:rPr>
              <a:t>a</a:t>
            </a:r>
            <a:r>
              <a:rPr lang="ru-RU" sz="2000" b="0">
                <a:solidFill>
                  <a:schemeClr val="tx1"/>
                </a:solidFill>
                <a:latin typeface="Arial"/>
              </a:rPr>
              <a:t>; справа — </a:t>
            </a:r>
            <a:r>
              <a:rPr lang="ru-RU" sz="2000" b="0" u="sng">
                <a:solidFill>
                  <a:schemeClr val="tx1"/>
                </a:solidFill>
                <a:latin typeface="Arial"/>
              </a:rPr>
              <a:t>что получим:</a:t>
            </a:r>
            <a:r>
              <a:rPr lang="ru-RU" sz="2000" b="0">
                <a:solidFill>
                  <a:schemeClr val="tx1"/>
                </a:solidFill>
                <a:latin typeface="Arial"/>
              </a:rPr>
              <a:t> </a:t>
            </a:r>
            <a:r>
              <a:rPr lang="ru-RU" sz="2000" b="0" i="1">
                <a:solidFill>
                  <a:schemeClr val="tx1"/>
                </a:solidFill>
                <a:latin typeface="Arial"/>
              </a:rPr>
              <a:t>s′</a:t>
            </a:r>
            <a:r>
              <a:rPr lang="ru-RU" sz="2000" b="0">
                <a:solidFill>
                  <a:schemeClr val="tx1"/>
                </a:solidFill>
                <a:latin typeface="Arial"/>
              </a:rPr>
              <a:t> и </a:t>
            </a:r>
            <a:r>
              <a:rPr lang="ru-RU" sz="2000" b="0" i="1">
                <a:solidFill>
                  <a:schemeClr val="tx1"/>
                </a:solidFill>
                <a:latin typeface="Arial"/>
              </a:rPr>
              <a:t>r</a:t>
            </a:r>
            <a:endParaRPr sz="2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Сумма вероятностей по всем исходам равна единице</a:t>
            </a:r>
            <a:endParaRPr sz="2600" b="0">
              <a:solidFill>
                <a:schemeClr val="tx1"/>
              </a:solidFill>
            </a:endParaRPr>
          </a:p>
        </p:txBody>
      </p:sp>
      <p:sp>
        <p:nvSpPr>
          <p:cNvPr id="889321841" name="Прямоугольник: скругленные углы 2"/>
          <p:cNvSpPr/>
          <p:nvPr/>
        </p:nvSpPr>
        <p:spPr bwMode="auto">
          <a:xfrm>
            <a:off x="429768" y="5221224"/>
            <a:ext cx="11330136" cy="89255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Термин:</a:t>
            </a:r>
            <a:r>
              <a:rPr lang="ru-RU" b="1">
                <a:latin typeface="Arial"/>
              </a:rPr>
              <a:t> вероятность перехода </a:t>
            </a:r>
            <a:r>
              <a:rPr lang="ru-RU" b="1" i="1">
                <a:latin typeface="Arial"/>
              </a:rPr>
              <a:t>p(s′, r | s, a)</a:t>
            </a:r>
            <a:r>
              <a:rPr lang="ru-RU" b="1">
                <a:latin typeface="Arial"/>
              </a:rPr>
              <a:t>; модель среды — знание этих вероятностей для всех состояний и действий</a:t>
            </a:r>
            <a:endParaRPr lang="ru-RU" sz="1600" b="1">
              <a:latin typeface="Arial"/>
            </a:endParaRPr>
          </a:p>
        </p:txBody>
      </p:sp>
      <p:pic>
        <p:nvPicPr>
          <p:cNvPr id="110855001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1735692987" name="Picture 2081775820" descr="s09_p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8680" y="3746269"/>
            <a:ext cx="10469879" cy="645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109902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Пример на числах: лабиринт 3 × 4</a:t>
            </a:r>
            <a:endParaRPr/>
          </a:p>
        </p:txBody>
      </p:sp>
      <p:sp>
        <p:nvSpPr>
          <p:cNvPr id="547372033" name="Прямоугольник: скругленные углы 5"/>
          <p:cNvSpPr/>
          <p:nvPr/>
        </p:nvSpPr>
        <p:spPr bwMode="auto">
          <a:xfrm flipH="0" flipV="0">
            <a:off x="457200" y="1325880"/>
            <a:ext cx="3680593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Агент в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S6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,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действие — вправо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 вероятностью 0,8 прошли как хотели;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 0,1 — снесло вверх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вниз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Сумма по всем исходам ровно 1; −1 за шаг, +10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 выход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602000957" name="Прямоугольник: скругленные углы 2"/>
          <p:cNvSpPr/>
          <p:nvPr/>
        </p:nvSpPr>
        <p:spPr bwMode="auto">
          <a:xfrm>
            <a:off x="429768" y="5221224"/>
            <a:ext cx="11329776" cy="89255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Термины:</a:t>
            </a:r>
            <a:r>
              <a:rPr lang="ru-RU" b="1">
                <a:latin typeface="Arial"/>
              </a:rPr>
              <a:t> детерминированная среда — переход известен точно (вероятность 1); стохастическая среда — исход случаен</a:t>
            </a:r>
            <a:endParaRPr lang="ru-RU" sz="1600" b="1">
              <a:latin typeface="Arial"/>
            </a:endParaRPr>
          </a:p>
        </p:txBody>
      </p:sp>
      <p:pic>
        <p:nvPicPr>
          <p:cNvPr id="48538473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970948567" name="Picture 2081775820" descr="s10_gri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400041" y="1596831"/>
            <a:ext cx="7359142" cy="3115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190938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Марковское свойство: почему хватает текущего состояния</a:t>
            </a:r>
            <a:endParaRPr/>
          </a:p>
        </p:txBody>
      </p:sp>
      <p:sp>
        <p:nvSpPr>
          <p:cNvPr id="315837119" name="Прямоугольник: скругленные углы 5"/>
          <p:cNvSpPr/>
          <p:nvPr/>
        </p:nvSpPr>
        <p:spPr bwMode="auto">
          <a:xfrm>
            <a:off x="457200" y="1652717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Будущее зависит только от текущего состояния</a:t>
            </a:r>
            <a:endParaRPr lang="ru-RU" sz="2000" b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Прошлое уже не влияет: две разные истории — одно продолжение</a:t>
            </a:r>
            <a:endParaRPr lang="ru-RU" sz="2000" b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Если описания не хватает — его дописывают в состояние (скорость машины, история заказов)</a:t>
            </a:r>
            <a:endParaRPr lang="ru-RU" sz="2000" b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881556492" name="Прямоугольник: скругленные углы 2"/>
          <p:cNvSpPr/>
          <p:nvPr/>
        </p:nvSpPr>
        <p:spPr bwMode="auto">
          <a:xfrm>
            <a:off x="431111" y="5689224"/>
            <a:ext cx="1132977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Термин:</a:t>
            </a:r>
            <a:r>
              <a:rPr lang="ru-RU" b="1">
                <a:latin typeface="Arial"/>
              </a:rPr>
              <a:t> марковское свойство — будущее зависит только от текущего состояния</a:t>
            </a:r>
            <a:endParaRPr lang="ru-RU" sz="1600" b="1">
              <a:latin typeface="Arial"/>
            </a:endParaRPr>
          </a:p>
        </p:txBody>
      </p:sp>
      <p:pic>
        <p:nvPicPr>
          <p:cNvPr id="165768010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6559" y="5755233"/>
            <a:ext cx="468000" cy="468000"/>
          </a:xfrm>
          <a:prstGeom prst="rect">
            <a:avLst/>
          </a:prstGeom>
        </p:spPr>
      </p:pic>
      <p:pic>
        <p:nvPicPr>
          <p:cNvPr id="686657679" name="Picture 2081775820" descr="s11_history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89320" y="1755329"/>
            <a:ext cx="5806440" cy="3406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129509" name="Прямоугольник: скругленные углы 8"/>
          <p:cNvSpPr/>
          <p:nvPr/>
        </p:nvSpPr>
        <p:spPr bwMode="auto">
          <a:xfrm flipH="0" flipV="0">
            <a:off x="3326208" y="2913529"/>
            <a:ext cx="2675731" cy="350314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Действия</a:t>
            </a:r>
            <a:endParaRPr sz="28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всё, что агент может сделать</a:t>
            </a:r>
            <a:endParaRPr sz="2800"/>
          </a:p>
        </p:txBody>
      </p:sp>
      <p:sp>
        <p:nvSpPr>
          <p:cNvPr id="516672922" name="Прямоугольник: скругленные углы 11"/>
          <p:cNvSpPr/>
          <p:nvPr/>
        </p:nvSpPr>
        <p:spPr bwMode="auto">
          <a:xfrm flipH="0" flipV="0">
            <a:off x="6198392" y="2913529"/>
            <a:ext cx="2675731" cy="350314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Вероятности</a:t>
            </a:r>
            <a:endParaRPr sz="28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что будет после действия: куда попадём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и сколько получим</a:t>
            </a:r>
            <a:endParaRPr sz="2800"/>
          </a:p>
        </p:txBody>
      </p:sp>
      <p:sp>
        <p:nvSpPr>
          <p:cNvPr id="258998878" name="Прямоугольник: скругленные углы 12"/>
          <p:cNvSpPr/>
          <p:nvPr/>
        </p:nvSpPr>
        <p:spPr bwMode="auto">
          <a:xfrm flipH="0" flipV="0">
            <a:off x="9076732" y="2913529"/>
            <a:ext cx="2681879" cy="350314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γ</a:t>
            </a:r>
            <a:endParaRPr sz="28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насколько агент учитывает будущее</a:t>
            </a:r>
            <a:endParaRPr sz="2800"/>
          </a:p>
        </p:txBody>
      </p:sp>
      <p:sp>
        <p:nvSpPr>
          <p:cNvPr id="979128570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такое MDP: состояния, действия, вероятности, γ</a:t>
            </a:r>
            <a:endParaRPr/>
          </a:p>
        </p:txBody>
      </p:sp>
      <p:sp>
        <p:nvSpPr>
          <p:cNvPr id="16464980" name="Прямоугольник: скругленные углы 5"/>
          <p:cNvSpPr/>
          <p:nvPr/>
        </p:nvSpPr>
        <p:spPr bwMode="auto">
          <a:xfrm flipH="0" flipV="0">
            <a:off x="432592" y="2913528"/>
            <a:ext cx="2675731" cy="350314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Состояния</a:t>
            </a:r>
            <a:endParaRPr sz="28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все ситуации,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в которых может оказаться агент</a:t>
            </a:r>
            <a:endParaRPr sz="2800"/>
          </a:p>
        </p:txBody>
      </p:sp>
      <p:sp>
        <p:nvSpPr>
          <p:cNvPr id="317387823" name="Прямоугольник: скругленные углы 2"/>
          <p:cNvSpPr/>
          <p:nvPr/>
        </p:nvSpPr>
        <p:spPr bwMode="auto">
          <a:xfrm flipH="0" flipV="0">
            <a:off x="431798" y="1376361"/>
            <a:ext cx="11326812" cy="1359739"/>
          </a:xfrm>
          <a:prstGeom prst="roundRect">
            <a:avLst>
              <a:gd name="adj" fmla="val 1063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0">
                <a:latin typeface="Arial"/>
              </a:rPr>
              <a:t>Термин:</a:t>
            </a:r>
            <a:r>
              <a:rPr lang="ru-RU" sz="2200" b="1">
                <a:latin typeface="Arial"/>
              </a:rPr>
              <a:t> марковский процесс принятия решений (MDP) — задача </a:t>
            </a:r>
            <a:br>
              <a:rPr lang="ru-RU" sz="2200" b="1">
                <a:latin typeface="Arial"/>
              </a:rPr>
            </a:br>
            <a:r>
              <a:rPr lang="ru-RU" sz="2200" b="1">
                <a:latin typeface="Arial"/>
              </a:rPr>
              <a:t>из состояний, действий, вероятностей переходов и коэффициента дисконтирования</a:t>
            </a:r>
            <a:endParaRPr lang="ru-RU" sz="2600" b="1">
              <a:latin typeface="Arial"/>
            </a:endParaRPr>
          </a:p>
        </p:txBody>
      </p:sp>
      <p:pic>
        <p:nvPicPr>
          <p:cNvPr id="506372758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82223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034032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Эпизодическая задача: у задачи есть конец</a:t>
            </a:r>
            <a:endParaRPr/>
          </a:p>
        </p:txBody>
      </p:sp>
      <p:sp>
        <p:nvSpPr>
          <p:cNvPr id="1090573689" name="Прямоугольник: скругленные углы 5"/>
          <p:cNvSpPr/>
          <p:nvPr/>
        </p:nvSpPr>
        <p:spPr bwMode="auto">
          <a:xfrm flipH="0" flipV="0">
            <a:off x="429767" y="1307592"/>
            <a:ext cx="4632511" cy="392181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Есть конечное состояние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эпизод заканчивается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Примеры: лабиринт, партия в шахматы, поездка таксиста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Здесь допустимо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γ = 1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 сумма конечная и не расходится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047420550" name="Прямоугольник: скругленные углы 2"/>
          <p:cNvSpPr/>
          <p:nvPr/>
        </p:nvSpPr>
        <p:spPr bwMode="auto">
          <a:xfrm>
            <a:off x="426528" y="5604091"/>
            <a:ext cx="11332655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0">
                <a:latin typeface="Arial"/>
              </a:rPr>
              <a:t>Термин:</a:t>
            </a:r>
            <a:r>
              <a:rPr lang="ru-RU" sz="2200" b="1">
                <a:latin typeface="Arial"/>
              </a:rPr>
              <a:t> эпизодическая задача — задача с конечным состоянием</a:t>
            </a:r>
            <a:endParaRPr lang="ru-RU" sz="2000" b="1">
              <a:latin typeface="Arial"/>
            </a:endParaRPr>
          </a:p>
        </p:txBody>
      </p:sp>
      <p:pic>
        <p:nvPicPr>
          <p:cNvPr id="118617935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1976" y="5702605"/>
            <a:ext cx="468000" cy="468000"/>
          </a:xfrm>
          <a:prstGeom prst="rect">
            <a:avLst/>
          </a:prstGeom>
        </p:spPr>
      </p:pic>
      <p:pic>
        <p:nvPicPr>
          <p:cNvPr id="15645564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830576" y="1376361"/>
            <a:ext cx="3666555" cy="3666555"/>
          </a:xfrm>
          <a:prstGeom prst="ellipse">
            <a:avLst/>
          </a:prstGeom>
        </p:spPr>
      </p:pic>
      <p:sp>
        <p:nvSpPr>
          <p:cNvPr id="1162082933" name=""/>
          <p:cNvSpPr txBox="1"/>
          <p:nvPr/>
        </p:nvSpPr>
        <p:spPr bwMode="auto">
          <a:xfrm rot="0" flipH="0" flipV="0">
            <a:off x="7443529" y="2268473"/>
            <a:ext cx="31073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accent4"/>
                </a:solidFill>
              </a:rPr>
              <a:t>6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415023970" name=""/>
          <p:cNvSpPr txBox="1"/>
          <p:nvPr/>
        </p:nvSpPr>
        <p:spPr bwMode="auto">
          <a:xfrm rot="0" flipH="0" flipV="0">
            <a:off x="9566296" y="2268473"/>
            <a:ext cx="31073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accent4"/>
                </a:solidFill>
              </a:rPr>
              <a:t>7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495170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Непрерывная задача: конца нет</a:t>
            </a:r>
            <a:endParaRPr/>
          </a:p>
        </p:txBody>
      </p:sp>
      <p:sp>
        <p:nvSpPr>
          <p:cNvPr id="1899711937" name="Прямоугольник: скругленные углы 5"/>
          <p:cNvSpPr/>
          <p:nvPr/>
        </p:nvSpPr>
        <p:spPr bwMode="auto">
          <a:xfrm flipH="0" flipV="0">
            <a:off x="457199" y="1101762"/>
            <a:ext cx="11329416" cy="116742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Char char="+"/>
              <a:defRPr/>
            </a:pP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Взаимодействие длится без конца, конечного состояния нет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Char char="+"/>
              <a:defRPr/>
            </a:pP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Примеры: климат в здании, дата-центр, торговый алгоритм, управление парком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Char char="+"/>
              <a:defRPr/>
            </a:pP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 γ = 1 сумма расходится, ценность бесконечна — агент перестаёт различать состояния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017791838" name="Прямоугольник: скругленные углы 2"/>
          <p:cNvSpPr/>
          <p:nvPr/>
        </p:nvSpPr>
        <p:spPr bwMode="auto">
          <a:xfrm>
            <a:off x="429768" y="5221224"/>
            <a:ext cx="11330136" cy="93318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Термины: </a:t>
            </a:r>
            <a:r>
              <a:rPr lang="ru-RU" b="1">
                <a:latin typeface="Arial"/>
              </a:rPr>
              <a:t>непрерывная задача — задача без конца; </a:t>
            </a:r>
            <a:endParaRPr lang="ru-RU" b="1">
              <a:latin typeface="Arial"/>
            </a:endParaRPr>
          </a:p>
          <a:p>
            <a:pPr>
              <a:spcAft>
                <a:spcPts val="299"/>
              </a:spcAft>
              <a:defRPr/>
            </a:pPr>
            <a:r>
              <a:rPr lang="ru-RU" b="1">
                <a:latin typeface="Arial"/>
              </a:rPr>
              <a:t>обесценивание — учёт будущих вознаграждений с убывающим весом</a:t>
            </a:r>
            <a:endParaRPr lang="ru-RU" sz="1600" b="1">
              <a:latin typeface="Arial"/>
            </a:endParaRPr>
          </a:p>
        </p:txBody>
      </p:sp>
      <p:pic>
        <p:nvPicPr>
          <p:cNvPr id="154879872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1426600228" name="Picture 2081775820" descr="s14_infini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57199" y="2356080"/>
            <a:ext cx="8050888" cy="2690824"/>
          </a:xfrm>
          <a:prstGeom prst="rect">
            <a:avLst/>
          </a:prstGeom>
        </p:spPr>
      </p:pic>
      <p:pic>
        <p:nvPicPr>
          <p:cNvPr id="160164869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759652" y="2373756"/>
            <a:ext cx="2727331" cy="2727331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27569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Обучаем эпизодами, работаем непрерывно</a:t>
            </a:r>
            <a:endParaRPr/>
          </a:p>
        </p:txBody>
      </p:sp>
      <p:sp>
        <p:nvSpPr>
          <p:cNvPr id="760175064" name="Прямоугольник: скругленные углы 5"/>
          <p:cNvSpPr/>
          <p:nvPr/>
        </p:nvSpPr>
        <p:spPr bwMode="auto">
          <a:xfrm flipH="0" flipV="0">
            <a:off x="429768" y="1307592"/>
            <a:ext cx="7013761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Одна и та же система может учиться эпизодами,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работать без остановки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Пример: смена парка машин — эпизод для обучения, парк ездит каждый день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Тип задачи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</a:t>
            </a:r>
            <a:r>
              <a:rPr lang="ru-RU" sz="2000" b="0" i="0" u="sng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про то, как мы её ставим, </a:t>
            </a:r>
            <a:br>
              <a:rPr lang="ru-RU" sz="2000" b="0" i="0" u="sng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sng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не про то, как система работает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14814521" name="Прямоугольник: скругленные углы 2"/>
          <p:cNvSpPr/>
          <p:nvPr/>
        </p:nvSpPr>
        <p:spPr bwMode="auto">
          <a:xfrm>
            <a:off x="429768" y="5221224"/>
            <a:ext cx="1132977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Итог:</a:t>
            </a:r>
            <a:r>
              <a:rPr lang="ru-RU" b="1">
                <a:latin typeface="Arial"/>
              </a:rPr>
              <a:t> даже в непрерывной задаче эпизоды удобны для обучения</a:t>
            </a:r>
            <a:endParaRPr lang="ru-RU" sz="1600" b="1">
              <a:latin typeface="Arial"/>
            </a:endParaRPr>
          </a:p>
        </p:txBody>
      </p:sp>
      <p:pic>
        <p:nvPicPr>
          <p:cNvPr id="79028263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87233"/>
            <a:ext cx="468000" cy="468000"/>
          </a:xfrm>
          <a:prstGeom prst="rect">
            <a:avLst/>
          </a:prstGeom>
        </p:spPr>
      </p:pic>
      <p:pic>
        <p:nvPicPr>
          <p:cNvPr id="132089804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430932" y="1210701"/>
            <a:ext cx="2924302" cy="3729223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3502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Дисконтирование: зачем у будущего вес</a:t>
            </a:r>
            <a:endParaRPr/>
          </a:p>
        </p:txBody>
      </p:sp>
      <p:sp>
        <p:nvSpPr>
          <p:cNvPr id="653643816" name="Прямоугольник: скругленные углы 5"/>
          <p:cNvSpPr/>
          <p:nvPr/>
        </p:nvSpPr>
        <p:spPr bwMode="auto">
          <a:xfrm>
            <a:off x="457200" y="1325880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γ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число от 0 до 1: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 — смотрим только на следующий шаг,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1 — в бесконечность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Смысл: сегодняшнее вознаграждение ценнее будущего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Математика: сумма должна сходиться;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инженерно: далёкое будущее хуже предсказуемо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Горизонт ≈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1/(1 − γ)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 при 0,9 — десять шагов, при 0,99 — сто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951940019" name="Прямоугольник: скругленные углы 2"/>
          <p:cNvSpPr/>
          <p:nvPr/>
        </p:nvSpPr>
        <p:spPr bwMode="auto">
          <a:xfrm>
            <a:off x="429768" y="5221224"/>
            <a:ext cx="11330496" cy="120618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Термины:</a:t>
            </a:r>
            <a:r>
              <a:rPr lang="ru-RU" b="1">
                <a:latin typeface="Arial"/>
              </a:rPr>
              <a:t> коэффициент дисконтирования </a:t>
            </a:r>
            <a:r>
              <a:rPr lang="ru-RU" b="1" i="1">
                <a:latin typeface="Arial"/>
              </a:rPr>
              <a:t>γ ∈ [0, 1]</a:t>
            </a:r>
            <a:r>
              <a:rPr lang="ru-RU" b="1">
                <a:latin typeface="Arial"/>
              </a:rPr>
              <a:t> — насколько агент учитывает будущее; </a:t>
            </a:r>
            <a:br>
              <a:rPr lang="ru-RU" b="1">
                <a:latin typeface="Arial"/>
              </a:rPr>
            </a:br>
            <a:r>
              <a:rPr lang="ru-RU" b="1">
                <a:latin typeface="Arial"/>
              </a:rPr>
              <a:t>обесценивание — учёт будущего с убывающим весом</a:t>
            </a:r>
            <a:endParaRPr lang="ru-RU" sz="1600" b="1">
              <a:latin typeface="Arial"/>
            </a:endParaRPr>
          </a:p>
        </p:txBody>
      </p:sp>
      <p:pic>
        <p:nvPicPr>
          <p:cNvPr id="126566303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65536"/>
            <a:ext cx="468000" cy="468000"/>
          </a:xfrm>
          <a:prstGeom prst="rect">
            <a:avLst/>
          </a:prstGeom>
        </p:spPr>
      </p:pic>
      <p:pic>
        <p:nvPicPr>
          <p:cNvPr id="1357789264" name="Picture 2081775820" descr="s16_horizo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949440" y="2233792"/>
            <a:ext cx="3931919" cy="1293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842641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Главная мысль: ценность сейчас через ценность потом</a:t>
            </a:r>
            <a:endParaRPr/>
          </a:p>
        </p:txBody>
      </p:sp>
      <p:sp>
        <p:nvSpPr>
          <p:cNvPr id="2104620192" name="Прямоугольник: скругленные углы 5"/>
          <p:cNvSpPr/>
          <p:nvPr/>
        </p:nvSpPr>
        <p:spPr bwMode="auto">
          <a:xfrm flipH="0" flipV="0">
            <a:off x="457199" y="1465953"/>
            <a:ext cx="4091476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Ценность сейчас = вознаграждение сейчас + </a:t>
            </a:r>
            <a:r>
              <a:rPr lang="ru-RU" sz="20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γ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× ценность потом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Справа стоит та же ценность, только для следующего состояния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Бесконечный хвост свернулся в одну величину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53724325" name="Прямоугольник: скругленные углы 2"/>
          <p:cNvSpPr/>
          <p:nvPr/>
        </p:nvSpPr>
        <p:spPr bwMode="auto">
          <a:xfrm>
            <a:off x="457200" y="5553737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На этой идее стоит весь курс: итеративное оценивание и Q-обучение</a:t>
            </a:r>
            <a:endParaRPr lang="ru-RU" sz="2000" b="1">
              <a:latin typeface="Arial"/>
            </a:endParaRPr>
          </a:p>
        </p:txBody>
      </p:sp>
      <p:pic>
        <p:nvPicPr>
          <p:cNvPr id="872967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52250"/>
            <a:ext cx="468000" cy="468000"/>
          </a:xfrm>
          <a:prstGeom prst="rect">
            <a:avLst/>
          </a:prstGeom>
        </p:spPr>
      </p:pic>
      <p:pic>
        <p:nvPicPr>
          <p:cNvPr id="592139608" name="Picture 2081775820" descr="s17_idea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42058" y="1718371"/>
            <a:ext cx="7153701" cy="31527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35518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Уравнение для ценности состояния</a:t>
            </a:r>
            <a:endParaRPr/>
          </a:p>
        </p:txBody>
      </p:sp>
      <p:sp>
        <p:nvSpPr>
          <p:cNvPr id="1545480137" name="Прямоугольник: скругленные углы 5"/>
          <p:cNvSpPr/>
          <p:nvPr/>
        </p:nvSpPr>
        <p:spPr bwMode="auto">
          <a:xfrm flipH="0" flipV="0">
            <a:off x="457199" y="1325880"/>
            <a:ext cx="11329416" cy="128882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800" b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Внутренняя скобка — наша главная мысль: вознаграждение плюс обесцененная ценность потом</a:t>
            </a:r>
            <a:endParaRPr lang="ru-RU" sz="1800" b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800" b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Сумма по исходам — усреднение по среде, сумма по действиям — усреднение по стратегии</a:t>
            </a:r>
            <a:endParaRPr lang="ru-RU" sz="1800" b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800" b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Слева и справа одна и та же </a:t>
            </a:r>
            <a:r>
              <a:rPr lang="ru-RU" sz="1800" b="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</a:t>
            </a:r>
            <a:r>
              <a:rPr lang="ru-RU" sz="1800" b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 это уравнение, а не готовый ответ</a:t>
            </a:r>
            <a:endParaRPr lang="ru-RU" sz="1800" b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738760416" name="Прямоугольник: скругленные углы 2"/>
          <p:cNvSpPr/>
          <p:nvPr/>
        </p:nvSpPr>
        <p:spPr bwMode="auto">
          <a:xfrm>
            <a:off x="429768" y="5221224"/>
            <a:ext cx="11330136" cy="89255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Термин:</a:t>
            </a:r>
            <a:r>
              <a:rPr lang="ru-RU" b="1">
                <a:latin typeface="Arial"/>
              </a:rPr>
              <a:t> уравнение Беллмана для ценности состояния — связь ценности состояния </a:t>
            </a:r>
            <a:br>
              <a:rPr lang="ru-RU" b="1">
                <a:latin typeface="Arial"/>
              </a:rPr>
            </a:br>
            <a:r>
              <a:rPr lang="ru-RU" b="1">
                <a:latin typeface="Arial"/>
              </a:rPr>
              <a:t>с ценностями следующих состояний</a:t>
            </a:r>
            <a:endParaRPr lang="ru-RU" sz="1600" b="1">
              <a:latin typeface="Arial"/>
            </a:endParaRPr>
          </a:p>
        </p:txBody>
      </p:sp>
      <p:pic>
        <p:nvPicPr>
          <p:cNvPr id="165810744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562898459" name="Picture 2081775820" descr="s18_bellman_v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86968" y="3162056"/>
            <a:ext cx="10469880" cy="1365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3136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Уравнение для ценности действия</a:t>
            </a:r>
            <a:endParaRPr/>
          </a:p>
        </p:txBody>
      </p:sp>
      <p:sp>
        <p:nvSpPr>
          <p:cNvPr id="67391459" name="Прямоугольник: скругленные углы 5"/>
          <p:cNvSpPr/>
          <p:nvPr/>
        </p:nvSpPr>
        <p:spPr bwMode="auto">
          <a:xfrm flipH="0" flipV="0">
            <a:off x="457199" y="1325880"/>
            <a:ext cx="11329416" cy="125147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Убрали перебор действий по стратегии — действие уже зафиксировано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Осталось усреднение по среде: сумма по исходам с вероятностями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Внутри стоит ценность следующего состояния: </a:t>
            </a:r>
            <a:r>
              <a:rPr lang="ru-RU" sz="1800" b="0" i="1" u="sng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</a:t>
            </a:r>
            <a:r>
              <a:rPr lang="ru-RU" sz="1800" b="0" i="0" u="sng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и </a:t>
            </a:r>
            <a:r>
              <a:rPr lang="ru-RU" sz="1800" b="0" i="1" u="sng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</a:t>
            </a:r>
            <a:r>
              <a:rPr lang="ru-RU" sz="1800" b="0" i="0" u="sng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ссылаются друг на друга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916511730" name="Прямоугольник: скругленные углы 2"/>
          <p:cNvSpPr/>
          <p:nvPr/>
        </p:nvSpPr>
        <p:spPr bwMode="auto">
          <a:xfrm>
            <a:off x="429768" y="5221224"/>
            <a:ext cx="11330855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На этой паре связей работают все дальнейшие методы</a:t>
            </a:r>
            <a:endParaRPr lang="ru-RU" sz="2000" b="1">
              <a:latin typeface="Arial"/>
            </a:endParaRPr>
          </a:p>
        </p:txBody>
      </p:sp>
      <p:pic>
        <p:nvPicPr>
          <p:cNvPr id="88689419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397901291" name="Picture 2081775820" descr="s19_bellman_q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86968" y="3167175"/>
            <a:ext cx="10469880" cy="15610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99234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Считаем вручную: один шаг по лабиринту</a:t>
            </a:r>
            <a:endParaRPr/>
          </a:p>
        </p:txBody>
      </p:sp>
      <p:sp>
        <p:nvSpPr>
          <p:cNvPr id="1596051873" name="Прямоугольник: скругленные углы 5"/>
          <p:cNvSpPr/>
          <p:nvPr/>
        </p:nvSpPr>
        <p:spPr bwMode="auto">
          <a:xfrm flipH="0" flipV="0">
            <a:off x="429768" y="1307592"/>
            <a:ext cx="11215967" cy="119505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Агент в S6, действие — вправо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 вероятностью 0,8 прошли как хотели; по 0,1 — снесло вверх и вниз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Сумма по всем исходам ровно 1; −1 за шаг, +10 за выход</a:t>
            </a:r>
            <a:endParaRPr lang="ru-RU" sz="16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908194916" name="Прямоугольник: скругленные углы 2"/>
          <p:cNvSpPr/>
          <p:nvPr/>
        </p:nvSpPr>
        <p:spPr bwMode="auto">
          <a:xfrm>
            <a:off x="430391" y="5821243"/>
            <a:ext cx="11331575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Подставили числа — получили </a:t>
            </a:r>
            <a:r>
              <a:rPr lang="ru-RU" b="1" u="sng">
                <a:latin typeface="Arial"/>
              </a:rPr>
              <a:t>одно</a:t>
            </a:r>
            <a:r>
              <a:rPr lang="ru-RU" b="1">
                <a:latin typeface="Arial"/>
              </a:rPr>
              <a:t> число</a:t>
            </a:r>
            <a:endParaRPr lang="ru-RU" sz="1600" b="1">
              <a:latin typeface="Arial"/>
            </a:endParaRPr>
          </a:p>
        </p:txBody>
      </p:sp>
      <p:pic>
        <p:nvPicPr>
          <p:cNvPr id="101133224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87252"/>
            <a:ext cx="468000" cy="468000"/>
          </a:xfrm>
          <a:prstGeom prst="rect">
            <a:avLst/>
          </a:prstGeom>
        </p:spPr>
      </p:pic>
      <p:pic>
        <p:nvPicPr>
          <p:cNvPr id="796757848" name="Picture 2081775820" descr="s10_grid.png"/>
          <p:cNvPicPr>
            <a:picLocks noChangeAspect="1"/>
          </p:cNvPicPr>
          <p:nvPr/>
        </p:nvPicPr>
        <p:blipFill rotWithShape="1">
          <a:blip r:embed="rId4"/>
          <a:srcRect l="0" t="0" r="54963" b="18974"/>
          <a:stretch/>
        </p:blipFill>
        <p:spPr bwMode="auto">
          <a:xfrm flipH="0" flipV="0">
            <a:off x="1635024" y="2762727"/>
            <a:ext cx="3314297" cy="2524506"/>
          </a:xfrm>
          <a:prstGeom prst="rect">
            <a:avLst/>
          </a:prstGeom>
        </p:spPr>
      </p:pic>
      <p:pic>
        <p:nvPicPr>
          <p:cNvPr id="2099358390" name="Picture 2081775820" descr="s21_one_step_tre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318983" y="2589545"/>
            <a:ext cx="5271529" cy="3231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9346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Лучшая стратегия: максимум по действиям</a:t>
            </a:r>
            <a:endParaRPr/>
          </a:p>
        </p:txBody>
      </p:sp>
      <p:sp>
        <p:nvSpPr>
          <p:cNvPr id="1558639768" name="Прямоугольник: скругленные углы 5"/>
          <p:cNvSpPr/>
          <p:nvPr/>
        </p:nvSpPr>
        <p:spPr bwMode="auto">
          <a:xfrm>
            <a:off x="457200" y="1325880"/>
            <a:ext cx="5349240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каждом состоянии сравниваем ценности действий и берём наибольшую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Такая стратегия называется жадной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 ценности действия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Звёздочка в обозначениях — «оптимальная»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Оптимальные ценности не зависят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 того, какой стратегии мы следовали раньше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930180849" name="Прямоугольник: скругленные углы 2"/>
          <p:cNvSpPr/>
          <p:nvPr/>
        </p:nvSpPr>
        <p:spPr bwMode="auto">
          <a:xfrm>
            <a:off x="429768" y="5221224"/>
            <a:ext cx="11330136" cy="93318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0">
                <a:latin typeface="Arial"/>
              </a:rPr>
              <a:t>Термины:</a:t>
            </a:r>
            <a:r>
              <a:rPr lang="ru-RU" b="1">
                <a:latin typeface="Arial"/>
              </a:rPr>
              <a:t> оптимальная стратегия — выбирает действие с наибольшей ценностью; </a:t>
            </a:r>
            <a:endParaRPr lang="ru-RU" b="1">
              <a:latin typeface="Arial"/>
            </a:endParaRPr>
          </a:p>
          <a:p>
            <a:pPr>
              <a:spcAft>
                <a:spcPts val="299"/>
              </a:spcAft>
              <a:defRPr/>
            </a:pPr>
            <a:r>
              <a:rPr lang="ru-RU" b="1">
                <a:latin typeface="Arial"/>
              </a:rPr>
              <a:t>жадная стратегия — выбор действия с максимальной ценностью</a:t>
            </a:r>
            <a:endParaRPr lang="ru-RU" sz="1600" b="1">
              <a:latin typeface="Arial"/>
            </a:endParaRPr>
          </a:p>
        </p:txBody>
      </p:sp>
      <p:pic>
        <p:nvPicPr>
          <p:cNvPr id="64964531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65004349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02132" y="2726055"/>
            <a:ext cx="4572000" cy="85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894321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Куда идём дальше</a:t>
            </a:r>
            <a:endParaRPr/>
          </a:p>
        </p:txBody>
      </p:sp>
      <p:sp>
        <p:nvSpPr>
          <p:cNvPr id="119118066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Мы получили уравнения — но ещё не умеем их решать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Решать будем на лекции 5: итеративное оценивание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Следующая лекция, 2 октября, — многорукий бандит: там состояние одно, и всё проще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Уравнения Беллмана останутся с нами до конца курса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811744933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Материалы </a:t>
            </a:r>
            <a:r>
              <a:rPr lang="ru-RU" b="1">
                <a:latin typeface="Arial"/>
              </a:rPr>
              <a:t>лекции и чат группы — по ссылке</a:t>
            </a:r>
            <a:endParaRPr lang="ru-RU" sz="1600" b="1">
              <a:latin typeface="Arial"/>
            </a:endParaRPr>
          </a:p>
        </p:txBody>
      </p:sp>
      <p:pic>
        <p:nvPicPr>
          <p:cNvPr id="3675799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92853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Пять мыслей</a:t>
            </a:r>
            <a:endParaRPr/>
          </a:p>
        </p:txBody>
      </p:sp>
      <p:sp>
        <p:nvSpPr>
          <p:cNvPr id="596008482" name="Прямоугольник: скругленные углы 4"/>
          <p:cNvSpPr/>
          <p:nvPr/>
        </p:nvSpPr>
        <p:spPr bwMode="auto">
          <a:xfrm>
            <a:off x="432672" y="1671437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1</a:t>
            </a:r>
            <a:endParaRPr sz="1600"/>
          </a:p>
          <a:p>
            <a:pPr>
              <a:spcAft>
                <a:spcPts val="600"/>
              </a:spcAft>
              <a:defRPr/>
            </a:pPr>
            <a:r>
              <a:rPr lang="ru-RU" sz="1600" b="1">
                <a:solidFill>
                  <a:schemeClr val="tx1"/>
                </a:solidFill>
                <a:latin typeface="Arial"/>
              </a:rPr>
              <a:t>Ценность состояния — сколько агент </a:t>
            </a:r>
            <a:br>
              <a:rPr lang="ru-RU" sz="1600" b="1">
                <a:solidFill>
                  <a:schemeClr val="tx1"/>
                </a:solidFill>
                <a:latin typeface="Arial"/>
              </a:rPr>
            </a:br>
            <a:r>
              <a:rPr lang="ru-RU" sz="1600" b="1">
                <a:solidFill>
                  <a:schemeClr val="tx1"/>
                </a:solidFill>
                <a:latin typeface="Arial"/>
              </a:rPr>
              <a:t>в среднем получит отсюда, действуя </a:t>
            </a:r>
            <a:br>
              <a:rPr lang="ru-RU" sz="1600" b="1">
                <a:solidFill>
                  <a:schemeClr val="tx1"/>
                </a:solidFill>
                <a:latin typeface="Arial"/>
              </a:rPr>
            </a:br>
            <a:r>
              <a:rPr lang="ru-RU" sz="1600" b="1">
                <a:solidFill>
                  <a:schemeClr val="tx1"/>
                </a:solidFill>
                <a:latin typeface="Arial"/>
              </a:rPr>
              <a:t>по стратегии</a:t>
            </a:r>
            <a:endParaRPr lang="ru-RU" sz="3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400">
                <a:solidFill>
                  <a:schemeClr val="tx1"/>
                </a:solidFill>
                <a:latin typeface="Arial"/>
              </a:rPr>
              <a:t>ценность действия — то же для конкретного шага</a:t>
            </a:r>
            <a:endParaRPr sz="1600"/>
          </a:p>
        </p:txBody>
      </p:sp>
      <p:sp>
        <p:nvSpPr>
          <p:cNvPr id="1196209738" name="Прямоугольник: скругленные углы 5"/>
          <p:cNvSpPr/>
          <p:nvPr/>
        </p:nvSpPr>
        <p:spPr bwMode="auto">
          <a:xfrm>
            <a:off x="3324652" y="1671437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2</a:t>
            </a:r>
            <a:endParaRPr sz="1600"/>
          </a:p>
          <a:p>
            <a:pPr>
              <a:spcAft>
                <a:spcPts val="600"/>
              </a:spcAft>
              <a:defRPr/>
            </a:pPr>
            <a:r>
              <a:rPr lang="ru-RU" sz="1600" b="1">
                <a:solidFill>
                  <a:schemeClr val="tx1"/>
                </a:solidFill>
                <a:latin typeface="Arial"/>
              </a:rPr>
              <a:t>Ценность состояния — средневзвешенная ценность действий</a:t>
            </a:r>
            <a:endParaRPr lang="ru-RU" sz="14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400">
                <a:solidFill>
                  <a:schemeClr val="tx1"/>
                </a:solidFill>
                <a:latin typeface="Arial"/>
              </a:rPr>
              <a:t>на этом стоит улучшение стратегии</a:t>
            </a:r>
            <a:endParaRPr sz="1600"/>
          </a:p>
        </p:txBody>
      </p:sp>
      <p:sp>
        <p:nvSpPr>
          <p:cNvPr id="168612650" name="Прямоугольник: скругленные углы 7"/>
          <p:cNvSpPr/>
          <p:nvPr/>
        </p:nvSpPr>
        <p:spPr bwMode="auto">
          <a:xfrm>
            <a:off x="6202346" y="1671437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3</a:t>
            </a:r>
            <a:endParaRPr sz="1600"/>
          </a:p>
          <a:p>
            <a:pPr>
              <a:spcAft>
                <a:spcPts val="600"/>
              </a:spcAft>
              <a:defRPr/>
            </a:pPr>
            <a:r>
              <a:rPr lang="ru-RU" sz="1600" b="1">
                <a:solidFill>
                  <a:schemeClr val="tx1"/>
                </a:solidFill>
                <a:latin typeface="Arial"/>
              </a:rPr>
              <a:t>Модель мира — вероятности: что будет после действия</a:t>
            </a:r>
            <a:endParaRPr lang="ru-RU" sz="14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400">
                <a:solidFill>
                  <a:schemeClr val="tx1"/>
                </a:solidFill>
                <a:latin typeface="Arial"/>
              </a:rPr>
              <a:t>сумма вероятностей по исходам равна единице</a:t>
            </a:r>
            <a:endParaRPr sz="1600"/>
          </a:p>
        </p:txBody>
      </p:sp>
      <p:sp>
        <p:nvSpPr>
          <p:cNvPr id="1266674674" name="Прямоугольник: скругленные углы 8"/>
          <p:cNvSpPr/>
          <p:nvPr/>
        </p:nvSpPr>
        <p:spPr bwMode="auto">
          <a:xfrm>
            <a:off x="9075279" y="1671437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4</a:t>
            </a:r>
            <a:endParaRPr sz="1600"/>
          </a:p>
          <a:p>
            <a:pPr>
              <a:spcAft>
                <a:spcPts val="600"/>
              </a:spcAft>
              <a:defRPr/>
            </a:pPr>
            <a:r>
              <a:rPr lang="ru-RU" sz="1600" b="1">
                <a:solidFill>
                  <a:schemeClr val="tx1"/>
                </a:solidFill>
                <a:latin typeface="Arial"/>
              </a:rPr>
              <a:t>Марковское свойство: достаточно текущего состояния</a:t>
            </a:r>
            <a:endParaRPr lang="ru-RU" sz="14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400">
                <a:solidFill>
                  <a:schemeClr val="tx1"/>
                </a:solidFill>
                <a:latin typeface="Arial"/>
              </a:rPr>
              <a:t>чего не хватает — дописываем в состояние</a:t>
            </a:r>
            <a:endParaRPr sz="1600"/>
          </a:p>
        </p:txBody>
      </p:sp>
      <p:sp>
        <p:nvSpPr>
          <p:cNvPr id="323396796" name="Прямоугольник: скругленные углы 9"/>
          <p:cNvSpPr/>
          <p:nvPr/>
        </p:nvSpPr>
        <p:spPr bwMode="auto">
          <a:xfrm flipH="0" flipV="0">
            <a:off x="432673" y="4806186"/>
            <a:ext cx="11325065" cy="10021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107982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5. Ценность сейчас = </a:t>
            </a:r>
            <a:r>
              <a:rPr lang="ru-RU" sz="2200" b="1" i="1">
                <a:latin typeface="Arial"/>
              </a:rPr>
              <a:t>вознаграждение сейчас + γ × ценность потом</a:t>
            </a:r>
            <a:endParaRPr lang="ru-RU" sz="24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2000">
                <a:latin typeface="Arial"/>
              </a:rPr>
              <a:t>Если запомнить только одну мысль — пусть это будет пятая</a:t>
            </a:r>
            <a:endParaRPr sz="2000"/>
          </a:p>
        </p:txBody>
      </p:sp>
      <p:pic>
        <p:nvPicPr>
          <p:cNvPr id="2130287569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4" y="5019010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011982" name="Прямоугольник: скругленные углы 12"/>
          <p:cNvSpPr/>
          <p:nvPr/>
        </p:nvSpPr>
        <p:spPr bwMode="auto">
          <a:xfrm flipH="0" flipV="0">
            <a:off x="433071" y="2171893"/>
            <a:ext cx="5374048" cy="4140752"/>
          </a:xfrm>
          <a:prstGeom prst="roundRect">
            <a:avLst>
              <a:gd name="adj" fmla="val 2780"/>
            </a:avLst>
          </a:prstGeom>
          <a:solidFill>
            <a:srgbClr val="EBF2F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43977" tIns="647899" rIns="143977" bIns="143977" numCol="1" spcCol="0" rtlCol="0" fromWordArt="0" anchor="t" anchorCtr="0" forceAA="0" compatLnSpc="1">
            <a:prstTxWarp prst="textNoShape"/>
            <a:no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Что сделать:</a:t>
            </a:r>
            <a:endParaRPr lang="ru-RU" sz="1600" b="1">
              <a:solidFill>
                <a:schemeClr val="bg2"/>
              </a:solidFill>
              <a:latin typeface="Arial"/>
            </a:endParaRPr>
          </a:p>
          <a:p>
            <a:pPr marL="179982" indent="-179982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>
                <a:solidFill>
                  <a:schemeClr val="accent4"/>
                </a:solidFill>
                <a:latin typeface="Arial"/>
                <a:cs typeface="Arial"/>
              </a:rPr>
              <a:t>взять свою задачу из задания по лекции 2</a:t>
            </a:r>
            <a:endParaRPr sz="1600"/>
          </a:p>
          <a:p>
            <a:pPr marL="179982" indent="-179982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>
                <a:solidFill>
                  <a:schemeClr val="accent4"/>
                </a:solidFill>
                <a:latin typeface="Arial"/>
                <a:cs typeface="Arial"/>
              </a:rPr>
              <a:t>выписать два-три перехода: из какого состояния, какое действие, куда попадём, </a:t>
            </a:r>
            <a:br>
              <a:rPr lang="ru-RU" sz="1600">
                <a:solidFill>
                  <a:schemeClr val="accent4"/>
                </a:solidFill>
                <a:latin typeface="Arial"/>
                <a:cs typeface="Arial"/>
              </a:rPr>
            </a:br>
            <a:r>
              <a:rPr lang="ru-RU" sz="1600">
                <a:solidFill>
                  <a:schemeClr val="accent4"/>
                </a:solidFill>
                <a:latin typeface="Arial"/>
                <a:cs typeface="Arial"/>
              </a:rPr>
              <a:t>какое вознаграждение</a:t>
            </a:r>
            <a:endParaRPr sz="1600"/>
          </a:p>
          <a:p>
            <a:pPr marL="179982" indent="-179982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>
                <a:solidFill>
                  <a:schemeClr val="accent4"/>
                </a:solidFill>
                <a:latin typeface="Arial"/>
                <a:cs typeface="Arial"/>
              </a:rPr>
              <a:t>поставить вероятности так, чтобы в сумме была единица</a:t>
            </a:r>
            <a:endParaRPr sz="1600"/>
          </a:p>
          <a:p>
            <a:pPr marL="179982" indent="-179982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>
                <a:solidFill>
                  <a:schemeClr val="accent4"/>
                </a:solidFill>
                <a:latin typeface="Arial"/>
                <a:cs typeface="Arial"/>
              </a:rPr>
              <a:t>принести на листке к следующей лекции, </a:t>
            </a:r>
            <a:br>
              <a:rPr lang="ru-RU" sz="1600">
                <a:solidFill>
                  <a:schemeClr val="accent4"/>
                </a:solidFill>
                <a:latin typeface="Arial"/>
                <a:cs typeface="Arial"/>
              </a:rPr>
            </a:br>
            <a:r>
              <a:rPr lang="ru-RU" sz="1600">
                <a:solidFill>
                  <a:schemeClr val="accent4"/>
                </a:solidFill>
                <a:latin typeface="Arial"/>
                <a:cs typeface="Arial"/>
              </a:rPr>
              <a:t>2 октября</a:t>
            </a:r>
            <a:endParaRPr sz="1600"/>
          </a:p>
          <a:p>
            <a:pPr marL="179982" indent="-179982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>
                <a:solidFill>
                  <a:schemeClr val="accent4"/>
                </a:solidFill>
                <a:latin typeface="Arial"/>
                <a:cs typeface="Arial"/>
              </a:rPr>
              <a:t>Типичная ошибка: вероятности описывают поведение среды, а не выбор агента — выбор описывает стратегия</a:t>
            </a:r>
            <a:endParaRPr sz="1600"/>
          </a:p>
        </p:txBody>
      </p:sp>
      <p:sp>
        <p:nvSpPr>
          <p:cNvPr id="1785540533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3" y="423292"/>
            <a:ext cx="9605048" cy="369332"/>
          </a:xfrm>
        </p:spPr>
        <p:txBody>
          <a:bodyPr/>
          <a:lstStyle/>
          <a:p>
            <a:pPr>
              <a:defRPr/>
            </a:pPr>
            <a:r>
              <a:rPr lang="ru-RU"/>
              <a:t>Задание</a:t>
            </a:r>
            <a:endParaRPr/>
          </a:p>
        </p:txBody>
      </p:sp>
      <p:sp>
        <p:nvSpPr>
          <p:cNvPr id="1660998007" name="Текст 4"/>
          <p:cNvSpPr txBox="1"/>
          <p:nvPr/>
        </p:nvSpPr>
        <p:spPr bwMode="auto">
          <a:xfrm>
            <a:off x="342888" y="1284847"/>
            <a:ext cx="6616579" cy="693403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Продолжение задания по лекции 2</a:t>
            </a:r>
            <a:endParaRPr sz="1850"/>
          </a:p>
        </p:txBody>
      </p:sp>
      <p:pic>
        <p:nvPicPr>
          <p:cNvPr id="456038579" name="Рисунок 16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4928" y="2213833"/>
            <a:ext cx="647900" cy="647900"/>
          </a:xfrm>
          <a:prstGeom prst="rect">
            <a:avLst/>
          </a:prstGeom>
        </p:spPr>
      </p:pic>
      <p:pic>
        <p:nvPicPr>
          <p:cNvPr id="822877703" name="Рисунок 14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02356" y="1631548"/>
            <a:ext cx="6545484" cy="43636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DocSecurity>0</DocSecurity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186</cp:revision>
  <dcterms:created xsi:type="dcterms:W3CDTF">2023-02-20T15:32:58Z</dcterms:created>
  <dcterms:modified xsi:type="dcterms:W3CDTF">2026-09-24T22:06:39Z</dcterms:modified>
  <cp:category/>
  <cp:contentStatus/>
  <cp:version/>
</cp:coreProperties>
</file>