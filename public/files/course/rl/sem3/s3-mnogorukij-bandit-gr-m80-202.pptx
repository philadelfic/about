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6318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07865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6908800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8429B4C7-5472-D309-797B-EC6E311286C5}" type="datetimeFigureOut">
              <a:rPr lang="ru-RU"/>
              <a:t/>
            </a:fld>
            <a:endParaRPr/>
          </a:p>
        </p:txBody>
      </p:sp>
      <p:sp>
        <p:nvSpPr>
          <p:cNvPr id="1204602848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8122164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6908800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DA47C534-9EC2-B41C-4196-F62FB0185142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333149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5165303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2020927050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51367459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1707293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1258269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34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039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000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B899D-A44C-FCF3-B833-1BBDAAA8D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281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19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621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5C42A7-7875-F83F-F2D8-014B00FF66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590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617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899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BA33C9-0800-98D5-ED4B-D699E95714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91014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210619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10 минут. Вопросы по памяти, без конспектов и телефонов. Если молчат — иду по списку со следующего слайда сверху вниз.</a:t>
            </a:r>
            <a:endParaRPr/>
          </a:p>
        </p:txBody>
      </p:sp>
      <p:sp>
        <p:nvSpPr>
          <p:cNvPr id="116407086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83243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1486515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Отвечает студент — я докручиваю неполное. Опоры: SARSA учится по своей стратегии (on-policy), Q-обучение — по жадной цели (off-policy); TD-ошибка — на сколько подправить q; ε-жадная — ради разведки; γ = 0 — видим только ближайшее вознаграждение; таблица растёт как «состояния × действия»; сходимость — не единый ответ.</a:t>
            </a:r>
            <a:endParaRPr/>
          </a:p>
        </p:txBody>
      </p:sp>
      <p:sp>
        <p:nvSpPr>
          <p:cNvPr id="1476121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54926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0466296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Путь курса: лабиринт с моделью → SARSA/Q по опыту, но много состояний → бандит: одно состояние, вознаграждение сразу, модели нет. Ключевая фраза: сегодня модели нет вообще.</a:t>
            </a:r>
            <a:endParaRPr/>
          </a:p>
        </p:txBody>
      </p:sp>
      <p:sp>
        <p:nvSpPr>
          <p:cNvPr id="87735729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84358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6682033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Мини-лекция 15 минут. Сцена из анонса лекции 4 возвращается.</a:t>
            </a:r>
            <a:endParaRPr/>
          </a:p>
        </p:txBody>
      </p:sp>
      <p:sp>
        <p:nvSpPr>
          <p:cNvPr id="130725796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40120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7672781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Отдачи 0,3 / 0,8 / 1,3 — их знает только среда. Спросить: первый спринт — любой, к двадцатому — лучший по опыту. Не фиксировать жёстко.</a:t>
            </a:r>
            <a:endParaRPr/>
          </a:p>
        </p:txBody>
      </p:sp>
      <p:sp>
        <p:nvSpPr>
          <p:cNvPr id="187691001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64871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06499133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Одно состояние, рычаги, вознаграждение сразу, средние невидимы. Цель — сумма за все спринты: ошибка оценки ничего не стоит, стоит выбор плохого рычага. Плашка снизу: состояние одно — упрощение; если состояние меняется, это блуждание, и оно вернётся в лабораторной 2 (название лабы в РПД — про это).</a:t>
            </a:r>
            <a:endParaRPr/>
          </a:p>
        </p:txBody>
      </p:sp>
      <p:sp>
        <p:nvSpPr>
          <p:cNvPr id="140418325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32458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0095431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Вырожденный случай: рычаг один. Спрашиваю: что остаётся делать, если выбора нет? Ответ — только оценивать, сколько он приносит. Разведка не нужна, ошибка оценки ничем не грозит: выбирать не из чего. Это проверка понимания: суть бандита — не в оценке, а в выборе.</a:t>
            </a:r>
            <a:endParaRPr/>
          </a:p>
        </p:txBody>
      </p:sp>
      <p:sp>
        <p:nvSpPr>
          <p:cNvPr id="45993293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5426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4447127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Имя — от игровых автоматов: bandit, «однорукий» — с одним рычагом. Один вариант — проверка одной гипотезы, «катим — не катим», термостат. Несколько — подходы, каналы, гипотезы, ставки. A/B-тест — тоже бандит: варианты, трафик, доход. Держим связь с работой: выбор под неопределённостью — это про нас.</a:t>
            </a:r>
            <a:endParaRPr/>
          </a:p>
        </p:txBody>
      </p:sp>
      <p:sp>
        <p:nvSpPr>
          <p:cNvPr id="66133626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44412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6695753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Разбор ряда 1, 0, 2: 1 → 0,5 → 1,0. Инкрементально = честное среднее, но храним одно число и счётчик. Первое наблюдение якорит оценку.</a:t>
            </a:r>
            <a:endParaRPr/>
          </a:p>
        </p:txBody>
      </p:sp>
      <p:sp>
        <p:nvSpPr>
          <p:cNvPr id="21756189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51167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1839250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 лабиринте жадная выиграла (1,72 против 1,18) — там оценки честные, из модели. Здесь модели нет — история перевернётся. Ответ: разведка находит лучший рычаг, плата — доля спринтов на слабых подходах.</a:t>
            </a:r>
            <a:endParaRPr/>
          </a:p>
        </p:txBody>
      </p:sp>
      <p:sp>
        <p:nvSpPr>
          <p:cNvPr id="204963580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73900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1601426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При α = 0,5 тот же ряд 1, 0, 2 даёт 1 → 0,5 → 1,25. Вес первого наблюдения: ⅓ ≈ 0,33 против 0,5² = 0,25; к четвёртому шагу 0,125. α — про нестационарность: мир меняется, честное среднее помнит вчерашний мир.</a:t>
            </a:r>
            <a:endParaRPr/>
          </a:p>
        </p:txBody>
      </p:sp>
      <p:sp>
        <p:nvSpPr>
          <p:cNvPr id="124374725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42013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7792852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10 минут, тетрадей нет: два вопроса вслух (голосуют руками), потом смотрим на экране. Запускаю сам — свои запуски у них начнутся с 19-го слайда, когда пришлю файлы.</a:t>
            </a:r>
            <a:endParaRPr/>
          </a:p>
        </p:txBody>
      </p:sp>
      <p:sp>
        <p:nvSpPr>
          <p:cNvPr id="15461303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55040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690649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Вопросы: после второго спринта 0,5 или 1,0? После третьего — 1,0 или 1,5? Голосуют руками, видно, кто держит формулу. Не подсказывать: ответ на следующем слайде.</a:t>
            </a:r>
            <a:endParaRPr/>
          </a:p>
        </p:txBody>
      </p:sp>
      <p:sp>
        <p:nvSpPr>
          <p:cNvPr id="13876163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59530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6788926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Показываю agent.py: класс, оценки, счётчики, ветка first — и пустое место. Не подсказываю: спрашиваю, чего не хватает, чтобы оценка двигалась. Ждём «сдвинуть к наблюдению», «прибавить разницу». Если молчат — показываю ряд 1, 0, 2 и спрашиваю, каким должно быть следующее число.</a:t>
            </a:r>
            <a:endParaRPr/>
          </a:p>
        </p:txBody>
      </p:sp>
      <p:sp>
        <p:nvSpPr>
          <p:cNvPr id="73116207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53058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2527587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Вот она — строка: self.q[act] += step * (reward - self.q[act]). Вписывают в agent.py, запускают python3 agent.py: внизу печатается ряд 1 → 0,5 → 1,0 и 1 → 0,5 → 1,25. Дальше — «а если шаг постоянный?», это следующий слайд.</a:t>
            </a:r>
            <a:endParaRPr/>
          </a:p>
        </p:txBody>
      </p:sp>
      <p:sp>
        <p:nvSpPr>
          <p:cNvPr id="45859121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20141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9738125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Теперь сами: в agent.py внизу проверка с alpha = 0.5 — она печатает ряд 1 → 0,5 → 1,25. Меняют alpha на 0.1 и 0.9, запускают снова — ряд уходит от честного среднего. Вопрос «почему не вернулось к 1,0» — свежее весит больше; вес первого после n шагов = (1 − α)^(n−1). Две-три минуты, потом возвращаю внимание.</a:t>
            </a:r>
            <a:endParaRPr/>
          </a:p>
        </p:txBody>
      </p:sp>
      <p:sp>
        <p:nvSpPr>
          <p:cNvPr id="7451229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7639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42952084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Это маршрут блока, а не рассказ: 22 — среда, 23 — агент, 24 — стратегии, 25 — прогон. На каждом шаге свой запуск и своя строка [ok]: видно, у кого не пошло, сразу. Файлы у них с 15-го слайда — заново ничего не присылаю.</a:t>
            </a:r>
            <a:endParaRPr/>
          </a:p>
        </p:txBody>
      </p:sp>
      <p:sp>
        <p:nvSpPr>
          <p:cNvPr id="83725966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89857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7444113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Минута на поиск в файлах: где случайность (rng в среде), где оценки (q в агенте), кто выбирает (act). Спрашиваю трёх человек, сам не рассказываю. Ответ: случайность живёт в среде; состав работы тот же, что на семинаре 2.</a:t>
            </a:r>
            <a:endParaRPr/>
          </a:p>
        </p:txBody>
      </p:sp>
      <p:sp>
        <p:nvSpPr>
          <p:cNvPr id="170319669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54696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0676908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делаем: запускают python3 environment.py и сверяют семь строк [ok] и средние 0,3 / 0,8 / 1,3. Читать код вслух построчно. Средние выписаны в комментариях — среда их никому не отдаёт: отдачу не знает никто, даже мы. Кто хочет — меняет число в PROBS и возвращает.</a:t>
            </a:r>
            <a:endParaRPr/>
          </a:p>
        </p:txBody>
      </p:sp>
      <p:sp>
        <p:nvSpPr>
          <p:cNvPr id="64472489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7143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614583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делаем: вписывают в update() шаг Q ← Q + step·(R − Q) — тот самый, что вывели. Запускают python3 agent.py: пять [ok], в первой строке 1 → 0,5 → 1,0. Ветка first — якорение: присваивание, не движение; step = α или честное 1/n. У кого [нет] — руку вверх, разбираем сразу.</a:t>
            </a:r>
            <a:endParaRPr/>
          </a:p>
        </p:txBody>
      </p:sp>
      <p:sp>
        <p:nvSpPr>
          <p:cNvPr id="48404259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25526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7757019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делаем: вписывают act() — ε-жадный выбор, одна ветка на пару. Запускают python3 run.py --exp --strategy UCB (или свою): проверки [ok] и три кривых. Пять минут, каждая пара называет доход и долю C — сводим в таблицу. ε платит долей шагов; UCB — бонусом неуверенности; оптимизм живёт в стартовых Q0. Градиентную не разбираем — практики 4–6.</a:t>
            </a:r>
            <a:endParaRPr/>
          </a:p>
        </p:txBody>
      </p:sp>
      <p:sp>
        <p:nvSpPr>
          <p:cNvPr id="156175296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86872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922051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делаем: python3 run.py --exp — три кривых одной командой. Затем задание 1 из кода: EXP_MODE = "greedy" и любой seed — где застряли? Все на A: разведки нет, а при равных оценках жадность берёт первый по алфавиту. Цена незнания: жадная недобирает ≈ 990 задач, UCB — ≈ 80. Остальные задания — дома, по одному параметру.</a:t>
            </a:r>
            <a:endParaRPr/>
          </a:p>
        </p:txBody>
      </p:sp>
      <p:sp>
        <p:nvSpPr>
          <p:cNvPr id="213768879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97147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9310230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Одной фразой: скользящее среднее, окно 50; жадная — прямая внизу, остальные ползут к потолку 1,3. Картинка перерисована крупно: шрифт и линии видно с последнего ряда. Эту же они видели в --exp, поэтому не разбирать; такую построят в лабораторной 2.</a:t>
            </a:r>
            <a:endParaRPr/>
          </a:p>
        </p:txBody>
      </p:sp>
      <p:sp>
        <p:nvSpPr>
          <p:cNvPr id="94985319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06471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7647474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Пять минут: пары называют свои числа — стратегия, доход, доля C; пишу в таблицу на доске. Сравниваем с эталоном 0,31 / 1,12 / 1,26 / 1,22 / 1,24. Расхождение — не ошибка: другой seed, другой ε или c. У кого числа заметно ниже — смотрим, что вписали. Это же заготовка отчёта.</a:t>
            </a:r>
            <a:endParaRPr/>
          </a:p>
        </p:txBody>
      </p:sp>
      <p:sp>
        <p:nvSpPr>
          <p:cNvPr id="202694639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69109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1261878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Пройти по пунктам слайда, ничего нового не добавлять. Темп спокойный.</a:t>
            </a:r>
            <a:endParaRPr/>
          </a:p>
        </p:txBody>
      </p:sp>
      <p:sp>
        <p:nvSpPr>
          <p:cNvPr id="2059978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88081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705760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ДЗ к следующему занятию, а не «когда-нибудь»: дописать три файла, два графика, три вывода с числами, таблица своих чисел по пяти стратегиям. К РК №3 (27.10 / 30.10) повторяют сами — разбора на занятии не будет. Начнём следующее занятие с их чисел: сведём таблицу и разберём расхождения. Каркас — на портале после занятия.</a:t>
            </a:r>
            <a:endParaRPr/>
          </a:p>
        </p:txBody>
      </p:sp>
      <p:sp>
        <p:nvSpPr>
          <p:cNvPr id="201937886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227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280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965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C90EB-CFBE-50C3-C55C-4132CAC60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464681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735249617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111923227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735444407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1265466689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94800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05408007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6439471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503157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129333245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677205211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599208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1153893980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1107269963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1296943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980984083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131452502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24948787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80825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713074650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35141131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90934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9626396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2126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410968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8142264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37384126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490764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26970403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4156986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58089238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3373664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78681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4563623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83280090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73320626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6535608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325911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65384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16709054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05630897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960521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99800009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73843318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757521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99536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13203686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1964283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25882765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49200678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78485086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4288020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60806767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21212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98492512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38869845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7620740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03090050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482445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086899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50946324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454580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48955163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2421572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27645260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88533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56161476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2662463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23439200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871970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6052162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59294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630222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6649044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22650386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06520958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316929229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602490576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340103143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13001711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13320916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07185921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39113705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464317215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82739755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10248397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86739629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910743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687289664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354869744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679262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85896759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652402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246888" y="1252728"/>
            <a:ext cx="8485632" cy="246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rgbClr val="00ADEB"/>
                </a:solidFill>
              </a:rPr>
              <a:t>Семинар 3 · 23 октября 2026 · старт лабораторной 2</a:t>
            </a:r>
            <a:endParaRPr/>
          </a:p>
        </p:txBody>
      </p:sp>
      <p:sp>
        <p:nvSpPr>
          <p:cNvPr id="70875245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6888" y="256032"/>
            <a:ext cx="8467344" cy="148132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40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Многорукий бандит: выбор без модели мира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3814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Блоки занятия</a:t>
            </a:r>
            <a:endParaRPr/>
          </a:p>
        </p:txBody>
      </p:sp>
      <p:sp>
        <p:nvSpPr>
          <p:cNvPr id="2001596195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Разбор лекции 6: SARSA и Q-обучение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Мини-лекция: бандит и оценка действий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 двигается оценка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Эталон в коде: 1000 спринтов тимлида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Итоги и задание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91058993" name="Прямоугольник: скругленные углы 2"/>
          <p:cNvSpPr/>
          <p:nvPr/>
        </p:nvSpPr>
        <p:spPr bwMode="auto">
          <a:xfrm flipH="0" flipV="0">
            <a:off x="429766" y="5221224"/>
            <a:ext cx="11333735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Сначала обсуждаем — потом смотрим</a:t>
            </a:r>
            <a:endParaRPr lang="ru-RU" sz="2200" b="1">
              <a:latin typeface="Arial"/>
            </a:endParaRPr>
          </a:p>
        </p:txBody>
      </p:sp>
      <p:pic>
        <p:nvPicPr>
          <p:cNvPr id="17417488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3598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64421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Цели занятия</a:t>
            </a:r>
            <a:endParaRPr/>
          </a:p>
        </p:txBody>
      </p:sp>
      <p:sp>
        <p:nvSpPr>
          <p:cNvPr id="1119951656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Понять постановку многорукого бандита: одно состояние, действия-рычаги, вознаграждение сразу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Научиться оценивать ценность действия из опыта: честное среднее 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 постоянный шаг α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Разобрать пять стратегий: жадную, ε-жадную, оптимистичную, UCB; градиентную — назвать, разбор на практиках 4–6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Запустить эталон «1000 спринтов» и сверить числа с кодом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Забрать каркас лабораторной 2 с пропусками — задание на портале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70062387" name="Прямоугольник: скругленные углы 2"/>
          <p:cNvSpPr/>
          <p:nvPr/>
        </p:nvSpPr>
        <p:spPr bwMode="auto">
          <a:xfrm>
            <a:off x="418608" y="5221224"/>
            <a:ext cx="11342014" cy="73003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Что унесёте с занятия</a:t>
            </a:r>
            <a:endParaRPr lang="ru-RU" sz="2400" b="1">
              <a:latin typeface="Arial"/>
            </a:endParaRPr>
          </a:p>
        </p:txBody>
      </p:sp>
      <p:pic>
        <p:nvPicPr>
          <p:cNvPr id="167822476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5224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67348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Разбор лекции 6</a:t>
            </a:r>
            <a:endParaRPr/>
          </a:p>
        </p:txBody>
      </p:sp>
      <p:sp>
        <p:nvSpPr>
          <p:cNvPr id="336973158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На прошлой лекции — SARSA и Q-обучение: учимся по опыту эпизодов</a:t>
            </a:r>
            <a:endParaRPr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Начинаем с ваших вопросов — отвечаем по памяти, без подглядываний</a:t>
            </a:r>
            <a:endParaRPr/>
          </a:p>
        </p:txBody>
      </p:sp>
      <p:sp>
        <p:nvSpPr>
          <p:cNvPr id="1871789823" name="Прямоугольник: скругленные углы 2"/>
          <p:cNvSpPr/>
          <p:nvPr/>
        </p:nvSpPr>
        <p:spPr bwMode="auto">
          <a:xfrm>
            <a:off x="429768" y="5221224"/>
            <a:ext cx="1133049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Вопросы по лекции 16.10</a:t>
            </a:r>
            <a:endParaRPr lang="ru-RU" sz="2000" b="1">
              <a:latin typeface="Arial"/>
            </a:endParaRPr>
          </a:p>
        </p:txBody>
      </p:sp>
      <p:pic>
        <p:nvPicPr>
          <p:cNvPr id="105640752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9708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Вопросы по лекции 6</a:t>
            </a:r>
            <a:endParaRPr/>
          </a:p>
        </p:txBody>
      </p:sp>
      <p:sp>
        <p:nvSpPr>
          <p:cNvPr id="1122937350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Чем SARSA отличается от Q-обучения: единая или разделённая стратегия?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такое TD-ошибка и зачем она нужна?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Зачем нужна ε-жадная стратегия, а не чисто жадная?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будет, если взять γ = 0?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Почему таблицу q можно хранить целиком только в маленьких задачах?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Методы сходятся к одному ответу — или к разным?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05757027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Что запомнилось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не подглядываем в конспект/портал</a:t>
            </a:r>
            <a:endParaRPr lang="ru-RU" sz="2200">
              <a:latin typeface="Arial"/>
            </a:endParaRPr>
          </a:p>
        </p:txBody>
      </p:sp>
      <p:pic>
        <p:nvPicPr>
          <p:cNvPr id="203805617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51469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Мостик к сегодняшней теме</a:t>
            </a:r>
            <a:endParaRPr/>
          </a:p>
        </p:txBody>
      </p:sp>
      <p:sp>
        <p:nvSpPr>
          <p:cNvPr id="502201549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лабиринте модель мира была: среда отдавала transitions — строку вероятностей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SARSA и Q-обучении мы уже учились по опыту — но состояний было много, вознаграждение откладывалось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что если состояние одно, вознаграждение приходит сразу, а правила среды никто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 знает?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 и есть многорукий бандит — и так выглядит большинство реальных решений</a:t>
            </a:r>
            <a:endParaRPr sz="2000"/>
          </a:p>
          <a:p>
            <a:pPr>
              <a:spcAft>
                <a:spcPts val="600"/>
              </a:spcAft>
              <a:defRPr/>
            </a:pPr>
            <a:endParaRPr sz="2000"/>
          </a:p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Сцену вы уже видели в анонсе лекции 4: тимлид и три подхода </a:t>
            </a:r>
            <a:br>
              <a:rPr lang="ru-RU" sz="2400" b="1">
                <a:solidFill>
                  <a:schemeClr val="bg2"/>
                </a:solidFill>
                <a:latin typeface="Arial"/>
              </a:rPr>
            </a:br>
            <a:r>
              <a:rPr lang="ru-RU" sz="2400" b="1">
                <a:solidFill>
                  <a:schemeClr val="bg2"/>
                </a:solidFill>
                <a:latin typeface="Arial"/>
              </a:rPr>
              <a:t>к разработке</a:t>
            </a:r>
            <a:endParaRPr lang="ru-RU" sz="2400" b="1">
              <a:solidFill>
                <a:schemeClr val="bg2"/>
              </a:solidFill>
              <a:latin typeface="Arial"/>
            </a:endParaRPr>
          </a:p>
        </p:txBody>
      </p:sp>
      <p:sp>
        <p:nvSpPr>
          <p:cNvPr id="135017782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Сегодня модели нет вообще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первый метод курса, где нет ни модели, ни состояний</a:t>
            </a:r>
            <a:endParaRPr lang="ru-RU" sz="2200">
              <a:latin typeface="Arial"/>
            </a:endParaRPr>
          </a:p>
        </p:txBody>
      </p:sp>
      <p:pic>
        <p:nvPicPr>
          <p:cNvPr id="99726692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28637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Бандит: как устроен шаг</a:t>
            </a:r>
            <a:endParaRPr/>
          </a:p>
        </p:txBody>
      </p:sp>
      <p:sp>
        <p:nvSpPr>
          <p:cNvPr id="1700950364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defRPr/>
            </a:pPr>
            <a:r>
              <a:rPr lang="ru-RU" sz="2400">
                <a:solidFill>
                  <a:schemeClr val="tx1"/>
                </a:solidFill>
                <a:latin typeface="Arial"/>
              </a:rPr>
              <a:t>Сцена из анонса лекции 4 возвращается — теперь целиком и с числами</a:t>
            </a:r>
            <a:endParaRPr sz="2200"/>
          </a:p>
          <a:p>
            <a:pPr>
              <a:defRPr/>
            </a:pP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Один шаг — один спринт: выбрали подход, получили результат, обновили оценку</a:t>
            </a:r>
            <a:endParaRPr sz="2200"/>
          </a:p>
        </p:txBody>
      </p:sp>
      <p:sp>
        <p:nvSpPr>
          <p:cNvPr id="653291958" name="Прямоугольник: скругленные углы 2"/>
          <p:cNvSpPr/>
          <p:nvPr/>
        </p:nvSpPr>
        <p:spPr bwMode="auto">
          <a:xfrm>
            <a:off x="429768" y="5221224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Мини-лекция на 15 минут</a:t>
            </a:r>
            <a:endParaRPr lang="ru-RU" sz="2200" b="1">
              <a:latin typeface="Arial"/>
            </a:endParaRPr>
          </a:p>
        </p:txBody>
      </p:sp>
      <p:pic>
        <p:nvPicPr>
          <p:cNvPr id="147449838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3598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84427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Сцена: тимлид и три подхода</a:t>
            </a:r>
            <a:endParaRPr/>
          </a:p>
        </p:txBody>
      </p:sp>
      <p:sp>
        <p:nvSpPr>
          <p:cNvPr id="42177065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«дописать тесты» — истинная средняя отдача 0,3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 «рефакторинг легаси» — истинная средняя 0,8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2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 «п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арное программирование на ревью» — истинная средняя 1,3</a:t>
            </a:r>
            <a:endParaRPr sz="2000"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Вознаграждение за спринт: 0, 1 или 2 задачи сверх плана</a:t>
            </a:r>
            <a:endParaRPr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Средние невидимы: их знает только среда — вы узнаёте их опытом</a:t>
            </a:r>
            <a:endParaRPr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defRPr/>
            </a:pP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Вопросы:</a:t>
            </a:r>
            <a:endParaRPr sz="2000"/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делать на первом спринте? 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 на двадцатом?</a:t>
            </a:r>
            <a:endParaRPr sz="2000"/>
          </a:p>
        </p:txBody>
      </p:sp>
      <p:sp>
        <p:nvSpPr>
          <p:cNvPr id="2032653685" name="Прямоугольник: скругленные углы 2"/>
          <p:cNvSpPr/>
          <p:nvPr/>
        </p:nvSpPr>
        <p:spPr bwMode="auto">
          <a:xfrm>
            <a:off x="429768" y="5221224"/>
            <a:ext cx="11329776" cy="1339483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Каждый спринт — один выбор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шаг t — это спринт</a:t>
            </a:r>
            <a:endParaRPr lang="ru-RU" sz="18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Первый спринт — любой: оснований для выбора ещё нет; к двадцатому — лучший по опыту</a:t>
            </a:r>
            <a:endParaRPr lang="ru-RU" sz="1800">
              <a:latin typeface="Arial"/>
            </a:endParaRPr>
          </a:p>
        </p:txBody>
      </p:sp>
      <p:pic>
        <p:nvPicPr>
          <p:cNvPr id="95974266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65696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65823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Постановка бандита: четыре черты</a:t>
            </a:r>
            <a:endParaRPr/>
          </a:p>
        </p:txBody>
      </p:sp>
      <p:sp>
        <p:nvSpPr>
          <p:cNvPr id="1430313917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324012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Состояние одно: контекст спринта закрываем глазами — как в лекции 5, где состояний было много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Действия — рычаги: три подхода, выбираем один на шаг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Вознаграждение приходит сразу — доход эпизода не ждём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Средние отдач невидимы — вероятности переходов не нужны вообще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ель — максиму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 суммарного вознаграждения за все спринты</a:t>
            </a:r>
            <a:endParaRPr/>
          </a:p>
          <a:p>
            <a:pPr>
              <a:spcAft>
                <a:spcPts val="600"/>
              </a:spcAft>
              <a:defRPr/>
            </a:pPr>
            <a:br>
              <a:rPr lang="ru-RU" sz="2400" b="1">
                <a:solidFill>
                  <a:schemeClr val="bg2"/>
                </a:solidFill>
                <a:latin typeface="Arial"/>
              </a:rPr>
            </a:br>
            <a:r>
              <a:rPr lang="ru-RU" sz="2400" b="1">
                <a:solidFill>
                  <a:schemeClr val="bg2"/>
                </a:solidFill>
                <a:latin typeface="Arial"/>
              </a:rPr>
              <a:t>Всё берётся из опыта: пробуем — наблюдаем — обновляем оценку</a:t>
            </a:r>
            <a:endParaRPr/>
          </a:p>
        </p:txBody>
      </p:sp>
      <p:sp>
        <p:nvSpPr>
          <p:cNvPr id="94587191" name="Прямоугольник: скругленные углы 2"/>
          <p:cNvSpPr/>
          <p:nvPr/>
        </p:nvSpPr>
        <p:spPr bwMode="auto">
          <a:xfrm>
            <a:off x="429768" y="4784518"/>
            <a:ext cx="11332295" cy="176203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Упрощение — осознанное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бандит — это MDP с одним состоянием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а если состояние меняется — это блуждание; </a:t>
            </a:r>
            <a:br>
              <a:rPr lang="ru-RU" sz="2000">
                <a:latin typeface="Arial"/>
              </a:rPr>
            </a:br>
            <a:r>
              <a:rPr lang="ru-RU" sz="2000">
                <a:latin typeface="Arial"/>
              </a:rPr>
              <a:t>к блужданию вернёмся в лабораторной 2</a:t>
            </a:r>
            <a:endParaRPr lang="ru-RU" sz="2000">
              <a:latin typeface="Arial"/>
            </a:endParaRPr>
          </a:p>
        </p:txBody>
      </p:sp>
      <p:pic>
        <p:nvPicPr>
          <p:cNvPr id="53512364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79816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Однорукий бандит: один рычаг</a:t>
            </a:r>
            <a:endParaRPr/>
          </a:p>
        </p:txBody>
      </p:sp>
      <p:sp>
        <p:nvSpPr>
          <p:cNvPr id="1695771867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Рычаг один: каждый спринт — один и тот же подход</a:t>
            </a: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Остаётся только оценить, сколько он приносит в среднем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Разведка не нужна: исследовать нечего, ε и UCB теряют смысл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Ошибка оценки не стоит ничего: выбирать не из чего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Однорукий полезен как проверка: многорукость начинается со второго рычага</a:t>
            </a:r>
            <a:endParaRPr/>
          </a:p>
        </p:txBody>
      </p:sp>
      <p:sp>
        <p:nvSpPr>
          <p:cNvPr id="592039176" name="Прямоугольник: скругленные углы 2"/>
          <p:cNvSpPr/>
          <p:nvPr/>
        </p:nvSpPr>
        <p:spPr bwMode="auto">
          <a:xfrm flipH="0" flipV="0">
            <a:off x="429767" y="5221224"/>
            <a:ext cx="11330855" cy="10306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Вырожденный случай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рычаг один — выбора нет, есть только оценка</a:t>
            </a:r>
            <a:endParaRPr lang="ru-RU" sz="2000">
              <a:latin typeface="Arial"/>
            </a:endParaRPr>
          </a:p>
        </p:txBody>
      </p:sp>
      <p:pic>
        <p:nvPicPr>
          <p:cNvPr id="190925221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0257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16532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Где это в жизни: аналоги</a:t>
            </a:r>
            <a:endParaRPr/>
          </a:p>
        </p:txBody>
      </p:sp>
      <p:sp>
        <p:nvSpPr>
          <p:cNvPr id="1989739337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Игровые автоматы: отсюда имя — bandit, «однорукий» = один рычаг</a:t>
            </a:r>
            <a:br>
              <a:rPr lang="ru-RU" sz="2400" b="1">
                <a:solidFill>
                  <a:schemeClr val="bg2"/>
                </a:solidFill>
                <a:latin typeface="Arial"/>
              </a:rPr>
            </a:b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Один вариант: проверка одной гипотезы, «катим — не катим», термостат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Несколько вариантов: подходы в спринте, каналы, гипотезы, ставки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A/B-тест — это бандит: варианты, трафик, доход; многорукий — когда вариантов два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больше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Испытания доз, рекомендации, реклама — всюду выбор под неопределённостью</a:t>
            </a:r>
            <a:endParaRPr/>
          </a:p>
        </p:txBody>
      </p:sp>
      <p:sp>
        <p:nvSpPr>
          <p:cNvPr id="981573887" name="Прямоугольник: скругленные углы 2"/>
          <p:cNvSpPr/>
          <p:nvPr/>
        </p:nvSpPr>
        <p:spPr bwMode="auto">
          <a:xfrm flipH="0" flipV="0">
            <a:off x="429767" y="5221224"/>
            <a:ext cx="11330855" cy="10306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Однорукий — оценить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многорукий — выбрать</a:t>
            </a:r>
            <a:endParaRPr lang="ru-RU" sz="2000">
              <a:latin typeface="Arial"/>
            </a:endParaRPr>
          </a:p>
        </p:txBody>
      </p:sp>
      <p:pic>
        <p:nvPicPr>
          <p:cNvPr id="161484018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0257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7781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Оценка действия: из опыта</a:t>
            </a:r>
            <a:endParaRPr/>
          </a:p>
        </p:txBody>
      </p:sp>
      <p:sp>
        <p:nvSpPr>
          <p:cNvPr id="1204762287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Честное среднее: Q = (R1 + … + Rn) / n — но сумму хранить неудобно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Инкрементально: Q ← Q + (1/n)(R − Q) — та же математика: оценка и счётчик вместо истории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Первое наблюдение якорит оценку: Q := R1, дальше подтягиваем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4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Пример по подходу B — наблюдения 1, 0, 2:</a:t>
            </a:r>
            <a:br>
              <a:rPr lang="ru-RU" sz="24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 = 1 → 1 + ½(0 − 1) = 0,5 → 0,5 + ⅓(2 − 0,5) = 1,0 — сошлось с честным средним</a:t>
            </a:r>
            <a:endParaRPr/>
          </a:p>
        </p:txBody>
      </p:sp>
      <p:sp>
        <p:nvSpPr>
          <p:cNvPr id="877046687" name="Прямоугольник: скругленные углы 2"/>
          <p:cNvSpPr/>
          <p:nvPr/>
        </p:nvSpPr>
        <p:spPr bwMode="auto">
          <a:xfrm flipH="0" flipV="0">
            <a:off x="429767" y="5221224"/>
            <a:ext cx="11330855" cy="10306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Историю хранить не нужно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каждое новое наблюдение двигает оценку на долю разницы</a:t>
            </a:r>
            <a:endParaRPr lang="ru-RU" sz="2000">
              <a:latin typeface="Arial"/>
            </a:endParaRPr>
          </a:p>
        </p:txBody>
      </p:sp>
      <p:pic>
        <p:nvPicPr>
          <p:cNvPr id="198887235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0257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86750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Жадная и ε-жадная</a:t>
            </a:r>
            <a:endParaRPr/>
          </a:p>
        </p:txBody>
      </p:sp>
      <p:sp>
        <p:nvSpPr>
          <p:cNvPr id="1144893315" name="Прямоугольник: скругленные углы 5"/>
          <p:cNvSpPr/>
          <p:nvPr/>
        </p:nvSpPr>
        <p:spPr bwMode="auto">
          <a:xfrm flipH="0" flipV="0">
            <a:off x="429767" y="1307591"/>
            <a:ext cx="11329416" cy="3006672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Жадная: всегда тянем рычаг с максимальной оценкой — рискуем застрять на первом попавшемся рычаге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ε-жадная: с вероятностью ε идём наугад — платим долей спринтов за разведку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Семинар 2: жадная 1,72 против ε-жадной 1,18 — там жадная выиграла, а здесь проиграет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Вопрос: что выигрывает разведка и чем за неё платим?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Дальше — две хитрости, как исследовать без ε: оптимизм и неуверенность</a:t>
            </a:r>
            <a:endParaRPr/>
          </a:p>
        </p:txBody>
      </p:sp>
      <p:sp>
        <p:nvSpPr>
          <p:cNvPr id="590273173" name="Прямоугольник: скругленные углы 2"/>
          <p:cNvSpPr/>
          <p:nvPr/>
        </p:nvSpPr>
        <p:spPr bwMode="auto">
          <a:xfrm>
            <a:off x="429048" y="4776911"/>
            <a:ext cx="1133013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Исследование против использования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компромисс, который вы уже видели в лабиринте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Разведка находит лучший рычаг; плата — доля спринтов на слабых подходах</a:t>
            </a:r>
            <a:endParaRPr lang="ru-RU" sz="2000">
              <a:latin typeface="Arial"/>
            </a:endParaRPr>
          </a:p>
        </p:txBody>
      </p:sp>
      <p:pic>
        <p:nvPicPr>
          <p:cNvPr id="40994291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496" y="526140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80719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Постоянный шаг α и нестационарность</a:t>
            </a:r>
            <a:endParaRPr/>
          </a:p>
        </p:txBody>
      </p:sp>
      <p:sp>
        <p:nvSpPr>
          <p:cNvPr id="1673305583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 ← Q + α(R − Q) вместо 1/n: свежие наблюдения весят больше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Тот же ряд 1, 0, 2 при α = 0,5: Q = 1 → 0,5 → 1,25 — оценка убежала от честного среднего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Вес первого наблюдения тает: при 1/n после третьего шага — ⅓ ≈ 0,33,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 α = 0,5 — 0,5² = 0,25; к четвёртому — 0,125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Зачем так: мир меняется — новые люди, новые требования; среднее 0,8 вчера может стать 0,5 завтра</a:t>
            </a: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Нестационарность — когда процесс меняется, честное среднее врёт, 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α позволяет оценке подстроиться</a:t>
            </a:r>
            <a:endParaRPr lang="ru-RU" sz="2200" b="1" i="0" u="none" strike="noStrike" cap="none" spc="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2125067925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Насколько верим свежему?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α решает, как быстро забывается старое</a:t>
            </a:r>
            <a:endParaRPr lang="ru-RU" sz="2200">
              <a:latin typeface="Arial"/>
            </a:endParaRPr>
          </a:p>
        </p:txBody>
      </p:sp>
      <p:pic>
        <p:nvPicPr>
          <p:cNvPr id="158691904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27953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Как двигается оценка</a:t>
            </a:r>
            <a:endParaRPr/>
          </a:p>
        </p:txBody>
      </p:sp>
      <p:sp>
        <p:nvSpPr>
          <p:cNvPr id="1423215624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defRPr/>
            </a:pPr>
            <a:r>
              <a:rPr lang="ru-RU" sz="2400">
                <a:solidFill>
                  <a:schemeClr val="tx1"/>
                </a:solidFill>
                <a:latin typeface="Arial"/>
              </a:rPr>
              <a:t>Три наблюдения — и видно, как работает формула</a:t>
            </a:r>
            <a:endParaRPr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Сначала предсказываем — потом вписываем и запускаем</a:t>
            </a:r>
            <a:endParaRPr/>
          </a:p>
        </p:txBody>
      </p:sp>
      <p:sp>
        <p:nvSpPr>
          <p:cNvPr id="1920748964" name="Прямоугольник: скругленные углы 2"/>
          <p:cNvSpPr/>
          <p:nvPr/>
        </p:nvSpPr>
        <p:spPr bwMode="auto">
          <a:xfrm>
            <a:off x="429768" y="5221224"/>
            <a:ext cx="11331215" cy="73003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Предсказываем и проверяем кодом</a:t>
            </a:r>
            <a:endParaRPr lang="ru-RU" sz="2400" b="1">
              <a:latin typeface="Arial"/>
            </a:endParaRPr>
          </a:p>
        </p:txBody>
      </p:sp>
      <p:pic>
        <p:nvPicPr>
          <p:cNvPr id="17620514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5224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3114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Предскажи оценку</a:t>
            </a:r>
            <a:endParaRPr/>
          </a:p>
        </p:txBody>
      </p:sp>
      <p:sp>
        <p:nvSpPr>
          <p:cNvPr id="953975368" name="Прямоугольник: скругленные углы 5"/>
          <p:cNvSpPr/>
          <p:nvPr/>
        </p:nvSpPr>
        <p:spPr bwMode="auto">
          <a:xfrm flipH="0" flipV="0">
            <a:off x="429767" y="1307591"/>
            <a:ext cx="11329416" cy="280123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Три спринта по подходу B — наблюдения 1, 0, 2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 1: какая оценка после второго спринта — 0,5 или 1,0?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 2: а после третьего — 1,0 или 1,5?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 3: где в формуле прячутся ½ и ⅓?</a:t>
            </a: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Голосуем руками — и смотрим, что скажет код</a:t>
            </a:r>
            <a:endParaRPr/>
          </a:p>
        </p:txBody>
      </p:sp>
      <p:sp>
        <p:nvSpPr>
          <p:cNvPr id="13587008" name="Прямоугольник: скругленные углы 2"/>
          <p:cNvSpPr/>
          <p:nvPr/>
        </p:nvSpPr>
        <p:spPr bwMode="auto">
          <a:xfrm>
            <a:off x="428328" y="4390120"/>
            <a:ext cx="11330855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Три вопроса — три ответа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отвечаем вслух</a:t>
            </a:r>
            <a:endParaRPr lang="ru-RU" sz="2200">
              <a:latin typeface="Arial"/>
            </a:endParaRPr>
          </a:p>
        </p:txBody>
      </p:sp>
      <p:pic>
        <p:nvPicPr>
          <p:cNvPr id="65830133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3776" y="470397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83421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 коде есть всё, кроме одного места</a:t>
            </a:r>
            <a:endParaRPr/>
          </a:p>
        </p:txBody>
      </p:sp>
      <p:sp>
        <p:nvSpPr>
          <p:cNvPr id="1653374780" name="Прямоугольник: скругленные углы 5"/>
          <p:cNvSpPr/>
          <p:nvPr/>
        </p:nvSpPr>
        <p:spPr bwMode="auto">
          <a:xfrm flipH="0" flipV="0">
            <a:off x="429767" y="989852"/>
            <a:ext cx="11329416" cy="4435661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Agent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"A"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"B"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"C"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}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оценки ценности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"A"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"B"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"C"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}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сколько раз тянули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8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CDCAA"/>
                </a:solidFill>
                <a:latin typeface="Consolas"/>
              </a:rPr>
              <a:t>update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первое наблюдение?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1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оценка := наблюдение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alpha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alpha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is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not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1.0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]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← ЧЕГО НЕ ХВАТАЕТ?</a:t>
            </a:r>
            <a:endParaRPr sz="2200"/>
          </a:p>
        </p:txBody>
      </p:sp>
      <p:sp>
        <p:nvSpPr>
          <p:cNvPr id="132356819" name="Прямоугольник: скругленные углы 2"/>
          <p:cNvSpPr/>
          <p:nvPr/>
        </p:nvSpPr>
        <p:spPr bwMode="auto">
          <a:xfrm>
            <a:off x="432618" y="5502571"/>
            <a:ext cx="11330136" cy="10306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Что делаем: откройте agent.py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Вопрос: чего не хватает, чтобы оценка двигалась?</a:t>
            </a:r>
            <a:endParaRPr lang="ru-RU" sz="2000">
              <a:latin typeface="Arial"/>
            </a:endParaRPr>
          </a:p>
        </p:txBody>
      </p:sp>
      <p:pic>
        <p:nvPicPr>
          <p:cNvPr id="85517447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5783920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12235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Вот что дописать: 1 → 0,5 → 1,0</a:t>
            </a:r>
            <a:endParaRPr/>
          </a:p>
        </p:txBody>
      </p:sp>
      <p:sp>
        <p:nvSpPr>
          <p:cNvPr id="616789875" name="Прямоугольник: скругленные углы 5"/>
          <p:cNvSpPr/>
          <p:nvPr/>
        </p:nvSpPr>
        <p:spPr bwMode="auto">
          <a:xfrm>
            <a:off x="429768" y="2331720"/>
            <a:ext cx="11329416" cy="1143000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endParaRPr sz="2400"/>
          </a:p>
        </p:txBody>
      </p:sp>
      <p:sp>
        <p:nvSpPr>
          <p:cNvPr id="1553369369" name="Прямоугольник: скругленные углы 2"/>
          <p:cNvSpPr/>
          <p:nvPr/>
        </p:nvSpPr>
        <p:spPr bwMode="auto">
          <a:xfrm>
            <a:off x="432618" y="4520856"/>
            <a:ext cx="11330496" cy="153450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Вот она — та самая строка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Q ← Q + step·(R − Q): step — на сколько, (R − Q) — куда</a:t>
            </a:r>
            <a:endParaRPr lang="ru-RU" sz="22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Впишите и запустите: python3 agent.py — ряд 1 → 0,5 → 1,0</a:t>
            </a:r>
            <a:endParaRPr lang="ru-RU" sz="2200">
              <a:latin typeface="Arial"/>
            </a:endParaRPr>
          </a:p>
        </p:txBody>
      </p:sp>
      <p:pic>
        <p:nvPicPr>
          <p:cNvPr id="174897993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05410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27154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Меняем α сами: 1 → 0,5 → 1,25</a:t>
            </a:r>
            <a:endParaRPr/>
          </a:p>
        </p:txBody>
      </p:sp>
      <p:sp>
        <p:nvSpPr>
          <p:cNvPr id="563999452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340821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В agent.py внизу: ALPHA = 0.5 — запустите python3 agent.py, 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увидите 1 → 0,5 → 1,25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Поменяйте ALPHA на 0.1 и на 0.9 — ряд меняется, запуск тот же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: почему оценка не вернулась к 1,0? Что весит больше — свежее или старое?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Вес первого наблюдения: 1/n после третьего шага — ⅓ ≈ 0,33, при α = 0,5 — 0,25, на четвёртом шаге — 0,125 (при 1/n там 0,25)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Вывод: α — это про нестационарность; в статичном мире честнее 1/n</a:t>
            </a:r>
            <a:endParaRPr/>
          </a:p>
        </p:txBody>
      </p:sp>
      <p:sp>
        <p:nvSpPr>
          <p:cNvPr id="894858379" name="Прямоугольник: скругленные углы 2"/>
          <p:cNvSpPr/>
          <p:nvPr/>
        </p:nvSpPr>
        <p:spPr bwMode="auto">
          <a:xfrm>
            <a:off x="429048" y="4875708"/>
            <a:ext cx="1133013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Ваш запуск — ваши числа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меняете α — видите ряд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свежее весит больше · вес первого после n шагов — (1 − α)^(n−1)</a:t>
            </a:r>
            <a:endParaRPr lang="ru-RU" sz="2000">
              <a:latin typeface="Arial"/>
            </a:endParaRPr>
          </a:p>
        </p:txBody>
      </p:sp>
      <p:pic>
        <p:nvPicPr>
          <p:cNvPr id="136805602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496" y="536020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3512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Блок 4: эталон в коде — что делаем</a:t>
            </a:r>
            <a:endParaRPr/>
          </a:p>
        </p:txBody>
      </p:sp>
      <p:sp>
        <p:nvSpPr>
          <p:cNvPr id="1984983845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среда: environment.py — читаем PROBS и запускаем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агент: agent.py — вписываем шаг, запускаем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стратегии: act() — пары меряют свои числа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прогон: run.py — пять стратегий и 1000 спринтов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каждом шаге — своя команда и своя строка [ok]: видно, у кого не пошло</a:t>
            </a:r>
            <a:endParaRPr/>
          </a:p>
        </p:txBody>
      </p:sp>
      <p:sp>
        <p:nvSpPr>
          <p:cNvPr id="1068871166" name="Прямоугольник: скругленные углы 2"/>
          <p:cNvSpPr/>
          <p:nvPr/>
        </p:nvSpPr>
        <p:spPr bwMode="auto">
          <a:xfrm>
            <a:off x="429768" y="5221224"/>
            <a:ext cx="11329416" cy="96012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45 минут · файлы у вас с 15-го слайда</a:t>
            </a:r>
            <a:endParaRPr lang="ru-RU" sz="1600" b="1">
              <a:latin typeface="Arial"/>
            </a:endParaRPr>
          </a:p>
        </p:txBody>
      </p:sp>
      <p:pic>
        <p:nvPicPr>
          <p:cNvPr id="118626649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03940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Три роли: найдите в коде</a:t>
            </a:r>
            <a:endParaRPr/>
          </a:p>
        </p:txBody>
      </p:sp>
      <p:sp>
        <p:nvSpPr>
          <p:cNvPr id="1868288079" name="Прямоугольник: скругленные углы 5"/>
          <p:cNvSpPr/>
          <p:nvPr/>
        </p:nvSpPr>
        <p:spPr bwMode="auto">
          <a:xfrm flipH="0" flipV="0">
            <a:off x="432618" y="3033900"/>
            <a:ext cx="3647281" cy="308394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Среда — environment.py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Три подхода и их распределения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reset — сброс,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step — шаг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Отдаёт вознаграждение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за спринт</a:t>
            </a:r>
            <a:endParaRPr sz="2400"/>
          </a:p>
        </p:txBody>
      </p:sp>
      <p:sp>
        <p:nvSpPr>
          <p:cNvPr id="1244524208" name="Прямоугольник: скругленные углы 10"/>
          <p:cNvSpPr/>
          <p:nvPr/>
        </p:nvSpPr>
        <p:spPr bwMode="auto">
          <a:xfrm flipH="0" flipV="0">
            <a:off x="8110563" y="3033900"/>
            <a:ext cx="3648073" cy="308395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Прогон — run.py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Гоняет спринты, сравнивает стратегии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Строит серию, таблицу, отчёт, картинку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Показывает, кто как учится</a:t>
            </a:r>
            <a:endParaRPr sz="2400"/>
          </a:p>
        </p:txBody>
      </p:sp>
      <p:sp>
        <p:nvSpPr>
          <p:cNvPr id="159470219" name="Прямоугольник: скругленные углы 2"/>
          <p:cNvSpPr/>
          <p:nvPr/>
        </p:nvSpPr>
        <p:spPr bwMode="auto">
          <a:xfrm flipH="0" flipV="0">
            <a:off x="431798" y="1376362"/>
            <a:ext cx="11326812" cy="1434445"/>
          </a:xfrm>
          <a:prstGeom prst="roundRect">
            <a:avLst>
              <a:gd name="adj" fmla="val 106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Состав работы — как на семинаре 2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минута: где случайность? где оценки? кто выбирает?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случайность — в среде, оценки — в q агента, выбирает act()</a:t>
            </a:r>
            <a:endParaRPr lang="ru-RU" sz="2000">
              <a:latin typeface="Arial"/>
            </a:endParaRPr>
          </a:p>
        </p:txBody>
      </p:sp>
      <p:sp>
        <p:nvSpPr>
          <p:cNvPr id="864022010" name="Прямоугольник: скругленные углы 6"/>
          <p:cNvSpPr/>
          <p:nvPr/>
        </p:nvSpPr>
        <p:spPr bwMode="auto">
          <a:xfrm flipH="0" flipV="0">
            <a:off x="4272384" y="3043687"/>
            <a:ext cx="3647281" cy="3074163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Агент — agent.py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Оценки и выбор подхода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act — выбор,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update — оценка,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q — оценки</a:t>
            </a:r>
            <a:br>
              <a:rPr sz="2400"/>
            </a:b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Пять стратегий: greedy, eps, optimistic, ucb, gradient</a:t>
            </a:r>
            <a:endParaRPr sz="2400"/>
          </a:p>
        </p:txBody>
      </p:sp>
      <p:pic>
        <p:nvPicPr>
          <p:cNvPr id="40034390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430" y="155168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04972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Среда: три подхода в код</a:t>
            </a:r>
            <a:endParaRPr/>
          </a:p>
        </p:txBody>
      </p:sp>
      <p:sp>
        <p:nvSpPr>
          <p:cNvPr id="100203748" name="Прямоугольник: скругленные углы 5"/>
          <p:cNvSpPr/>
          <p:nvPr/>
        </p:nvSpPr>
        <p:spPr bwMode="auto">
          <a:xfrm flipH="0" flipV="0">
            <a:off x="429767" y="961837"/>
            <a:ext cx="11329416" cy="3520514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PROBS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{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"A"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0.8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0·0,8 + 1·0,1 + 2·0,1 = 0,3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"B"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0.3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0.6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0·0,3 + 1·0,6 + 2·0,1 = 0,8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"C"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0.5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0.4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0·0,1 + 1·0,5 + 2·0,4 = 1,3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}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Bandit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step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провести спринт подходом act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choices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OBS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weights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PROBS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endParaRPr sz="2400"/>
          </a:p>
        </p:txBody>
      </p:sp>
      <p:sp>
        <p:nvSpPr>
          <p:cNvPr id="727295023" name="Прямоугольник: скругленные углы 2"/>
          <p:cNvSpPr/>
          <p:nvPr/>
        </p:nvSpPr>
        <p:spPr bwMode="auto">
          <a:xfrm>
            <a:off x="432618" y="4700807"/>
            <a:ext cx="11329776" cy="171327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Что делаем: запустите python3 environment.py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Должно быть: семь строк [ok] · средние 0,3 / 0,8 / 1,3</a:t>
            </a:r>
            <a:endParaRPr lang="ru-RU" sz="18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Почему средние только в комментариях? Среда их не отдаёт: узнать можно только опытом</a:t>
            </a:r>
            <a:endParaRPr lang="ru-RU" sz="18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2 минуты · кто хочет — меняет число в PROBS и возвращает обратно</a:t>
            </a:r>
            <a:endParaRPr lang="ru-RU" sz="1800">
              <a:latin typeface="Arial"/>
            </a:endParaRPr>
          </a:p>
        </p:txBody>
      </p:sp>
      <p:pic>
        <p:nvPicPr>
          <p:cNvPr id="208489158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532344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59967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Агент: обновление оценки</a:t>
            </a:r>
            <a:endParaRPr/>
          </a:p>
        </p:txBody>
      </p:sp>
      <p:sp>
        <p:nvSpPr>
          <p:cNvPr id="572684553" name="Прямоугольник: скругленные углы 5"/>
          <p:cNvSpPr/>
          <p:nvPr/>
        </p:nvSpPr>
        <p:spPr bwMode="auto">
          <a:xfrm flipH="0" flipV="0">
            <a:off x="429767" y="952499"/>
            <a:ext cx="11329416" cy="3146985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update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первое наблюдение по рычагу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1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оценка := первое наблюдение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alpha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alpha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not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1.0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endParaRPr sz="2400"/>
          </a:p>
        </p:txBody>
      </p:sp>
      <p:sp>
        <p:nvSpPr>
          <p:cNvPr id="575569127" name="Прямоугольник: скругленные углы 2"/>
          <p:cNvSpPr/>
          <p:nvPr/>
        </p:nvSpPr>
        <p:spPr bwMode="auto">
          <a:xfrm>
            <a:off x="432618" y="4245712"/>
            <a:ext cx="11331215" cy="1339483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Что делаем: впишите в update() шаг Q ← Q + step·(R − Q)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Запустите: python3 agent.py — пять [ok], 1 → 0,5 → 1,0</a:t>
            </a:r>
            <a:endParaRPr lang="ru-RU" sz="18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Где якорение? В ветке first: оценке присваивают, не двигают</a:t>
            </a:r>
            <a:endParaRPr lang="ru-RU" sz="1800">
              <a:latin typeface="Arial"/>
            </a:endParaRPr>
          </a:p>
        </p:txBody>
      </p:sp>
      <p:pic>
        <p:nvPicPr>
          <p:cNvPr id="211694130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463435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81041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Агент: пять стратегий выбора</a:t>
            </a:r>
            <a:endParaRPr/>
          </a:p>
        </p:txBody>
      </p:sp>
      <p:sp>
        <p:nvSpPr>
          <p:cNvPr id="1487067388" name="Прямоугольник: скругленные углы 5"/>
          <p:cNvSpPr/>
          <p:nvPr/>
        </p:nvSpPr>
        <p:spPr bwMode="auto">
          <a:xfrm flipH="0" flipV="0">
            <a:off x="429767" y="999191"/>
            <a:ext cx="11329416" cy="2773455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"eps"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and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random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epsilon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choice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разведка: наугад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"ucb"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       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жадно + бонус неуверенности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4EC9B0"/>
                </a:solidFill>
                <a:latin typeface="Consolas"/>
              </a:rPr>
              <a:t>max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key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569CD6"/>
                </a:solidFill>
                <a:latin typeface="Consolas"/>
              </a:rPr>
              <a:t>lambda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          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c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4EC9B0"/>
                </a:solidFill>
                <a:latin typeface="Consolas"/>
              </a:rPr>
              <a:t>math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sqrt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4EC9B0"/>
                </a:solidFill>
                <a:latin typeface="Consolas"/>
              </a:rPr>
              <a:t>math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greedy_choice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максимум по оценкам</a:t>
            </a:r>
            <a:endParaRPr sz="2400"/>
          </a:p>
        </p:txBody>
      </p:sp>
      <p:sp>
        <p:nvSpPr>
          <p:cNvPr id="837444126" name="Прямоугольник: скругленные углы 2"/>
          <p:cNvSpPr/>
          <p:nvPr/>
        </p:nvSpPr>
        <p:spPr bwMode="auto">
          <a:xfrm>
            <a:off x="429768" y="4112498"/>
            <a:ext cx="11330136" cy="184329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Что делаем: впишите act(): своя ветка на пару — eps или ucb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Запустите: python3 run.py --exp --strategy UCB (или eps)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Что должно быть: проверки [ok] и три кривых: доход, оценки Q, доли выбора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5 минут · каждая пара называет свой доход и долю C — сведём в таблицу</a:t>
            </a:r>
            <a:endParaRPr lang="ru-RU" sz="2000">
              <a:latin typeface="Arial"/>
            </a:endParaRPr>
          </a:p>
        </p:txBody>
      </p:sp>
      <p:pic>
        <p:nvPicPr>
          <p:cNvPr id="168547034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480014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09080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Прогон: 1000 спринтов, пять стратегий</a:t>
            </a:r>
            <a:endParaRPr/>
          </a:p>
        </p:txBody>
      </p:sp>
      <p:sp>
        <p:nvSpPr>
          <p:cNvPr id="1837739796" name="Прямоугольник: скругленные углы 5"/>
          <p:cNvSpPr/>
          <p:nvPr/>
        </p:nvSpPr>
        <p:spPr bwMode="auto">
          <a:xfrm flipH="0" flipV="0">
            <a:off x="429767" y="1307591"/>
            <a:ext cx="11329416" cy="280123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жадная — 0,31 · C выбрана в 0% случаев: застряла на A с первого спринта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ε-жадная 0,1 — 1,12 · C в 76% случаев: разведка работает, но медленно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оптимистичная Q0 = 5 — 1,26 · C в 100%: жадность сама всё попробовала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UCB c = 2 — 1,22 · C в 93%: бонус неуверенности быстро нашёл лучшее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градиентная — 1,24 · C в 94%: выбирает по мягкому максимуму предпочтений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лаборатория: --exp рисует доход · оценки Q · доли выбора; задания — в блоке «ЭКСПЕРИМЕНТ» run.py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908490366" name="Прямоугольник: скругленные углы 2"/>
          <p:cNvSpPr/>
          <p:nvPr/>
        </p:nvSpPr>
        <p:spPr bwMode="auto">
          <a:xfrm>
            <a:off x="429768" y="4243234"/>
            <a:ext cx="11330855" cy="184329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Что делаем: python3 run.py --exp — три кривых (seed = 7)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Задание 1: EXP_MODE = "greedy" и любой seed — где все застряли и почему?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Ответ: на A — разведки нет, при равных оценках берётся первый по алфавиту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За 1000 спринтов жадная недобирает ≈ 990 задач, UCB — ≈ 80</a:t>
            </a:r>
            <a:endParaRPr lang="ru-RU" sz="2000">
              <a:latin typeface="Arial"/>
            </a:endParaRPr>
          </a:p>
        </p:txBody>
      </p:sp>
      <p:pic>
        <p:nvPicPr>
          <p:cNvPr id="98581745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493088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26806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Картинка: кто как учится</a:t>
            </a:r>
            <a:endParaRPr/>
          </a:p>
        </p:txBody>
      </p:sp>
      <p:sp>
        <p:nvSpPr>
          <p:cNvPr id="691383236" name="Прямоугольник: скругленные углы 2"/>
          <p:cNvSpPr/>
          <p:nvPr/>
        </p:nvSpPr>
        <p:spPr bwMode="auto">
          <a:xfrm>
            <a:off x="429768" y="5221224"/>
            <a:ext cx="1133013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1000 спринтов, скользящее среднее (окно 50)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жадная не учится вовсе; остальные ползут к потолку 1,3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градиентной на графике нет — её число 1,24</a:t>
            </a:r>
            <a:endParaRPr lang="ru-RU" sz="2000">
              <a:latin typeface="Arial"/>
            </a:endParaRPr>
          </a:p>
        </p:txBody>
      </p:sp>
      <p:pic>
        <p:nvPicPr>
          <p:cNvPr id="95525619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705721"/>
            <a:ext cx="468000" cy="468000"/>
          </a:xfrm>
          <a:prstGeom prst="rect">
            <a:avLst/>
          </a:prstGeom>
        </p:spPr>
      </p:pic>
      <p:pic>
        <p:nvPicPr>
          <p:cNvPr id="907298595" name="Picture 2081775820" descr="bandit-1000.png"/>
          <p:cNvPicPr>
            <a:picLocks noChangeAspect="1"/>
          </p:cNvPicPr>
          <p:nvPr/>
        </p:nvPicPr>
        <p:blipFill rotWithShape="1">
          <a:blip r:embed="rId4"/>
          <a:srcRect l="0" t="3215" r="0" b="4635"/>
          <a:stretch/>
        </p:blipFill>
        <p:spPr bwMode="auto">
          <a:xfrm flipH="0" flipV="0">
            <a:off x="1675407" y="896470"/>
            <a:ext cx="9017284" cy="423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15255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Сводная таблица: ваши числа против эталона</a:t>
            </a:r>
            <a:endParaRPr/>
          </a:p>
        </p:txBody>
      </p:sp>
      <p:sp>
        <p:nvSpPr>
          <p:cNvPr id="740687694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Пять стратегий: у каждой пары свой запуск и свои числа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Пара называет: стратегия · средний доход · доля C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Эталон: жадная 0,31 · ε-жадная 1,12 · оптимистичная 1,26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UCB 1,22 · градиентная 1,24 · потолок 1,3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Сводим в таблицу: где совпало, где разошлось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Расхождение — не ошибка: другой seed, другой ε или c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Свои числа — в отчёт и на следующее занятие</a:t>
            </a:r>
            <a:endParaRPr/>
          </a:p>
        </p:txBody>
      </p:sp>
      <p:sp>
        <p:nvSpPr>
          <p:cNvPr id="767757497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Что делаем: называем свои числа — сводим таблицу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5 минут · расхождения разбираем на месте</a:t>
            </a:r>
            <a:endParaRPr lang="ru-RU" sz="2200">
              <a:latin typeface="Arial"/>
            </a:endParaRPr>
          </a:p>
        </p:txBody>
      </p:sp>
      <p:pic>
        <p:nvPicPr>
          <p:cNvPr id="93402680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179188" name="Прямоугольник: скругленные углы 5"/>
          <p:cNvSpPr/>
          <p:nvPr/>
        </p:nvSpPr>
        <p:spPr bwMode="auto">
          <a:xfrm flipH="0" flipV="0">
            <a:off x="429767" y="868455"/>
            <a:ext cx="5852160" cy="5126690"/>
          </a:xfrm>
          <a:prstGeom prst="roundRect">
            <a:avLst>
              <a:gd name="adj" fmla="val 3253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107982" rIns="143977" bIns="143977" rtlCol="0" anchor="t"/>
          <a:lstStyle/>
          <a:p>
            <a:pPr>
              <a:spcAft>
                <a:spcPts val="599"/>
              </a:spcAft>
              <a:defRPr/>
            </a:pPr>
            <a:r>
              <a:rPr sz="2200" b="1">
                <a:solidFill>
                  <a:schemeClr val="bg2"/>
                </a:solidFill>
                <a:latin typeface="Arial"/>
              </a:rPr>
              <a:t>Сегодня мы:</a:t>
            </a:r>
            <a:endParaRPr sz="2600" b="1">
              <a:solidFill>
                <a:schemeClr val="bg2"/>
              </a:solidFill>
              <a:latin typeface="Arial"/>
            </a:endParaRPr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разобрали постановку многорукого бандита: одно состояние, рычаги, вознаграждение сразу</a:t>
            </a:r>
            <a:endParaRPr sz="24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научились оценивать ценность действия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из опыта: честное 1/n и постоянный шаг α</a:t>
            </a:r>
            <a:endParaRPr sz="24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сравнили пять стратегий: жадная застряла, ε-жадная ползёт, оптимистичная, UCB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и градиентная держатся у потолка</a:t>
            </a:r>
            <a:endParaRPr sz="24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прогнали эталон «1000 спринтов»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и сверили числа: 0,31 против 1,12–1,26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при потолке 1,3</a:t>
            </a:r>
            <a:endParaRPr sz="24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получили каркас лабораторной 2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с пропусками — задание на портале</a:t>
            </a:r>
            <a:endParaRPr sz="2400"/>
          </a:p>
        </p:txBody>
      </p:sp>
      <p:sp>
        <p:nvSpPr>
          <p:cNvPr id="1243104907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4766" cy="366064"/>
          </a:xfrm>
        </p:spPr>
        <p:txBody>
          <a:bodyPr/>
          <a:lstStyle/>
          <a:p>
            <a:pPr>
              <a:defRPr/>
            </a:pPr>
            <a:r>
              <a:rPr lang="ru-RU"/>
              <a:t>Итоги занятия</a:t>
            </a:r>
            <a:endParaRPr/>
          </a:p>
        </p:txBody>
      </p:sp>
      <p:pic>
        <p:nvPicPr>
          <p:cNvPr id="1820236254" name="Рисунок 4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17076" y="1211578"/>
            <a:ext cx="5641457" cy="4957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73125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Задание: к следующему занятию</a:t>
            </a:r>
            <a:endParaRPr/>
          </a:p>
        </p:txBody>
      </p:sp>
      <p:sp>
        <p:nvSpPr>
          <p:cNvPr id="272118594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292262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Доделать три файла (environment.py, agent.py, run.py): python3 run.py — все [ok]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Два графика (--png и --exp) и три вывода с числами — в REPORT.md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Свои числа: пять стратегий в таблицу — принести на занятие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 РК №3 (30.10): SARSA и Q-обучение — повторяем сами, разбора на занятии не будет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Начнём занятие с ваших чисел: сведём таблицу; дальше — градиентная и нестационарность, на практиках 4–6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Вопросы по коду — в чат группы</a:t>
            </a:r>
            <a:endParaRPr/>
          </a:p>
        </p:txBody>
      </p:sp>
      <p:sp>
        <p:nvSpPr>
          <p:cNvPr id="1470435412" name="Прямоугольник: скругленные углы 2"/>
          <p:cNvSpPr/>
          <p:nvPr/>
        </p:nvSpPr>
        <p:spPr bwMode="auto">
          <a:xfrm>
            <a:off x="429768" y="4453970"/>
            <a:ext cx="11330496" cy="153450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Домашнее задание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к следующему занятию: свой бандит и РК №3</a:t>
            </a:r>
            <a:endParaRPr lang="ru-RU" sz="22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своё ДЗ используем на занятии</a:t>
            </a:r>
            <a:endParaRPr lang="ru-RU" sz="2200">
              <a:latin typeface="Arial"/>
            </a:endParaRPr>
          </a:p>
        </p:txBody>
      </p:sp>
      <p:pic>
        <p:nvPicPr>
          <p:cNvPr id="99413788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498722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ONLYOFFICE/10.0.0.169</Application>
  <DocSecurity>0</DocSecurity>
  <PresentationFormat>On-screen Show (4:3)</PresentationFormat>
  <Paragraphs>0</Paragraphs>
  <Slides>30</Slides>
  <Notes>30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190</cp:revision>
  <dcterms:created xsi:type="dcterms:W3CDTF">2023-02-20T15:32:58Z</dcterms:created>
  <dcterms:modified xsi:type="dcterms:W3CDTF">2026-10-19T21:52:59Z</dcterms:modified>
  <cp:category/>
  <cp:contentStatus/>
  <cp:version/>
</cp:coreProperties>
</file>